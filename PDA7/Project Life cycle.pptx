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 id="2147483761" r:id="rId2"/>
    <p:sldMasterId id="2147483779" r:id="rId3"/>
  </p:sldMasterIdLst>
  <p:notesMasterIdLst>
    <p:notesMasterId r:id="rId81"/>
  </p:notesMasterIdLst>
  <p:handoutMasterIdLst>
    <p:handoutMasterId r:id="rId82"/>
  </p:handoutMasterIdLst>
  <p:sldIdLst>
    <p:sldId id="257" r:id="rId4"/>
    <p:sldId id="443" r:id="rId5"/>
    <p:sldId id="444" r:id="rId6"/>
    <p:sldId id="258" r:id="rId7"/>
    <p:sldId id="259" r:id="rId8"/>
    <p:sldId id="260" r:id="rId9"/>
    <p:sldId id="261" r:id="rId10"/>
    <p:sldId id="262" r:id="rId11"/>
    <p:sldId id="331" r:id="rId12"/>
    <p:sldId id="334" r:id="rId13"/>
    <p:sldId id="349" r:id="rId14"/>
    <p:sldId id="350" r:id="rId15"/>
    <p:sldId id="351" r:id="rId16"/>
    <p:sldId id="352" r:id="rId17"/>
    <p:sldId id="353" r:id="rId18"/>
    <p:sldId id="354" r:id="rId19"/>
    <p:sldId id="355" r:id="rId20"/>
    <p:sldId id="356" r:id="rId21"/>
    <p:sldId id="357" r:id="rId22"/>
    <p:sldId id="263" r:id="rId23"/>
    <p:sldId id="408" r:id="rId24"/>
    <p:sldId id="407" r:id="rId25"/>
    <p:sldId id="367" r:id="rId26"/>
    <p:sldId id="368" r:id="rId27"/>
    <p:sldId id="369" r:id="rId28"/>
    <p:sldId id="379" r:id="rId29"/>
    <p:sldId id="371" r:id="rId30"/>
    <p:sldId id="413" r:id="rId31"/>
    <p:sldId id="415" r:id="rId32"/>
    <p:sldId id="416" r:id="rId33"/>
    <p:sldId id="417" r:id="rId34"/>
    <p:sldId id="418" r:id="rId35"/>
    <p:sldId id="419" r:id="rId36"/>
    <p:sldId id="412" r:id="rId37"/>
    <p:sldId id="281" r:id="rId38"/>
    <p:sldId id="385" r:id="rId39"/>
    <p:sldId id="401" r:id="rId40"/>
    <p:sldId id="425" r:id="rId41"/>
    <p:sldId id="427" r:id="rId42"/>
    <p:sldId id="426" r:id="rId43"/>
    <p:sldId id="301" r:id="rId44"/>
    <p:sldId id="304" r:id="rId45"/>
    <p:sldId id="305" r:id="rId46"/>
    <p:sldId id="307" r:id="rId47"/>
    <p:sldId id="308" r:id="rId48"/>
    <p:sldId id="309" r:id="rId49"/>
    <p:sldId id="310" r:id="rId50"/>
    <p:sldId id="314" r:id="rId51"/>
    <p:sldId id="313" r:id="rId52"/>
    <p:sldId id="315" r:id="rId53"/>
    <p:sldId id="316" r:id="rId54"/>
    <p:sldId id="317" r:id="rId55"/>
    <p:sldId id="318" r:id="rId56"/>
    <p:sldId id="435" r:id="rId57"/>
    <p:sldId id="420" r:id="rId58"/>
    <p:sldId id="421" r:id="rId59"/>
    <p:sldId id="422" r:id="rId60"/>
    <p:sldId id="321" r:id="rId61"/>
    <p:sldId id="322" r:id="rId62"/>
    <p:sldId id="326" r:id="rId63"/>
    <p:sldId id="327" r:id="rId64"/>
    <p:sldId id="328" r:id="rId65"/>
    <p:sldId id="439" r:id="rId66"/>
    <p:sldId id="440" r:id="rId67"/>
    <p:sldId id="441" r:id="rId68"/>
    <p:sldId id="442" r:id="rId69"/>
    <p:sldId id="437" r:id="rId70"/>
    <p:sldId id="438" r:id="rId71"/>
    <p:sldId id="358" r:id="rId72"/>
    <p:sldId id="361" r:id="rId73"/>
    <p:sldId id="360" r:id="rId74"/>
    <p:sldId id="363" r:id="rId75"/>
    <p:sldId id="362" r:id="rId76"/>
    <p:sldId id="359" r:id="rId77"/>
    <p:sldId id="365" r:id="rId78"/>
    <p:sldId id="364" r:id="rId79"/>
    <p:sldId id="378" r:id="rId80"/>
  </p:sldIdLst>
  <p:sldSz cx="9144000" cy="6858000" type="screen4x3"/>
  <p:notesSz cx="6735763" cy="9866313"/>
  <p:defaultTextStyle>
    <a:defPPr>
      <a:defRPr lang="en-US"/>
    </a:defPPr>
    <a:lvl1pPr algn="l" rtl="0" fontAlgn="base">
      <a:spcBef>
        <a:spcPct val="0"/>
      </a:spcBef>
      <a:spcAft>
        <a:spcPct val="0"/>
      </a:spcAft>
      <a:defRPr kern="1200">
        <a:solidFill>
          <a:schemeClr val="tx1"/>
        </a:solidFill>
        <a:latin typeface="Trebuchet MS" panose="020B0603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Trebuchet MS" panose="020B0603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Trebuchet MS" panose="020B0603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Trebuchet MS" panose="020B0603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Trebuchet MS" panose="020B0603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rebuchet MS" panose="020B0603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rebuchet MS" panose="020B0603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rebuchet MS" panose="020B0603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rebuchet MS" panose="020B0603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06" autoAdjust="0"/>
    <p:restoredTop sz="82585" autoAdjust="0"/>
  </p:normalViewPr>
  <p:slideViewPr>
    <p:cSldViewPr>
      <p:cViewPr varScale="1">
        <p:scale>
          <a:sx n="61" d="100"/>
          <a:sy n="61" d="100"/>
        </p:scale>
        <p:origin x="1350" y="78"/>
      </p:cViewPr>
      <p:guideLst>
        <p:guide orient="horz" pos="2160"/>
        <p:guide pos="2880"/>
      </p:guideLst>
    </p:cSldViewPr>
  </p:slideViewPr>
  <p:notesTextViewPr>
    <p:cViewPr>
      <p:scale>
        <a:sx n="1" d="1"/>
        <a:sy n="1" d="1"/>
      </p:scale>
      <p:origin x="0" y="0"/>
    </p:cViewPr>
  </p:notesTextViewPr>
  <p:sorterViewPr>
    <p:cViewPr>
      <p:scale>
        <a:sx n="200" d="100"/>
        <a:sy n="200" d="100"/>
      </p:scale>
      <p:origin x="0" y="-76475"/>
    </p:cViewPr>
  </p:sorterViewPr>
  <p:notesViewPr>
    <p:cSldViewPr>
      <p:cViewPr varScale="1">
        <p:scale>
          <a:sx n="53" d="100"/>
          <a:sy n="53" d="100"/>
        </p:scale>
        <p:origin x="262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smtClean="0">
                <a:cs typeface="Arial" charset="0"/>
              </a:defRPr>
            </a:lvl1pPr>
          </a:lstStyle>
          <a:p>
            <a:pPr>
              <a:defRPr/>
            </a:pPr>
            <a:endParaRPr lang="en-GB"/>
          </a:p>
        </p:txBody>
      </p:sp>
      <p:sp>
        <p:nvSpPr>
          <p:cNvPr id="3" name="Date Placeholder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smtClean="0">
                <a:cs typeface="Arial" charset="0"/>
              </a:defRPr>
            </a:lvl1pPr>
          </a:lstStyle>
          <a:p>
            <a:pPr>
              <a:defRPr/>
            </a:pPr>
            <a:fld id="{4980E547-A2DE-497D-9DB5-60A824820E78}" type="datetimeFigureOut">
              <a:rPr lang="en-GB"/>
              <a:pPr>
                <a:defRPr/>
              </a:pPr>
              <a:t>25/11/2019</a:t>
            </a:fld>
            <a:endParaRPr lang="en-GB"/>
          </a:p>
        </p:txBody>
      </p:sp>
      <p:sp>
        <p:nvSpPr>
          <p:cNvPr id="4" name="Footer Placeholder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smtClean="0">
                <a:cs typeface="Arial" charset="0"/>
              </a:defRPr>
            </a:lvl1pPr>
          </a:lstStyle>
          <a:p>
            <a:pPr>
              <a:defRPr/>
            </a:pPr>
            <a:endParaRPr lang="en-GB"/>
          </a:p>
        </p:txBody>
      </p:sp>
      <p:sp>
        <p:nvSpPr>
          <p:cNvPr id="5" name="Slide Number Placeholder 4"/>
          <p:cNvSpPr>
            <a:spLocks noGrp="1"/>
          </p:cNvSpPr>
          <p:nvPr>
            <p:ph type="sldNum" sz="quarter" idx="3"/>
          </p:nvPr>
        </p:nvSpPr>
        <p:spPr>
          <a:xfrm>
            <a:off x="3814763" y="9371013"/>
            <a:ext cx="2919412" cy="49371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4E3256B-88DC-4B18-987F-FFB1064D7766}" type="slidenum">
              <a:rPr lang="en-GB" altLang="en-US"/>
              <a:pPr/>
              <a:t>‹#›</a:t>
            </a:fld>
            <a:endParaRPr lang="en-GB" altLang="en-US"/>
          </a:p>
        </p:txBody>
      </p:sp>
    </p:spTree>
    <p:extLst>
      <p:ext uri="{BB962C8B-B14F-4D97-AF65-F5344CB8AC3E}">
        <p14:creationId xmlns:p14="http://schemas.microsoft.com/office/powerpoint/2010/main" val="5135069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p:cNvSpPr>
            <a:spLocks noGrp="1"/>
          </p:cNvSpPr>
          <p:nvPr>
            <p:ph type="dt" idx="1"/>
          </p:nvPr>
        </p:nvSpPr>
        <p:spPr>
          <a:xfrm>
            <a:off x="3814763" y="0"/>
            <a:ext cx="2919412" cy="493713"/>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69A54E0-7BC6-463B-9D3B-8B97FA60EE5E}" type="datetimeFigureOut">
              <a:rPr lang="en-GB"/>
              <a:pPr>
                <a:defRPr/>
              </a:pPr>
              <a:t>25/11/2019</a:t>
            </a:fld>
            <a:endParaRPr lang="en-GB"/>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pPr lvl="0"/>
            <a:endParaRPr lang="en-GB" noProof="0" smtClean="0"/>
          </a:p>
        </p:txBody>
      </p:sp>
      <p:sp>
        <p:nvSpPr>
          <p:cNvPr id="5" name="Notes Placeholder 4"/>
          <p:cNvSpPr>
            <a:spLocks noGrp="1"/>
          </p:cNvSpPr>
          <p:nvPr>
            <p:ph type="body" sz="quarter" idx="3"/>
          </p:nvPr>
        </p:nvSpPr>
        <p:spPr>
          <a:xfrm>
            <a:off x="673100" y="4686300"/>
            <a:ext cx="5389563" cy="4440238"/>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smtClean="0"/>
          </a:p>
        </p:txBody>
      </p:sp>
      <p:sp>
        <p:nvSpPr>
          <p:cNvPr id="6" name="Footer Placeholder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p:cNvSpPr>
            <a:spLocks noGrp="1"/>
          </p:cNvSpPr>
          <p:nvPr>
            <p:ph type="sldNum" sz="quarter" idx="5"/>
          </p:nvPr>
        </p:nvSpPr>
        <p:spPr>
          <a:xfrm>
            <a:off x="3814763" y="9371013"/>
            <a:ext cx="2919412" cy="493712"/>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DA459C49-8298-4EC2-97C7-BB0076DCC554}" type="slidenum">
              <a:rPr lang="en-GB" altLang="en-US"/>
              <a:pPr/>
              <a:t>‹#›</a:t>
            </a:fld>
            <a:endParaRPr lang="en-GB" altLang="en-US"/>
          </a:p>
        </p:txBody>
      </p:sp>
    </p:spTree>
    <p:extLst>
      <p:ext uri="{BB962C8B-B14F-4D97-AF65-F5344CB8AC3E}">
        <p14:creationId xmlns:p14="http://schemas.microsoft.com/office/powerpoint/2010/main" val="1063430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Tree>
    <p:extLst>
      <p:ext uri="{BB962C8B-B14F-4D97-AF65-F5344CB8AC3E}">
        <p14:creationId xmlns:p14="http://schemas.microsoft.com/office/powerpoint/2010/main" val="3403473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2560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5604" name="Header Placeholder 3"/>
          <p:cNvSpPr>
            <a:spLocks noGrp="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med" len="lg"/>
              </a14:hiddenLine>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r>
              <a:rPr lang="en-US" altLang="en-US" b="0" smtClean="0">
                <a:solidFill>
                  <a:schemeClr val="tx1"/>
                </a:solidFill>
                <a:latin typeface="Arial Narrow" panose="020B0606020202030204" pitchFamily="34" charset="0"/>
              </a:rPr>
              <a:t>Speaker Support Notes</a:t>
            </a:r>
          </a:p>
          <a:p>
            <a:endParaRPr lang="en-US" altLang="en-US" b="0" smtClean="0">
              <a:solidFill>
                <a:schemeClr val="tx1"/>
              </a:solidFill>
              <a:latin typeface="Arial Narrow" panose="020B0606020202030204" pitchFamily="34" charset="0"/>
            </a:endParaRPr>
          </a:p>
        </p:txBody>
      </p:sp>
      <p:sp>
        <p:nvSpPr>
          <p:cNvPr id="5" name="Slide Number Placeholder 4"/>
          <p:cNvSpPr>
            <a:spLocks noGrp="1"/>
          </p:cNvSpPr>
          <p:nvPr>
            <p:ph type="sldNum" sz="quarter" idx="5"/>
          </p:nvPr>
        </p:nvSpPr>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fld id="{10D56DEF-0731-4742-B1AE-AC4EEDBB1FE8}" type="slidenum">
              <a:rPr lang="en-US" altLang="en-US" b="0">
                <a:solidFill>
                  <a:schemeClr val="tx1"/>
                </a:solidFill>
                <a:latin typeface="Arial Narrow" panose="020B0606020202030204" pitchFamily="34" charset="0"/>
              </a:rPr>
              <a:pPr eaLnBrk="1" hangingPunct="1"/>
              <a:t>24</a:t>
            </a:fld>
            <a:endParaRPr lang="en-US" altLang="en-US" sz="2000" b="0">
              <a:solidFill>
                <a:schemeClr val="tx1"/>
              </a:solidFill>
              <a:effectLst>
                <a:outerShdw blurRad="38100" dist="38100" dir="2700000" algn="tl">
                  <a:srgbClr val="C0C0C0"/>
                </a:outerShdw>
              </a:effectLst>
              <a:latin typeface="Arial Narrow" panose="020B0606020202030204" pitchFamily="34" charset="0"/>
            </a:endParaRPr>
          </a:p>
        </p:txBody>
      </p:sp>
    </p:spTree>
    <p:extLst>
      <p:ext uri="{BB962C8B-B14F-4D97-AF65-F5344CB8AC3E}">
        <p14:creationId xmlns:p14="http://schemas.microsoft.com/office/powerpoint/2010/main" val="3277719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2662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26628" name="Header Placeholder 3"/>
          <p:cNvSpPr>
            <a:spLocks noGrp="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med" len="lg"/>
              </a14:hiddenLine>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r>
              <a:rPr lang="en-US" altLang="en-US" b="0" smtClean="0">
                <a:solidFill>
                  <a:schemeClr val="tx1"/>
                </a:solidFill>
                <a:latin typeface="Arial Narrow" panose="020B0606020202030204" pitchFamily="34" charset="0"/>
              </a:rPr>
              <a:t>Speaker Support Notes</a:t>
            </a:r>
          </a:p>
          <a:p>
            <a:endParaRPr lang="en-US" altLang="en-US" b="0" smtClean="0">
              <a:solidFill>
                <a:schemeClr val="tx1"/>
              </a:solidFill>
              <a:latin typeface="Arial Narrow" panose="020B0606020202030204" pitchFamily="34" charset="0"/>
            </a:endParaRPr>
          </a:p>
        </p:txBody>
      </p:sp>
      <p:sp>
        <p:nvSpPr>
          <p:cNvPr id="5" name="Slide Number Placeholder 4"/>
          <p:cNvSpPr>
            <a:spLocks noGrp="1"/>
          </p:cNvSpPr>
          <p:nvPr>
            <p:ph type="sldNum" sz="quarter" idx="5"/>
          </p:nvPr>
        </p:nvSpPr>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fld id="{9A35929B-A672-491C-9CAC-094FD12A324A}" type="slidenum">
              <a:rPr lang="en-US" altLang="en-US" b="0">
                <a:solidFill>
                  <a:schemeClr val="tx1"/>
                </a:solidFill>
                <a:latin typeface="Arial Narrow" panose="020B0606020202030204" pitchFamily="34" charset="0"/>
              </a:rPr>
              <a:pPr eaLnBrk="1" hangingPunct="1"/>
              <a:t>25</a:t>
            </a:fld>
            <a:endParaRPr lang="en-US" altLang="en-US" sz="2000" b="0">
              <a:solidFill>
                <a:schemeClr val="tx1"/>
              </a:solidFill>
              <a:effectLst>
                <a:outerShdw blurRad="38100" dist="38100" dir="2700000" algn="tl">
                  <a:srgbClr val="C0C0C0"/>
                </a:outerShdw>
              </a:effectLst>
              <a:latin typeface="Arial Narrow" panose="020B0606020202030204" pitchFamily="34" charset="0"/>
            </a:endParaRPr>
          </a:p>
        </p:txBody>
      </p:sp>
    </p:spTree>
    <p:extLst>
      <p:ext uri="{BB962C8B-B14F-4D97-AF65-F5344CB8AC3E}">
        <p14:creationId xmlns:p14="http://schemas.microsoft.com/office/powerpoint/2010/main" val="4216985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2867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smtClean="0"/>
              <a:t>One thing to note from this graph is that a waterfall project does not produce any code until well into the project whereas a modern iterative project provides code right from the start.</a:t>
            </a:r>
            <a:endParaRPr lang="en-US" altLang="en-US" smtClean="0"/>
          </a:p>
        </p:txBody>
      </p:sp>
      <p:sp>
        <p:nvSpPr>
          <p:cNvPr id="28676" name="Header Placeholder 3"/>
          <p:cNvSpPr>
            <a:spLocks noGrp="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med" len="lg"/>
              </a14:hiddenLine>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r>
              <a:rPr lang="en-US" altLang="en-US" b="0" smtClean="0">
                <a:solidFill>
                  <a:schemeClr val="tx1"/>
                </a:solidFill>
                <a:latin typeface="Arial Narrow" panose="020B0606020202030204" pitchFamily="34" charset="0"/>
              </a:rPr>
              <a:t>Speaker Support Notes</a:t>
            </a:r>
          </a:p>
          <a:p>
            <a:endParaRPr lang="en-US" altLang="en-US" b="0" smtClean="0">
              <a:solidFill>
                <a:schemeClr val="tx1"/>
              </a:solidFill>
              <a:latin typeface="Arial Narrow" panose="020B0606020202030204" pitchFamily="34" charset="0"/>
            </a:endParaRPr>
          </a:p>
        </p:txBody>
      </p:sp>
      <p:sp>
        <p:nvSpPr>
          <p:cNvPr id="5" name="Slide Number Placeholder 4"/>
          <p:cNvSpPr>
            <a:spLocks noGrp="1"/>
          </p:cNvSpPr>
          <p:nvPr>
            <p:ph type="sldNum" sz="quarter" idx="5"/>
          </p:nvPr>
        </p:nvSpPr>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fld id="{E5D87C13-5D2D-4CC0-AD03-7C367A73D45F}" type="slidenum">
              <a:rPr lang="en-US" altLang="en-US" b="0">
                <a:solidFill>
                  <a:schemeClr val="tx1"/>
                </a:solidFill>
                <a:latin typeface="Arial Narrow" panose="020B0606020202030204" pitchFamily="34" charset="0"/>
              </a:rPr>
              <a:pPr eaLnBrk="1" hangingPunct="1"/>
              <a:t>27</a:t>
            </a:fld>
            <a:endParaRPr lang="en-US" altLang="en-US" sz="2000" b="0">
              <a:solidFill>
                <a:schemeClr val="tx1"/>
              </a:solidFill>
              <a:effectLst>
                <a:outerShdw blurRad="38100" dist="38100" dir="2700000" algn="tl">
                  <a:srgbClr val="C0C0C0"/>
                </a:outerShdw>
              </a:effectLst>
              <a:latin typeface="Arial Narrow" panose="020B0606020202030204" pitchFamily="34" charset="0"/>
            </a:endParaRPr>
          </a:p>
        </p:txBody>
      </p:sp>
    </p:spTree>
    <p:extLst>
      <p:ext uri="{BB962C8B-B14F-4D97-AF65-F5344CB8AC3E}">
        <p14:creationId xmlns:p14="http://schemas.microsoft.com/office/powerpoint/2010/main" val="536702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1A0A7B55-1D4C-401F-A844-5AF8E671B16E}" type="slidenum">
              <a:rPr lang="en-US" altLang="en-US" sz="1200" b="0">
                <a:solidFill>
                  <a:schemeClr val="tx1"/>
                </a:solidFill>
              </a:rPr>
              <a:pPr eaLnBrk="1" hangingPunct="1"/>
              <a:t>28</a:t>
            </a:fld>
            <a:endParaRPr lang="en-US" altLang="en-US" sz="1200" b="0">
              <a:solidFill>
                <a:schemeClr val="tx1"/>
              </a:solidFill>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96368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3C9864AA-DA7B-4004-825C-5802455E0ED9}" type="slidenum">
              <a:rPr lang="en-US" altLang="en-US" sz="1200" b="0">
                <a:solidFill>
                  <a:schemeClr val="tx1"/>
                </a:solidFill>
              </a:rPr>
              <a:pPr eaLnBrk="1" hangingPunct="1"/>
              <a:t>29</a:t>
            </a:fld>
            <a:endParaRPr lang="en-US" altLang="en-US" sz="1200" b="0">
              <a:solidFill>
                <a:schemeClr val="tx1"/>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Traditional method: based on budget to estimated resources (scopes) and project delivery time</a:t>
            </a:r>
          </a:p>
          <a:p>
            <a:pPr eaLnBrk="1" hangingPunct="1"/>
            <a:r>
              <a:rPr lang="en-GB" altLang="en-US" smtClean="0"/>
              <a:t>Agile method: </a:t>
            </a:r>
          </a:p>
          <a:p>
            <a:pPr eaLnBrk="1" hangingPunct="1">
              <a:buFontTx/>
              <a:buChar char="•"/>
            </a:pPr>
            <a:r>
              <a:rPr lang="en-GB" altLang="en-US" smtClean="0"/>
              <a:t>based on features and delivery time for each feature to estimated the cost. So it can be on time and on features to delivery the project.</a:t>
            </a:r>
          </a:p>
          <a:p>
            <a:pPr eaLnBrk="1" hangingPunct="1">
              <a:buFontTx/>
              <a:buChar char="•"/>
            </a:pPr>
            <a:r>
              <a:rPr lang="en-GB" altLang="en-US" smtClean="0"/>
              <a:t>Because agile method tries to on time and on budget to delivery the project based on how many features customer wants. So it tides up with its cost and time  </a:t>
            </a:r>
          </a:p>
          <a:p>
            <a:pPr eaLnBrk="1" hangingPunct="1">
              <a:buFontTx/>
              <a:buChar char="•"/>
            </a:pPr>
            <a:endParaRPr lang="en-GB" altLang="en-US" smtClean="0"/>
          </a:p>
          <a:p>
            <a:pPr eaLnBrk="1" hangingPunct="1"/>
            <a:r>
              <a:rPr lang="en-GB" altLang="en-US" smtClean="0"/>
              <a:t>Agile: Estimated each feature how much time they need and what is cost. So it fixed the cost and delivery time. (it makes sure that the project will delivery on time and on budget but not full of functions.</a:t>
            </a:r>
          </a:p>
          <a:p>
            <a:pPr eaLnBrk="1" hangingPunct="1"/>
            <a:r>
              <a:rPr lang="en-GB" altLang="en-US" smtClean="0"/>
              <a:t>Traditional: Estimated the scopes and cost how much time they need it. So it fixed the requirements. ( it might be end of  project delivery late and/or over budget even fail to delivery the project totally. P.S. when they delivery the project late it might cost the customers  loose it business opportunity. (eq. ebay’s website only breakdown for 24 hours, they loose (XXXXXXXXXX find how much they lost in a day??????????????????)</a:t>
            </a:r>
          </a:p>
          <a:p>
            <a:pPr eaLnBrk="1" hangingPunct="1"/>
            <a:r>
              <a:rPr lang="en-GB" altLang="en-US" smtClean="0"/>
              <a:t>“Project success” Success is defined here as a project being completed on-time, on-budget and on-scope. Any factors which cause the project fail would be a risk factor, in other words any success factor contributing to project success would be a way to handle the risks.</a:t>
            </a:r>
          </a:p>
          <a:p>
            <a:pPr eaLnBrk="1" hangingPunct="1"/>
            <a:endParaRPr lang="en-GB" altLang="en-US" smtClean="0"/>
          </a:p>
          <a:p>
            <a:pPr eaLnBrk="1" hangingPunct="1"/>
            <a:r>
              <a:rPr lang="en-GB" altLang="en-US" smtClean="0"/>
              <a:t>Dealing with the triple constraints-Scope, budget and schedule- of project management almost requires trade-offs. For instance: producing a project on schedule and within the budget might result in a product that lacks the features and functions users thought they were paying for. Based on the Standish Group report, an IT consulting firm report $275 billion is spent on software development project each year in the U.S alone. More than 70% of these projects suffer total failure, cost over runs, schedule overruns or deliver few functions than promised.</a:t>
            </a:r>
          </a:p>
          <a:p>
            <a:pPr eaLnBrk="1" hangingPunct="1"/>
            <a:endParaRPr lang="en-US" altLang="en-US" smtClean="0"/>
          </a:p>
        </p:txBody>
      </p:sp>
    </p:spTree>
    <p:extLst>
      <p:ext uri="{BB962C8B-B14F-4D97-AF65-F5344CB8AC3E}">
        <p14:creationId xmlns:p14="http://schemas.microsoft.com/office/powerpoint/2010/main" val="630939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90048B63-148E-4375-BE30-1929F64F486E}" type="slidenum">
              <a:rPr lang="en-US" altLang="en-US" sz="1200" b="0">
                <a:solidFill>
                  <a:schemeClr val="tx1"/>
                </a:solidFill>
              </a:rPr>
              <a:pPr eaLnBrk="1" hangingPunct="1"/>
              <a:t>30</a:t>
            </a:fld>
            <a:endParaRPr lang="en-US" altLang="en-US" sz="1200" b="0">
              <a:solidFill>
                <a:schemeClr val="tx1"/>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Priority needs to take into about value and effort</a:t>
            </a:r>
            <a:endParaRPr lang="en-US" altLang="en-US" smtClean="0"/>
          </a:p>
        </p:txBody>
      </p:sp>
    </p:spTree>
    <p:extLst>
      <p:ext uri="{BB962C8B-B14F-4D97-AF65-F5344CB8AC3E}">
        <p14:creationId xmlns:p14="http://schemas.microsoft.com/office/powerpoint/2010/main" val="3640939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94442F5A-C4DA-41C9-87D1-27D711CB3513}" type="slidenum">
              <a:rPr lang="en-US" altLang="en-US" sz="1200" b="0">
                <a:solidFill>
                  <a:schemeClr val="tx1"/>
                </a:solidFill>
              </a:rPr>
              <a:pPr eaLnBrk="1" hangingPunct="1"/>
              <a:t>31</a:t>
            </a:fld>
            <a:endParaRPr lang="en-US" altLang="en-US" sz="1200" b="0">
              <a:solidFill>
                <a:schemeClr val="tx1"/>
              </a:solidFill>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Source from IBM: 10 codes per day and 50 codes per week. </a:t>
            </a:r>
          </a:p>
          <a:p>
            <a:pPr eaLnBrk="1" hangingPunct="1"/>
            <a:r>
              <a:rPr lang="en-GB" altLang="en-US" smtClean="0"/>
              <a:t>Although project results have improved slightly over the last few years, the Standish group’s Chaos Report tells us that 72% OF PROJECTS fail or are challenged. The challenge means, project is completed and operational but over-budget, past deadline, and/or with fewer features and functions than originally specified. In this figure, you can see 45% of features implemented are never used, and 19% are rarely used. The most disturbing part is that practices known to drive more successful project outcomes are frequently not adopted.</a:t>
            </a:r>
            <a:endParaRPr lang="en-US" altLang="en-US" smtClean="0"/>
          </a:p>
        </p:txBody>
      </p:sp>
    </p:spTree>
    <p:extLst>
      <p:ext uri="{BB962C8B-B14F-4D97-AF65-F5344CB8AC3E}">
        <p14:creationId xmlns:p14="http://schemas.microsoft.com/office/powerpoint/2010/main" val="1570047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2A941C90-A334-4F89-B2AB-82A3044BCB23}" type="slidenum">
              <a:rPr lang="en-US" altLang="en-US" sz="1200" b="0">
                <a:solidFill>
                  <a:schemeClr val="tx1"/>
                </a:solidFill>
              </a:rPr>
              <a:pPr eaLnBrk="1" hangingPunct="1"/>
              <a:t>32</a:t>
            </a:fld>
            <a:endParaRPr lang="en-US" altLang="en-US" sz="1200" b="0">
              <a:solidFill>
                <a:schemeClr val="tx1"/>
              </a:solidFill>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167507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12456660-EDED-49A0-A8D3-291B82744B03}" type="slidenum">
              <a:rPr lang="en-US" altLang="en-US" sz="1200" b="0">
                <a:solidFill>
                  <a:schemeClr val="tx1"/>
                </a:solidFill>
              </a:rPr>
              <a:pPr eaLnBrk="1" hangingPunct="1"/>
              <a:t>33</a:t>
            </a:fld>
            <a:endParaRPr lang="en-US" altLang="en-US" sz="1200" b="0">
              <a:solidFill>
                <a:schemeClr val="tx1"/>
              </a:solidFill>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GB" altLang="en-US" sz="1000" smtClean="0"/>
              <a:t>Sponsor: provided direction to product owner/customers: they are able to access to iteration reviews to see growth value being delivered</a:t>
            </a:r>
          </a:p>
          <a:p>
            <a:pPr eaLnBrk="1" hangingPunct="1">
              <a:lnSpc>
                <a:spcPct val="90000"/>
              </a:lnSpc>
            </a:pPr>
            <a:r>
              <a:rPr lang="en-GB" altLang="en-US" sz="1000" smtClean="0"/>
              <a:t>Customer: </a:t>
            </a:r>
          </a:p>
          <a:p>
            <a:pPr lvl="4" eaLnBrk="1" hangingPunct="1">
              <a:lnSpc>
                <a:spcPct val="90000"/>
              </a:lnSpc>
            </a:pPr>
            <a:r>
              <a:rPr lang="en-GB" altLang="en-US" sz="1000" smtClean="0"/>
              <a:t>owns the product backlog</a:t>
            </a:r>
          </a:p>
          <a:p>
            <a:pPr lvl="4" eaLnBrk="1" hangingPunct="1">
              <a:lnSpc>
                <a:spcPct val="90000"/>
              </a:lnSpc>
            </a:pPr>
            <a:r>
              <a:rPr lang="en-GB" altLang="en-US" sz="1000" smtClean="0"/>
              <a:t>Decides on release dates and content</a:t>
            </a:r>
          </a:p>
          <a:p>
            <a:pPr lvl="4" eaLnBrk="1" hangingPunct="1">
              <a:lnSpc>
                <a:spcPct val="90000"/>
              </a:lnSpc>
            </a:pPr>
            <a:r>
              <a:rPr lang="en-GB" altLang="en-US" sz="1000" smtClean="0"/>
              <a:t>Prioritises backlogs e.g. content of next iteration</a:t>
            </a:r>
          </a:p>
          <a:p>
            <a:pPr lvl="4" eaLnBrk="1" hangingPunct="1">
              <a:lnSpc>
                <a:spcPct val="90000"/>
              </a:lnSpc>
            </a:pPr>
            <a:r>
              <a:rPr lang="en-GB" altLang="en-US" sz="1000" smtClean="0"/>
              <a:t>Can change features and priority every iteration</a:t>
            </a:r>
          </a:p>
          <a:p>
            <a:pPr lvl="4" eaLnBrk="1" hangingPunct="1">
              <a:lnSpc>
                <a:spcPct val="90000"/>
              </a:lnSpc>
            </a:pPr>
            <a:r>
              <a:rPr lang="en-GB" altLang="en-US" sz="1000" smtClean="0"/>
              <a:t>( how do they prioritises the feature? Not easy!!)</a:t>
            </a:r>
          </a:p>
          <a:p>
            <a:pPr lvl="4" eaLnBrk="1" hangingPunct="1">
              <a:lnSpc>
                <a:spcPct val="90000"/>
              </a:lnSpc>
            </a:pPr>
            <a:endParaRPr lang="en-GB" altLang="en-US" sz="1000" smtClean="0"/>
          </a:p>
          <a:p>
            <a:pPr eaLnBrk="1" hangingPunct="1">
              <a:lnSpc>
                <a:spcPct val="90000"/>
              </a:lnSpc>
            </a:pPr>
            <a:r>
              <a:rPr lang="en-GB" altLang="en-US" sz="1000" smtClean="0"/>
              <a:t>Project manager: </a:t>
            </a:r>
          </a:p>
          <a:p>
            <a:pPr lvl="4" eaLnBrk="1" hangingPunct="1">
              <a:lnSpc>
                <a:spcPct val="90000"/>
              </a:lnSpc>
            </a:pPr>
            <a:r>
              <a:rPr lang="en-GB" altLang="en-US" sz="1000" smtClean="0"/>
              <a:t>Ensures that process is followed </a:t>
            </a:r>
          </a:p>
          <a:p>
            <a:pPr lvl="4" eaLnBrk="1" hangingPunct="1">
              <a:lnSpc>
                <a:spcPct val="90000"/>
              </a:lnSpc>
            </a:pPr>
            <a:r>
              <a:rPr lang="en-GB" altLang="en-US" sz="1000" smtClean="0"/>
              <a:t>Helps people improve- servant leader</a:t>
            </a:r>
          </a:p>
          <a:p>
            <a:pPr lvl="4" eaLnBrk="1" hangingPunct="1">
              <a:lnSpc>
                <a:spcPct val="90000"/>
              </a:lnSpc>
            </a:pPr>
            <a:r>
              <a:rPr lang="en-GB" altLang="en-US" sz="1000" smtClean="0"/>
              <a:t>Promotes cooperation-removes barriers</a:t>
            </a:r>
          </a:p>
          <a:p>
            <a:pPr lvl="4" eaLnBrk="1" hangingPunct="1">
              <a:lnSpc>
                <a:spcPct val="90000"/>
              </a:lnSpc>
            </a:pPr>
            <a:r>
              <a:rPr lang="en-GB" altLang="en-US" sz="1000" smtClean="0"/>
              <a:t>Helps runs stand ups, planning and reviews</a:t>
            </a:r>
          </a:p>
          <a:p>
            <a:pPr lvl="4" eaLnBrk="1" hangingPunct="1">
              <a:lnSpc>
                <a:spcPct val="90000"/>
              </a:lnSpc>
            </a:pPr>
            <a:r>
              <a:rPr lang="en-GB" altLang="en-US" sz="1000" smtClean="0"/>
              <a:t>Ensures progress is radiating and plan is alive</a:t>
            </a:r>
          </a:p>
          <a:p>
            <a:pPr eaLnBrk="1" hangingPunct="1">
              <a:lnSpc>
                <a:spcPct val="90000"/>
              </a:lnSpc>
            </a:pPr>
            <a:endParaRPr lang="en-GB" altLang="en-US" sz="1000" smtClean="0"/>
          </a:p>
          <a:p>
            <a:pPr eaLnBrk="1" hangingPunct="1">
              <a:lnSpc>
                <a:spcPct val="90000"/>
              </a:lnSpc>
            </a:pPr>
            <a:r>
              <a:rPr lang="en-GB" altLang="en-US" sz="1000" smtClean="0"/>
              <a:t>Whole team:</a:t>
            </a:r>
          </a:p>
          <a:p>
            <a:pPr lvl="4" eaLnBrk="1" hangingPunct="1">
              <a:lnSpc>
                <a:spcPct val="90000"/>
              </a:lnSpc>
            </a:pPr>
            <a:r>
              <a:rPr lang="en-GB" altLang="en-US" sz="1000" smtClean="0"/>
              <a:t>Organises itself and the iteration work (backlog of tasks-story sign off)</a:t>
            </a:r>
          </a:p>
          <a:p>
            <a:pPr lvl="4" eaLnBrk="1" hangingPunct="1">
              <a:lnSpc>
                <a:spcPct val="90000"/>
              </a:lnSpc>
            </a:pPr>
            <a:r>
              <a:rPr lang="en-GB" altLang="en-US" sz="1000" smtClean="0"/>
              <a:t>Cross- functional team of less than 10 people</a:t>
            </a:r>
          </a:p>
          <a:p>
            <a:pPr lvl="4" eaLnBrk="1" hangingPunct="1">
              <a:lnSpc>
                <a:spcPct val="90000"/>
              </a:lnSpc>
            </a:pPr>
            <a:r>
              <a:rPr lang="en-GB" altLang="en-US" sz="1000" smtClean="0"/>
              <a:t>Presents working software to customer community at  iteration (sprint) review.</a:t>
            </a:r>
          </a:p>
          <a:p>
            <a:pPr lvl="4" eaLnBrk="1" hangingPunct="1">
              <a:lnSpc>
                <a:spcPct val="90000"/>
              </a:lnSpc>
            </a:pPr>
            <a:endParaRPr lang="en-GB" altLang="en-US" sz="1000" smtClean="0"/>
          </a:p>
          <a:p>
            <a:pPr eaLnBrk="1" hangingPunct="1">
              <a:lnSpc>
                <a:spcPct val="90000"/>
              </a:lnSpc>
            </a:pPr>
            <a:r>
              <a:rPr lang="en-GB" altLang="en-US" sz="1000" smtClean="0"/>
              <a:t>Management responsibilities are to </a:t>
            </a:r>
          </a:p>
          <a:p>
            <a:pPr lvl="4" eaLnBrk="1" hangingPunct="1">
              <a:lnSpc>
                <a:spcPct val="90000"/>
              </a:lnSpc>
            </a:pPr>
            <a:r>
              <a:rPr lang="en-GB" altLang="en-US" sz="1000" smtClean="0"/>
              <a:t>1. provide strategic vision, business strategy and resources</a:t>
            </a:r>
          </a:p>
          <a:p>
            <a:pPr eaLnBrk="1" hangingPunct="1">
              <a:lnSpc>
                <a:spcPct val="90000"/>
              </a:lnSpc>
            </a:pPr>
            <a:r>
              <a:rPr lang="en-GB" altLang="en-US" sz="1000" smtClean="0"/>
              <a:t>              2. remove impediments surfaced by scrum teams that the teams cannot remove themselves </a:t>
            </a:r>
          </a:p>
          <a:p>
            <a:pPr lvl="4" eaLnBrk="1" hangingPunct="1">
              <a:lnSpc>
                <a:spcPct val="90000"/>
              </a:lnSpc>
            </a:pPr>
            <a:r>
              <a:rPr lang="en-GB" altLang="en-US" sz="1000" smtClean="0"/>
              <a:t> 3.ensure growth and career path of staff</a:t>
            </a:r>
          </a:p>
          <a:p>
            <a:pPr lvl="4" eaLnBrk="1" hangingPunct="1">
              <a:lnSpc>
                <a:spcPct val="90000"/>
              </a:lnSpc>
            </a:pPr>
            <a:r>
              <a:rPr lang="en-GB" altLang="en-US" sz="1000" smtClean="0"/>
              <a:t>4. Challenge the scrum teams to move beyond mediocrity</a:t>
            </a:r>
          </a:p>
          <a:p>
            <a:pPr eaLnBrk="1" hangingPunct="1">
              <a:lnSpc>
                <a:spcPct val="90000"/>
              </a:lnSpc>
            </a:pPr>
            <a:endParaRPr lang="en-GB" altLang="en-US" sz="1000" smtClean="0"/>
          </a:p>
        </p:txBody>
      </p:sp>
    </p:spTree>
    <p:extLst>
      <p:ext uri="{BB962C8B-B14F-4D97-AF65-F5344CB8AC3E}">
        <p14:creationId xmlns:p14="http://schemas.microsoft.com/office/powerpoint/2010/main" val="403235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73CE488E-BB89-43C1-98EB-EEACDE3F4DF5}" type="slidenum">
              <a:rPr lang="en-US" altLang="en-US" sz="1200" b="0">
                <a:solidFill>
                  <a:schemeClr val="tx1"/>
                </a:solidFill>
              </a:rPr>
              <a:pPr eaLnBrk="1" hangingPunct="1"/>
              <a:t>34</a:t>
            </a:fld>
            <a:endParaRPr lang="en-US" altLang="en-US" sz="1200" b="0">
              <a:solidFill>
                <a:schemeClr val="tx1"/>
              </a:solidFill>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Scrum daily meeting: (standing talk ofr 10 minutes)</a:t>
            </a:r>
          </a:p>
          <a:p>
            <a:pPr eaLnBrk="1" hangingPunct="1"/>
            <a:r>
              <a:rPr lang="en-GB" altLang="en-US" smtClean="0"/>
              <a:t>What you did yesterday?</a:t>
            </a:r>
          </a:p>
          <a:p>
            <a:pPr eaLnBrk="1" hangingPunct="1"/>
            <a:r>
              <a:rPr lang="en-GB" altLang="en-US" smtClean="0"/>
              <a:t>What problems you had?</a:t>
            </a:r>
          </a:p>
          <a:p>
            <a:pPr eaLnBrk="1" hangingPunct="1"/>
            <a:r>
              <a:rPr lang="en-GB" altLang="en-US" smtClean="0"/>
              <a:t>What are you going to do today?</a:t>
            </a:r>
          </a:p>
        </p:txBody>
      </p:sp>
    </p:spTree>
    <p:extLst>
      <p:ext uri="{BB962C8B-B14F-4D97-AF65-F5344CB8AC3E}">
        <p14:creationId xmlns:p14="http://schemas.microsoft.com/office/powerpoint/2010/main" val="2440771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DB8DBB11-7C65-4E78-B15A-826B94CE2355}" type="slidenum">
              <a:rPr lang="en-US" altLang="en-US" sz="1200" b="0">
                <a:solidFill>
                  <a:schemeClr val="tx1"/>
                </a:solidFill>
              </a:rPr>
              <a:pPr eaLnBrk="1" hangingPunct="1"/>
              <a:t>36</a:t>
            </a:fld>
            <a:endParaRPr lang="en-US" altLang="en-US" sz="1200" b="0">
              <a:solidFill>
                <a:schemeClr val="tx1"/>
              </a:solidFill>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z="1000" smtClean="0">
                <a:solidFill>
                  <a:schemeClr val="tx2"/>
                </a:solidFill>
              </a:rPr>
              <a:t>--Individuals and interaction</a:t>
            </a:r>
            <a:r>
              <a:rPr lang="en-GB" altLang="en-US" sz="1000" smtClean="0"/>
              <a:t> over process and tools:</a:t>
            </a:r>
          </a:p>
          <a:p>
            <a:pPr lvl="1" eaLnBrk="1" hangingPunct="1"/>
            <a:r>
              <a:rPr lang="en-GB" altLang="en-US" sz="1000" smtClean="0"/>
              <a:t> Build projects around motivated individuals. Give them the environment and support they need, and trust them to get the job done.</a:t>
            </a:r>
          </a:p>
          <a:p>
            <a:pPr eaLnBrk="1" hangingPunct="1"/>
            <a:r>
              <a:rPr lang="en-GB" altLang="en-US" sz="1000" smtClean="0">
                <a:solidFill>
                  <a:schemeClr val="tx2"/>
                </a:solidFill>
              </a:rPr>
              <a:t>---Working software</a:t>
            </a:r>
            <a:r>
              <a:rPr lang="en-GB" altLang="en-US" sz="1000" smtClean="0"/>
              <a:t> over comprehensive documentation: </a:t>
            </a:r>
          </a:p>
          <a:p>
            <a:pPr lvl="1" eaLnBrk="1" hangingPunct="1"/>
            <a:r>
              <a:rPr lang="en-GB" altLang="en-US" sz="1000" smtClean="0"/>
              <a:t>working software is the key measure of progress. Agile processes promote sustainable development. The sponsors, developers ,and users should be able to maintain a constant pace for the foreseeable future.</a:t>
            </a:r>
          </a:p>
          <a:p>
            <a:pPr lvl="1" eaLnBrk="1" hangingPunct="1"/>
            <a:r>
              <a:rPr lang="en-GB" altLang="en-US" sz="1000" smtClean="0"/>
              <a:t>Continuous attention to technical excellence and good design enhances agility</a:t>
            </a:r>
          </a:p>
          <a:p>
            <a:pPr eaLnBrk="1" hangingPunct="1"/>
            <a:r>
              <a:rPr lang="en-GB" altLang="en-US" sz="1000" smtClean="0">
                <a:solidFill>
                  <a:schemeClr val="tx2"/>
                </a:solidFill>
              </a:rPr>
              <a:t>----Customer collaboration</a:t>
            </a:r>
            <a:r>
              <a:rPr lang="en-GB" altLang="en-US" sz="1000" smtClean="0"/>
              <a:t> over contract negotiation: </a:t>
            </a:r>
          </a:p>
          <a:p>
            <a:pPr lvl="1" eaLnBrk="1" hangingPunct="1"/>
            <a:r>
              <a:rPr lang="en-GB" altLang="en-US" sz="1000" smtClean="0"/>
              <a:t>business people and developers must work together daily throughout the project</a:t>
            </a:r>
          </a:p>
          <a:p>
            <a:pPr lvl="1" eaLnBrk="1" hangingPunct="1"/>
            <a:r>
              <a:rPr lang="en-GB" altLang="en-US" sz="1000" smtClean="0"/>
              <a:t>Our highest priority is to satisfy the customer through early and continuous delivery of valuable software</a:t>
            </a:r>
          </a:p>
          <a:p>
            <a:pPr lvl="1" eaLnBrk="1" hangingPunct="1"/>
            <a:endParaRPr lang="en-GB" altLang="en-US" sz="1000" smtClean="0"/>
          </a:p>
          <a:p>
            <a:pPr eaLnBrk="1" hangingPunct="1"/>
            <a:r>
              <a:rPr lang="en-GB" altLang="en-US" sz="1000" smtClean="0">
                <a:solidFill>
                  <a:schemeClr val="tx2"/>
                </a:solidFill>
              </a:rPr>
              <a:t>---Responding to change</a:t>
            </a:r>
            <a:r>
              <a:rPr lang="en-GB" altLang="en-US" sz="1000" smtClean="0"/>
              <a:t> over following a plan: </a:t>
            </a:r>
          </a:p>
          <a:p>
            <a:pPr lvl="1" eaLnBrk="1" hangingPunct="1"/>
            <a:r>
              <a:rPr lang="en-GB" altLang="en-US" sz="1000" smtClean="0"/>
              <a:t>welcome changing requirements, even late in development. Agile processes harness change for the customer’s competitive advantage</a:t>
            </a:r>
          </a:p>
          <a:p>
            <a:pPr eaLnBrk="1" hangingPunct="1"/>
            <a:r>
              <a:rPr lang="en-GB" altLang="en-US" sz="1000" smtClean="0"/>
              <a:t>We need best architectures, requirements and designs emerge from self-organising teams. Also base on the regular intervals, the team reflects on how to become more effective then tunes and adjusts its behaviour accordingly.</a:t>
            </a:r>
          </a:p>
        </p:txBody>
      </p:sp>
    </p:spTree>
    <p:extLst>
      <p:ext uri="{BB962C8B-B14F-4D97-AF65-F5344CB8AC3E}">
        <p14:creationId xmlns:p14="http://schemas.microsoft.com/office/powerpoint/2010/main" val="3216504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6F6070ED-D5BD-4706-9282-E088BA4AC17D}" type="slidenum">
              <a:rPr lang="en-US" altLang="en-US" sz="1200" b="0">
                <a:solidFill>
                  <a:schemeClr val="tx1"/>
                </a:solidFill>
              </a:rPr>
              <a:pPr eaLnBrk="1" hangingPunct="1"/>
              <a:t>37</a:t>
            </a:fld>
            <a:endParaRPr lang="en-US" altLang="en-US" sz="1200" b="0">
              <a:solidFill>
                <a:schemeClr val="tx1"/>
              </a:solidFill>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Some researchers and project mangers think the SDLC is lack of agility. As this method (so called heavy method) is based on scope-budget-schedule model which has caused the software engineering community to seek better methods of reducing variance. </a:t>
            </a:r>
          </a:p>
          <a:p>
            <a:pPr eaLnBrk="1" hangingPunct="1"/>
            <a:r>
              <a:rPr lang="en-GB" altLang="en-US" smtClean="0"/>
              <a:t>The agile software process has become a hot topic among consultants, practitioners and researchers through concepts like Extreme Programming and SCRUM.</a:t>
            </a:r>
          </a:p>
          <a:p>
            <a:pPr eaLnBrk="1" hangingPunct="1"/>
            <a:r>
              <a:rPr lang="en-GB" altLang="en-US" smtClean="0"/>
              <a:t>Software development often involves new technology, challenging or unknown requirements and tight schedules- making particularly having a tendency to several types of risk. </a:t>
            </a:r>
          </a:p>
          <a:p>
            <a:pPr eaLnBrk="1" hangingPunct="1"/>
            <a:r>
              <a:rPr lang="en-GB" altLang="en-US" smtClean="0"/>
              <a:t>Many of the practical challenges in software engineering are not limited to </a:t>
            </a:r>
            <a:r>
              <a:rPr lang="en-GB" altLang="en-US" b="1" smtClean="0"/>
              <a:t>technologica</a:t>
            </a:r>
            <a:r>
              <a:rPr lang="en-GB" altLang="en-US" smtClean="0"/>
              <a:t>l issues. </a:t>
            </a:r>
            <a:r>
              <a:rPr lang="en-GB" altLang="en-US" b="1" smtClean="0"/>
              <a:t>Managerial</a:t>
            </a:r>
            <a:r>
              <a:rPr lang="en-GB" altLang="en-US" smtClean="0"/>
              <a:t> issues, </a:t>
            </a:r>
            <a:r>
              <a:rPr lang="en-GB" altLang="en-US" b="1" smtClean="0"/>
              <a:t>communications</a:t>
            </a:r>
            <a:r>
              <a:rPr lang="en-GB" altLang="en-US" smtClean="0"/>
              <a:t>, </a:t>
            </a:r>
            <a:r>
              <a:rPr lang="en-GB" altLang="en-US" b="1" smtClean="0"/>
              <a:t>personnel relationships</a:t>
            </a:r>
            <a:r>
              <a:rPr lang="en-GB" altLang="en-US" smtClean="0"/>
              <a:t> and </a:t>
            </a:r>
            <a:r>
              <a:rPr lang="en-GB" altLang="en-US" b="1" smtClean="0"/>
              <a:t>competence/know-how</a:t>
            </a:r>
            <a:r>
              <a:rPr lang="en-GB" altLang="en-US" smtClean="0"/>
              <a:t> management often have a large impact on a software project’s success.</a:t>
            </a:r>
          </a:p>
          <a:p>
            <a:pPr eaLnBrk="1" hangingPunct="1"/>
            <a:r>
              <a:rPr lang="en-GB" altLang="en-US" smtClean="0"/>
              <a:t>This study explores and studies these issues of software management from three specific perspectives:</a:t>
            </a:r>
          </a:p>
          <a:p>
            <a:pPr eaLnBrk="1" hangingPunct="1"/>
            <a:r>
              <a:rPr lang="en-GB" altLang="en-US" smtClean="0"/>
              <a:t>How commitments are made and managed </a:t>
            </a:r>
          </a:p>
          <a:p>
            <a:pPr eaLnBrk="1" hangingPunct="1"/>
            <a:r>
              <a:rPr lang="en-GB" altLang="en-US" smtClean="0"/>
              <a:t>How the risks are managed </a:t>
            </a:r>
          </a:p>
          <a:p>
            <a:pPr eaLnBrk="1" hangingPunct="1"/>
            <a:r>
              <a:rPr lang="en-GB" altLang="en-US" smtClean="0"/>
              <a:t>The summery of the successful factors are as follows:</a:t>
            </a:r>
          </a:p>
          <a:p>
            <a:pPr eaLnBrk="1" hangingPunct="1"/>
            <a:r>
              <a:rPr lang="en-GB" altLang="en-US" b="1" smtClean="0"/>
              <a:t>Prefer a project stated with a small group. </a:t>
            </a:r>
            <a:r>
              <a:rPr lang="en-GB" altLang="en-US" smtClean="0"/>
              <a:t>It is possible to maintain high-bandwidth, one-to-one communication when a project has around 10 to 15 people. But this starts to become difficult when the team size exceeds twenty people. With smaller teams, no specialisation of roles (analyst, designer, coder, tester), with resign of work of art, is necessary.</a:t>
            </a:r>
          </a:p>
          <a:p>
            <a:pPr eaLnBrk="1" hangingPunct="1"/>
            <a:r>
              <a:rPr lang="en-GB" altLang="en-US" b="1" smtClean="0"/>
              <a:t>Co-location</a:t>
            </a:r>
            <a:r>
              <a:rPr lang="en-GB" altLang="en-US" smtClean="0"/>
              <a:t>. Again, this allows high-bandwidth communication and synchronous communication between people.</a:t>
            </a:r>
          </a:p>
          <a:p>
            <a:pPr eaLnBrk="1" hangingPunct="1"/>
            <a:r>
              <a:rPr lang="en-GB" altLang="en-US" b="1" smtClean="0"/>
              <a:t>Customer onsite</a:t>
            </a:r>
            <a:r>
              <a:rPr lang="en-GB" altLang="en-US" smtClean="0"/>
              <a:t>. The project as a whole needs ready access to a competent and empowered customer representative, who can make decisions about the system. When the project team has direct access to the customer, it becomes easier for course corrections to be made periodically, thus picture a better product at the end of the project. </a:t>
            </a:r>
          </a:p>
          <a:p>
            <a:pPr eaLnBrk="1" hangingPunct="1"/>
            <a:r>
              <a:rPr lang="en-GB" altLang="en-US" b="1" smtClean="0"/>
              <a:t>Business application</a:t>
            </a:r>
            <a:r>
              <a:rPr lang="en-GB" altLang="en-US" smtClean="0"/>
              <a:t>. Agile development works better for business software projects in which interactive types of applications are being built. It works less well for other kinds of projects: for example, an embedded real-time system.</a:t>
            </a:r>
          </a:p>
          <a:p>
            <a:pPr eaLnBrk="1" hangingPunct="1"/>
            <a:r>
              <a:rPr lang="en-GB" altLang="en-US" b="1" smtClean="0"/>
              <a:t>Rapid application development (RAD) programming environment</a:t>
            </a:r>
            <a:r>
              <a:rPr lang="en-GB" altLang="en-US" smtClean="0"/>
              <a:t>. Agility requires a rapid application development environment that allows fast change from construction of code to testing and collective code ownership; ideally, development teams do daily development and monthly delivery based on the project schedule.</a:t>
            </a:r>
          </a:p>
          <a:p>
            <a:pPr eaLnBrk="1" hangingPunct="1"/>
            <a:r>
              <a:rPr lang="en-GB" altLang="en-US" b="1" smtClean="0"/>
              <a:t>Short lifecycle</a:t>
            </a:r>
            <a:r>
              <a:rPr lang="en-GB" altLang="en-US" smtClean="0"/>
              <a:t>. Projects should not exceed a few months and ideally have a rapid internal loop.</a:t>
            </a:r>
          </a:p>
          <a:p>
            <a:pPr eaLnBrk="1" hangingPunct="1"/>
            <a:r>
              <a:rPr lang="en-GB" altLang="en-US" b="1" smtClean="0"/>
              <a:t>Common culture</a:t>
            </a:r>
            <a:r>
              <a:rPr lang="en-GB" altLang="en-US" smtClean="0"/>
              <a:t>. Company’s culture in vocabulary and an understanding process are shared, and individual developer practices rapidly support with each other. </a:t>
            </a:r>
          </a:p>
          <a:p>
            <a:pPr eaLnBrk="1" hangingPunct="1"/>
            <a:r>
              <a:rPr lang="en-GB" altLang="en-US" smtClean="0"/>
              <a:t>Communication is direct, including communication with the most interested stakeholder and the customer. </a:t>
            </a:r>
          </a:p>
        </p:txBody>
      </p:sp>
    </p:spTree>
    <p:extLst>
      <p:ext uri="{BB962C8B-B14F-4D97-AF65-F5344CB8AC3E}">
        <p14:creationId xmlns:p14="http://schemas.microsoft.com/office/powerpoint/2010/main" val="1318302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2F461E3C-9857-40B4-A724-F0D7285C7E7A}" type="slidenum">
              <a:rPr lang="en-US" altLang="en-US" sz="1200" b="0">
                <a:solidFill>
                  <a:schemeClr val="tx1"/>
                </a:solidFill>
              </a:rPr>
              <a:pPr eaLnBrk="1" hangingPunct="1"/>
              <a:t>38</a:t>
            </a:fld>
            <a:endParaRPr lang="en-US" altLang="en-US" sz="1200" b="0">
              <a:solidFill>
                <a:schemeClr val="tx1"/>
              </a:solidFill>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Say what you do</a:t>
            </a:r>
          </a:p>
          <a:p>
            <a:pPr eaLnBrk="1" hangingPunct="1"/>
            <a:r>
              <a:rPr lang="en-GB" altLang="en-US" smtClean="0"/>
              <a:t>Do what you say</a:t>
            </a:r>
          </a:p>
          <a:p>
            <a:pPr eaLnBrk="1" hangingPunct="1"/>
            <a:r>
              <a:rPr lang="en-GB" altLang="en-US" smtClean="0"/>
              <a:t>Show you did it </a:t>
            </a:r>
            <a:endParaRPr lang="en-US" altLang="en-US" smtClean="0"/>
          </a:p>
          <a:p>
            <a:pPr eaLnBrk="1" hangingPunct="1"/>
            <a:endParaRPr lang="en-US" altLang="en-US" smtClean="0"/>
          </a:p>
          <a:p>
            <a:pPr eaLnBrk="1" hangingPunct="1"/>
            <a:r>
              <a:rPr lang="en-GB" altLang="en-US" smtClean="0">
                <a:solidFill>
                  <a:schemeClr val="tx2"/>
                </a:solidFill>
              </a:rPr>
              <a:t>--Individuals and interaction</a:t>
            </a:r>
            <a:r>
              <a:rPr lang="en-GB" altLang="en-US" smtClean="0"/>
              <a:t> over process and tools:</a:t>
            </a:r>
          </a:p>
          <a:p>
            <a:pPr lvl="1" eaLnBrk="1" hangingPunct="1"/>
            <a:r>
              <a:rPr lang="en-GB" altLang="en-US" smtClean="0"/>
              <a:t> Build projects around motivated individuals. Give them the environment and support they need, and trust them to get the job done.</a:t>
            </a:r>
          </a:p>
          <a:p>
            <a:pPr eaLnBrk="1" hangingPunct="1"/>
            <a:r>
              <a:rPr lang="en-GB" altLang="en-US" smtClean="0">
                <a:solidFill>
                  <a:schemeClr val="tx2"/>
                </a:solidFill>
              </a:rPr>
              <a:t>---Working software</a:t>
            </a:r>
            <a:r>
              <a:rPr lang="en-GB" altLang="en-US" smtClean="0"/>
              <a:t> over comprehensive documentation: </a:t>
            </a:r>
          </a:p>
          <a:p>
            <a:pPr lvl="1" eaLnBrk="1" hangingPunct="1"/>
            <a:r>
              <a:rPr lang="en-GB" altLang="en-US" smtClean="0"/>
              <a:t>working software is the key measure of progress. Agile processes promote sustainable development. The sponsors, developers ,and users should be able to maintain a constant pace for the foreseeable future.</a:t>
            </a:r>
          </a:p>
          <a:p>
            <a:pPr lvl="1" eaLnBrk="1" hangingPunct="1"/>
            <a:r>
              <a:rPr lang="en-GB" altLang="en-US" smtClean="0"/>
              <a:t>Continuous attention to technical excellence and good design enhances agility</a:t>
            </a:r>
          </a:p>
          <a:p>
            <a:pPr eaLnBrk="1" hangingPunct="1"/>
            <a:r>
              <a:rPr lang="en-GB" altLang="en-US" smtClean="0">
                <a:solidFill>
                  <a:schemeClr val="tx2"/>
                </a:solidFill>
              </a:rPr>
              <a:t>----Customer collaboration</a:t>
            </a:r>
            <a:r>
              <a:rPr lang="en-GB" altLang="en-US" smtClean="0"/>
              <a:t> over contract negotiation: </a:t>
            </a:r>
          </a:p>
          <a:p>
            <a:pPr lvl="1" eaLnBrk="1" hangingPunct="1"/>
            <a:r>
              <a:rPr lang="en-GB" altLang="en-US" smtClean="0"/>
              <a:t>business people and developers must work together daily throughout the project</a:t>
            </a:r>
          </a:p>
          <a:p>
            <a:pPr lvl="1" eaLnBrk="1" hangingPunct="1"/>
            <a:r>
              <a:rPr lang="en-GB" altLang="en-US" smtClean="0"/>
              <a:t>Our highest priority is to satisfy the customer through early and continuous delivery of valuable software</a:t>
            </a:r>
          </a:p>
          <a:p>
            <a:pPr lvl="1" eaLnBrk="1" hangingPunct="1"/>
            <a:endParaRPr lang="en-GB" altLang="en-US" smtClean="0"/>
          </a:p>
          <a:p>
            <a:pPr eaLnBrk="1" hangingPunct="1"/>
            <a:r>
              <a:rPr lang="en-GB" altLang="en-US" smtClean="0">
                <a:solidFill>
                  <a:schemeClr val="tx2"/>
                </a:solidFill>
              </a:rPr>
              <a:t>---Responding to change</a:t>
            </a:r>
            <a:r>
              <a:rPr lang="en-GB" altLang="en-US" smtClean="0"/>
              <a:t> over following a plan: </a:t>
            </a:r>
          </a:p>
          <a:p>
            <a:pPr lvl="1" eaLnBrk="1" hangingPunct="1"/>
            <a:r>
              <a:rPr lang="en-GB" altLang="en-US" smtClean="0"/>
              <a:t>welcome changing requirements, even late in development. Agile processes harness change for the customer’s competitive advantage</a:t>
            </a:r>
          </a:p>
          <a:p>
            <a:pPr eaLnBrk="1" hangingPunct="1"/>
            <a:r>
              <a:rPr lang="en-GB" altLang="en-US" smtClean="0"/>
              <a:t>We need best architectures, requirements and designs emerge from self-organising teams. Also base on the regular intervals, the team reflects on how to become more effective then tunes and adjusts its behaviour accordingly.</a:t>
            </a:r>
          </a:p>
          <a:p>
            <a:pPr eaLnBrk="1" hangingPunct="1"/>
            <a:endParaRPr lang="en-GB" altLang="en-US" smtClean="0"/>
          </a:p>
        </p:txBody>
      </p:sp>
    </p:spTree>
    <p:extLst>
      <p:ext uri="{BB962C8B-B14F-4D97-AF65-F5344CB8AC3E}">
        <p14:creationId xmlns:p14="http://schemas.microsoft.com/office/powerpoint/2010/main" val="2142164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F0C3208D-6E1C-4FDB-90C6-FB5597F8E8DF}" type="slidenum">
              <a:rPr lang="en-US" altLang="en-US" sz="1200" b="0">
                <a:solidFill>
                  <a:schemeClr val="tx1"/>
                </a:solidFill>
              </a:rPr>
              <a:pPr eaLnBrk="1" hangingPunct="1"/>
              <a:t>39</a:t>
            </a:fld>
            <a:endParaRPr lang="en-US" altLang="en-US" sz="1200" b="0">
              <a:solidFill>
                <a:schemeClr val="tx1"/>
              </a:solidFill>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168023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1049C3E7-44A9-47CF-90B9-F276DE994140}" type="slidenum">
              <a:rPr lang="en-GB" altLang="en-US">
                <a:solidFill>
                  <a:srgbClr val="000000"/>
                </a:solidFill>
                <a:latin typeface="Times New Roman" panose="02020603050405020304" pitchFamily="18" charset="0"/>
              </a:rPr>
              <a:pPr eaLnBrk="1" hangingPunct="1"/>
              <a:t>41</a:t>
            </a:fld>
            <a:endParaRPr lang="en-GB" altLang="en-US">
              <a:solidFill>
                <a:srgbClr val="000000"/>
              </a:solidFill>
              <a:latin typeface="Times New Roman" panose="02020603050405020304" pitchFamily="18" charset="0"/>
            </a:endParaRPr>
          </a:p>
        </p:txBody>
      </p:sp>
      <p:sp>
        <p:nvSpPr>
          <p:cNvPr id="1361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3972443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B2C16159-968D-46D4-882F-A19CAFD186DF}" type="slidenum">
              <a:rPr lang="en-GB" altLang="en-US">
                <a:solidFill>
                  <a:srgbClr val="000000"/>
                </a:solidFill>
                <a:latin typeface="Times New Roman" panose="02020603050405020304" pitchFamily="18" charset="0"/>
              </a:rPr>
              <a:pPr eaLnBrk="1" hangingPunct="1"/>
              <a:t>42</a:t>
            </a:fld>
            <a:endParaRPr lang="en-GB" altLang="en-US">
              <a:solidFill>
                <a:srgbClr val="000000"/>
              </a:solidFill>
              <a:latin typeface="Times New Roman" panose="02020603050405020304" pitchFamily="18" charset="0"/>
            </a:endParaRPr>
          </a:p>
        </p:txBody>
      </p:sp>
      <p:sp>
        <p:nvSpPr>
          <p:cNvPr id="1372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262306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608FA90C-57D6-4E20-BEE0-2D035B383575}" type="slidenum">
              <a:rPr lang="en-GB" altLang="en-US">
                <a:solidFill>
                  <a:srgbClr val="000000"/>
                </a:solidFill>
                <a:latin typeface="Times New Roman" panose="02020603050405020304" pitchFamily="18" charset="0"/>
              </a:rPr>
              <a:pPr eaLnBrk="1" hangingPunct="1"/>
              <a:t>43</a:t>
            </a:fld>
            <a:endParaRPr lang="en-GB" altLang="en-US">
              <a:solidFill>
                <a:srgbClr val="000000"/>
              </a:solidFill>
              <a:latin typeface="Times New Roman" panose="02020603050405020304" pitchFamily="18" charset="0"/>
            </a:endParaRPr>
          </a:p>
        </p:txBody>
      </p:sp>
      <p:sp>
        <p:nvSpPr>
          <p:cNvPr id="1382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2051482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5217A42C-4D9C-438C-B3D5-C45EE76EBF75}" type="slidenum">
              <a:rPr lang="en-GB" altLang="en-US">
                <a:solidFill>
                  <a:srgbClr val="000000"/>
                </a:solidFill>
                <a:latin typeface="Times New Roman" panose="02020603050405020304" pitchFamily="18" charset="0"/>
              </a:rPr>
              <a:pPr eaLnBrk="1" hangingPunct="1"/>
              <a:t>44</a:t>
            </a:fld>
            <a:endParaRPr lang="en-GB" altLang="en-US">
              <a:solidFill>
                <a:srgbClr val="000000"/>
              </a:solidFill>
              <a:latin typeface="Times New Roman" panose="02020603050405020304" pitchFamily="18" charset="0"/>
            </a:endParaRPr>
          </a:p>
        </p:txBody>
      </p:sp>
      <p:sp>
        <p:nvSpPr>
          <p:cNvPr id="1402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38393342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EB76C779-ECD9-464C-AFB5-BAF6C810CE84}" type="slidenum">
              <a:rPr lang="en-GB" altLang="en-US">
                <a:solidFill>
                  <a:srgbClr val="000000"/>
                </a:solidFill>
                <a:latin typeface="Times New Roman" panose="02020603050405020304" pitchFamily="18" charset="0"/>
              </a:rPr>
              <a:pPr eaLnBrk="1" hangingPunct="1"/>
              <a:t>45</a:t>
            </a:fld>
            <a:endParaRPr lang="en-GB" altLang="en-US">
              <a:solidFill>
                <a:srgbClr val="000000"/>
              </a:solidFill>
              <a:latin typeface="Times New Roman" panose="02020603050405020304" pitchFamily="18" charset="0"/>
            </a:endParaRPr>
          </a:p>
        </p:txBody>
      </p:sp>
      <p:sp>
        <p:nvSpPr>
          <p:cNvPr id="141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1886967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44442C72-5FBC-41D0-8941-68658DDFCF29}" type="slidenum">
              <a:rPr lang="en-GB" altLang="en-US">
                <a:solidFill>
                  <a:srgbClr val="000000"/>
                </a:solidFill>
                <a:latin typeface="Times New Roman" panose="02020603050405020304" pitchFamily="18" charset="0"/>
              </a:rPr>
              <a:pPr eaLnBrk="1" hangingPunct="1"/>
              <a:t>46</a:t>
            </a:fld>
            <a:endParaRPr lang="en-GB" altLang="en-US">
              <a:solidFill>
                <a:srgbClr val="000000"/>
              </a:solidFill>
              <a:latin typeface="Times New Roman" panose="02020603050405020304" pitchFamily="18" charset="0"/>
            </a:endParaRPr>
          </a:p>
        </p:txBody>
      </p:sp>
      <p:sp>
        <p:nvSpPr>
          <p:cNvPr id="1423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1992119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981F9B48-BDC9-4270-A726-F4E2365D5DD5}" type="slidenum">
              <a:rPr lang="en-GB" altLang="en-US">
                <a:solidFill>
                  <a:srgbClr val="000000"/>
                </a:solidFill>
                <a:latin typeface="Times New Roman" panose="02020603050405020304" pitchFamily="18" charset="0"/>
              </a:rPr>
              <a:pPr eaLnBrk="1" hangingPunct="1"/>
              <a:t>47</a:t>
            </a:fld>
            <a:endParaRPr lang="en-GB" altLang="en-US">
              <a:solidFill>
                <a:srgbClr val="000000"/>
              </a:solidFill>
              <a:latin typeface="Times New Roman" panose="02020603050405020304" pitchFamily="18" charset="0"/>
            </a:endParaRPr>
          </a:p>
        </p:txBody>
      </p:sp>
      <p:sp>
        <p:nvSpPr>
          <p:cNvPr id="1433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41976222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b="1" smtClean="0">
                <a:latin typeface="Arial" panose="020B0604020202020204" pitchFamily="34" charset="0"/>
              </a:rPr>
              <a:t>5 Fundamental Values </a:t>
            </a:r>
          </a:p>
          <a:p>
            <a:pPr eaLnBrk="1" hangingPunct="1">
              <a:spcBef>
                <a:spcPct val="0"/>
              </a:spcBef>
              <a:buFontTx/>
              <a:buChar char="•"/>
            </a:pPr>
            <a:r>
              <a:rPr lang="en-GB" altLang="en-US" b="1" smtClean="0">
                <a:latin typeface="Arial" panose="020B0604020202020204" pitchFamily="34" charset="0"/>
              </a:rPr>
              <a:t>Communication</a:t>
            </a:r>
          </a:p>
          <a:p>
            <a:pPr eaLnBrk="1" hangingPunct="1">
              <a:spcBef>
                <a:spcPct val="0"/>
              </a:spcBef>
              <a:buFontTx/>
              <a:buChar char="•"/>
            </a:pPr>
            <a:r>
              <a:rPr lang="en-GB" altLang="en-US" b="1" smtClean="0">
                <a:latin typeface="Arial" panose="020B0604020202020204" pitchFamily="34" charset="0"/>
              </a:rPr>
              <a:t>Feedback</a:t>
            </a:r>
          </a:p>
          <a:p>
            <a:pPr eaLnBrk="1" hangingPunct="1">
              <a:spcBef>
                <a:spcPct val="0"/>
              </a:spcBef>
              <a:buFontTx/>
              <a:buChar char="•"/>
            </a:pPr>
            <a:r>
              <a:rPr lang="en-GB" altLang="en-US" b="1" smtClean="0">
                <a:latin typeface="Arial" panose="020B0604020202020204" pitchFamily="34" charset="0"/>
              </a:rPr>
              <a:t>Simplicity</a:t>
            </a:r>
          </a:p>
          <a:p>
            <a:pPr eaLnBrk="1" hangingPunct="1">
              <a:spcBef>
                <a:spcPct val="0"/>
              </a:spcBef>
              <a:buFontTx/>
              <a:buChar char="•"/>
            </a:pPr>
            <a:r>
              <a:rPr lang="en-GB" altLang="en-US" b="1" smtClean="0">
                <a:latin typeface="Arial" panose="020B0604020202020204" pitchFamily="34" charset="0"/>
              </a:rPr>
              <a:t>Courage</a:t>
            </a:r>
          </a:p>
          <a:p>
            <a:pPr eaLnBrk="1" hangingPunct="1">
              <a:spcBef>
                <a:spcPct val="0"/>
              </a:spcBef>
              <a:buFontTx/>
              <a:buChar char="•"/>
            </a:pPr>
            <a:r>
              <a:rPr lang="en-GB" altLang="en-US" b="1" smtClean="0">
                <a:latin typeface="Arial" panose="020B0604020202020204" pitchFamily="34" charset="0"/>
              </a:rPr>
              <a:t>Quality</a:t>
            </a:r>
            <a:endParaRPr lang="en-US" altLang="en-US" smtClean="0">
              <a:latin typeface="Arial" panose="020B0604020202020204" pitchFamily="34" charset="0"/>
            </a:endParaRPr>
          </a:p>
        </p:txBody>
      </p:sp>
      <p:sp>
        <p:nvSpPr>
          <p:cNvPr id="14234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F8318DB3-25FA-4BB4-A440-06340AE2801A}" type="slidenum">
              <a:rPr lang="en-GB" altLang="en-US">
                <a:solidFill>
                  <a:srgbClr val="000000"/>
                </a:solidFill>
                <a:latin typeface="Times New Roman" panose="02020603050405020304" pitchFamily="18" charset="0"/>
              </a:rPr>
              <a:pPr eaLnBrk="1" hangingPunct="1"/>
              <a:t>49</a:t>
            </a:fld>
            <a:endParaRPr lang="en-GB" altLang="en-US">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5598851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2765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smtClean="0"/>
              <a:t>Iterative development divides the total work undertaken on the project into iterations.</a:t>
            </a:r>
          </a:p>
          <a:p>
            <a:r>
              <a:rPr lang="en-GB" altLang="en-US" smtClean="0"/>
              <a:t>Each iteration is like a mini waterfall. </a:t>
            </a:r>
          </a:p>
          <a:p>
            <a:r>
              <a:rPr lang="en-GB" altLang="en-US" smtClean="0"/>
              <a:t>Each iteration tackles a fixed portion of the system under development.</a:t>
            </a:r>
          </a:p>
          <a:p>
            <a:r>
              <a:rPr lang="en-GB" altLang="en-US" smtClean="0"/>
              <a:t>Each iteration delivers usable software that can be delivered to stakeholders.</a:t>
            </a:r>
          </a:p>
          <a:p>
            <a:r>
              <a:rPr lang="en-GB" altLang="en-US" smtClean="0"/>
              <a:t>Project planning ensures that the riskiest work is undertaken in the earlier iterations, this ensures that issues are discovered early. </a:t>
            </a:r>
            <a:endParaRPr lang="en-US" altLang="en-US" smtClean="0"/>
          </a:p>
        </p:txBody>
      </p:sp>
      <p:sp>
        <p:nvSpPr>
          <p:cNvPr id="27652" name="Header Placeholder 3"/>
          <p:cNvSpPr>
            <a:spLocks noGrp="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med" len="lg"/>
              </a14:hiddenLine>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r>
              <a:rPr lang="en-US" altLang="en-US" b="0" smtClean="0">
                <a:solidFill>
                  <a:srgbClr val="000000"/>
                </a:solidFill>
                <a:latin typeface="Arial Narrow" panose="020B0606020202030204" pitchFamily="34" charset="0"/>
              </a:rPr>
              <a:t>Speaker Support Notes</a:t>
            </a:r>
          </a:p>
          <a:p>
            <a:endParaRPr lang="en-US" altLang="en-US" b="0" smtClean="0">
              <a:solidFill>
                <a:srgbClr val="000000"/>
              </a:solidFill>
              <a:latin typeface="Arial Narrow" panose="020B0606020202030204" pitchFamily="34" charset="0"/>
            </a:endParaRPr>
          </a:p>
        </p:txBody>
      </p:sp>
      <p:sp>
        <p:nvSpPr>
          <p:cNvPr id="5" name="Slide Number Placeholder 4"/>
          <p:cNvSpPr>
            <a:spLocks noGrp="1"/>
          </p:cNvSpPr>
          <p:nvPr>
            <p:ph type="sldNum" sz="quarter" idx="5"/>
          </p:nvPr>
        </p:nvSpPr>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fld id="{08BC6FD9-1D69-4D0A-9EC5-1687C8570324}" type="slidenum">
              <a:rPr lang="en-US" altLang="en-US" b="0">
                <a:solidFill>
                  <a:srgbClr val="000000"/>
                </a:solidFill>
                <a:latin typeface="Arial Narrow" panose="020B0606020202030204" pitchFamily="34" charset="0"/>
              </a:rPr>
              <a:pPr eaLnBrk="1" hangingPunct="1"/>
              <a:t>54</a:t>
            </a:fld>
            <a:endParaRPr lang="en-US" altLang="en-US" sz="2000" b="0">
              <a:solidFill>
                <a:srgbClr val="000000"/>
              </a:solidFill>
              <a:effectLst>
                <a:outerShdw blurRad="38100" dist="38100" dir="2700000" algn="tl">
                  <a:srgbClr val="C0C0C0"/>
                </a:outerShdw>
              </a:effectLst>
              <a:latin typeface="Arial Narrow" panose="020B0606020202030204" pitchFamily="34" charset="0"/>
            </a:endParaRPr>
          </a:p>
        </p:txBody>
      </p:sp>
    </p:spTree>
    <p:extLst>
      <p:ext uri="{BB962C8B-B14F-4D97-AF65-F5344CB8AC3E}">
        <p14:creationId xmlns:p14="http://schemas.microsoft.com/office/powerpoint/2010/main" val="21814849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med" len="lg"/>
              </a14:hiddenLine>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r>
              <a:rPr lang="en-US" altLang="en-US" smtClean="0">
                <a:solidFill>
                  <a:srgbClr val="000000"/>
                </a:solidFill>
                <a:latin typeface="Arial Narrow" panose="020B0606020202030204" pitchFamily="34" charset="0"/>
              </a:rPr>
              <a:t>Speaker Support Notes</a:t>
            </a:r>
          </a:p>
          <a:p>
            <a:endParaRPr lang="en-US" altLang="en-US" sz="1200" b="0" smtClean="0">
              <a:solidFill>
                <a:srgbClr val="000000"/>
              </a:solidFill>
              <a:latin typeface="Arial Narrow" panose="020B0606020202030204" pitchFamily="34" charset="0"/>
            </a:endParaRPr>
          </a:p>
        </p:txBody>
      </p:sp>
      <p:sp>
        <p:nvSpPr>
          <p:cNvPr id="5" name="Text Box 18"/>
          <p:cNvSpPr>
            <a:spLocks noGrp="1" noChangeArrowheads="1"/>
          </p:cNvSpPr>
          <p:nvPr>
            <p:ph type="sldNum" sz="quarter" idx="5"/>
          </p:nvPr>
        </p:nvSpPr>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fld id="{4AA9B48D-2489-47EA-B566-AB23EB665641}" type="slidenum">
              <a:rPr lang="en-US" altLang="en-US" b="0">
                <a:solidFill>
                  <a:srgbClr val="000000"/>
                </a:solidFill>
                <a:latin typeface="Arial Narrow" panose="020B0606020202030204" pitchFamily="34" charset="0"/>
              </a:rPr>
              <a:pPr eaLnBrk="1" hangingPunct="1"/>
              <a:t>56</a:t>
            </a:fld>
            <a:endParaRPr lang="en-US" altLang="en-US" sz="2000" b="0">
              <a:solidFill>
                <a:srgbClr val="000000"/>
              </a:solidFill>
              <a:effectLst>
                <a:outerShdw blurRad="38100" dist="38100" dir="2700000" algn="tl">
                  <a:srgbClr val="C0C0C0"/>
                </a:outerShdw>
              </a:effectLst>
              <a:latin typeface="Arial Narrow" panose="020B0606020202030204" pitchFamily="34" charset="0"/>
            </a:endParaRPr>
          </a:p>
        </p:txBody>
      </p:sp>
      <p:sp>
        <p:nvSpPr>
          <p:cNvPr id="2042882" name="Rectangle 2"/>
          <p:cNvSpPr>
            <a:spLocks noGrp="1" noRot="1" noChangeAspect="1" noChangeArrowheads="1"/>
          </p:cNvSpPr>
          <p:nvPr>
            <p:ph type="sldImg"/>
          </p:nvPr>
        </p:nvSpPr>
        <p:spPr>
          <a:xfrm>
            <a:off x="1146175" y="687388"/>
            <a:ext cx="4565650" cy="3424237"/>
          </a:xfrm>
          <a:solidFill>
            <a:srgbClr val="FFFFFF"/>
          </a:solidFill>
          <a:ln/>
        </p:spPr>
      </p:sp>
      <p:sp>
        <p:nvSpPr>
          <p:cNvPr id="29701" name="Rectangle 3"/>
          <p:cNvSpPr>
            <a:spLocks noGrp="1" noChangeArrowheads="1"/>
          </p:cNvSpPr>
          <p:nvPr>
            <p:ph type="body" idx="1"/>
          </p:nvPr>
        </p:nvSpPr>
        <p:spPr bwMode="auto">
          <a:xfrm>
            <a:off x="385763" y="4714875"/>
            <a:ext cx="6043612" cy="3627438"/>
          </a:xfrm>
          <a:solidFill>
            <a:srgbClr val="FFFFFF"/>
          </a:solidFill>
          <a:ln>
            <a:solidFill>
              <a:srgbClr val="000000"/>
            </a:solidFill>
          </a:ln>
        </p:spPr>
        <p:txBody>
          <a:bodyPr/>
          <a:lstStyle/>
          <a:p>
            <a:pPr eaLnBrk="1" hangingPunct="1"/>
            <a:endParaRPr lang="en-US" altLang="en-US" smtClean="0"/>
          </a:p>
        </p:txBody>
      </p:sp>
    </p:spTree>
    <p:extLst>
      <p:ext uri="{BB962C8B-B14F-4D97-AF65-F5344CB8AC3E}">
        <p14:creationId xmlns:p14="http://schemas.microsoft.com/office/powerpoint/2010/main" val="1740347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med" len="lg"/>
              </a14:hiddenLine>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r>
              <a:rPr lang="en-US" altLang="en-US" smtClean="0">
                <a:solidFill>
                  <a:schemeClr val="tx1"/>
                </a:solidFill>
                <a:latin typeface="Arial Narrow" panose="020B0606020202030204" pitchFamily="34" charset="0"/>
              </a:rPr>
              <a:t>Speaker Support Notes</a:t>
            </a:r>
          </a:p>
          <a:p>
            <a:endParaRPr lang="en-US" altLang="en-US" sz="1200" b="0" smtClean="0">
              <a:solidFill>
                <a:schemeClr val="tx1"/>
              </a:solidFill>
              <a:latin typeface="Arial Narrow" panose="020B0606020202030204" pitchFamily="34" charset="0"/>
            </a:endParaRPr>
          </a:p>
        </p:txBody>
      </p:sp>
      <p:sp>
        <p:nvSpPr>
          <p:cNvPr id="5" name="Text Box 18"/>
          <p:cNvSpPr>
            <a:spLocks noGrp="1" noChangeArrowheads="1"/>
          </p:cNvSpPr>
          <p:nvPr>
            <p:ph type="sldNum" sz="quarter" idx="5"/>
          </p:nvPr>
        </p:nvSpPr>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fld id="{B6AC7094-4701-4770-A624-EFFD84C5B2AA}" type="slidenum">
              <a:rPr lang="en-US" altLang="en-US" b="0">
                <a:solidFill>
                  <a:schemeClr val="tx1"/>
                </a:solidFill>
                <a:latin typeface="Arial Narrow" panose="020B0606020202030204" pitchFamily="34" charset="0"/>
              </a:rPr>
              <a:pPr eaLnBrk="1" hangingPunct="1"/>
              <a:t>57</a:t>
            </a:fld>
            <a:endParaRPr lang="en-US" altLang="en-US" sz="2000" b="0">
              <a:solidFill>
                <a:schemeClr val="tx1"/>
              </a:solidFill>
              <a:effectLst>
                <a:outerShdw blurRad="38100" dist="38100" dir="2700000" algn="tl">
                  <a:srgbClr val="C0C0C0"/>
                </a:outerShdw>
              </a:effectLst>
              <a:latin typeface="Arial Narrow" panose="020B0606020202030204" pitchFamily="34" charset="0"/>
            </a:endParaRPr>
          </a:p>
        </p:txBody>
      </p:sp>
      <p:sp>
        <p:nvSpPr>
          <p:cNvPr id="2054146" name="Rectangle 2"/>
          <p:cNvSpPr>
            <a:spLocks noGrp="1" noRot="1" noChangeAspect="1" noChangeArrowheads="1" noTextEdit="1"/>
          </p:cNvSpPr>
          <p:nvPr>
            <p:ph type="sldImg"/>
          </p:nvPr>
        </p:nvSpPr>
        <p:spPr>
          <a:solidFill>
            <a:srgbClr val="FFFFFF"/>
          </a:solidFill>
          <a:ln/>
        </p:spPr>
      </p:sp>
      <p:sp>
        <p:nvSpPr>
          <p:cNvPr id="33797" name="Rectangle 3"/>
          <p:cNvSpPr>
            <a:spLocks noGrp="1" noChangeArrowheads="1"/>
          </p:cNvSpPr>
          <p:nvPr>
            <p:ph type="body" idx="1"/>
          </p:nvPr>
        </p:nvSpPr>
        <p:spPr bwMode="auto">
          <a:solidFill>
            <a:srgbClr val="FFFFFF"/>
          </a:solidFill>
          <a:ln>
            <a:solidFill>
              <a:srgbClr val="000000"/>
            </a:solidFill>
          </a:ln>
        </p:spPr>
        <p:txBody>
          <a:bodyPr lIns="90791" tIns="45395" rIns="90791" bIns="45395"/>
          <a:lstStyle/>
          <a:p>
            <a:pPr eaLnBrk="1" hangingPunct="1"/>
            <a:endParaRPr lang="en-US" altLang="en-US" smtClean="0"/>
          </a:p>
        </p:txBody>
      </p:sp>
    </p:spTree>
    <p:extLst>
      <p:ext uri="{BB962C8B-B14F-4D97-AF65-F5344CB8AC3E}">
        <p14:creationId xmlns:p14="http://schemas.microsoft.com/office/powerpoint/2010/main" val="10538946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383F2647-2D43-4D82-BD5A-4DA0FC71EAA1}" type="slidenum">
              <a:rPr lang="en-GB" altLang="en-US">
                <a:solidFill>
                  <a:srgbClr val="000000"/>
                </a:solidFill>
                <a:latin typeface="Times New Roman" panose="02020603050405020304" pitchFamily="18" charset="0"/>
              </a:rPr>
              <a:pPr eaLnBrk="1" hangingPunct="1"/>
              <a:t>63</a:t>
            </a:fld>
            <a:endParaRPr lang="en-GB" altLang="en-US">
              <a:solidFill>
                <a:srgbClr val="000000"/>
              </a:solidFill>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smtClean="0">
                <a:latin typeface="Arial" panose="020B0604020202020204" pitchFamily="34" charset="0"/>
              </a:rPr>
              <a:t>Classical Life Cycle model fails if requirements cannot be specified fully and clearly early on.</a:t>
            </a:r>
          </a:p>
          <a:p>
            <a:pPr eaLnBrk="1" hangingPunct="1">
              <a:spcBef>
                <a:spcPct val="0"/>
              </a:spcBef>
            </a:pPr>
            <a:endParaRPr lang="en-GB" altLang="en-US" smtClean="0">
              <a:latin typeface="Arial" panose="020B0604020202020204" pitchFamily="34" charset="0"/>
            </a:endParaRPr>
          </a:p>
          <a:p>
            <a:pPr eaLnBrk="1" hangingPunct="1">
              <a:spcBef>
                <a:spcPct val="0"/>
              </a:spcBef>
            </a:pPr>
            <a:r>
              <a:rPr lang="en-GB" altLang="en-US" smtClean="0">
                <a:latin typeface="Arial" panose="020B0604020202020204" pitchFamily="34" charset="0"/>
              </a:rPr>
              <a:t>Can a system be developed without having to specify all requirements early on? - Answer: It depends/maybe! Only if the nature of the application suits this type of model:</a:t>
            </a:r>
          </a:p>
          <a:p>
            <a:pPr eaLnBrk="1" hangingPunct="1">
              <a:spcBef>
                <a:spcPct val="0"/>
              </a:spcBef>
            </a:pPr>
            <a:endParaRPr lang="en-GB" altLang="en-US" smtClean="0">
              <a:latin typeface="Arial" panose="020B0604020202020204" pitchFamily="34" charset="0"/>
            </a:endParaRPr>
          </a:p>
        </p:txBody>
      </p:sp>
    </p:spTree>
    <p:extLst>
      <p:ext uri="{BB962C8B-B14F-4D97-AF65-F5344CB8AC3E}">
        <p14:creationId xmlns:p14="http://schemas.microsoft.com/office/powerpoint/2010/main" val="1073922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B4556797-5AE4-49E4-8210-706F9694A11F}" type="slidenum">
              <a:rPr lang="en-GB" altLang="en-US">
                <a:solidFill>
                  <a:srgbClr val="000000"/>
                </a:solidFill>
                <a:latin typeface="Times New Roman" panose="02020603050405020304" pitchFamily="18" charset="0"/>
              </a:rPr>
              <a:pPr eaLnBrk="1" hangingPunct="1"/>
              <a:t>64</a:t>
            </a:fld>
            <a:endParaRPr lang="en-GB" altLang="en-US">
              <a:solidFill>
                <a:srgbClr val="000000"/>
              </a:solidFill>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1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smtClean="0">
                <a:latin typeface="Arial" panose="020B0604020202020204" pitchFamily="34" charset="0"/>
              </a:rPr>
              <a:t>Not really a complete life cycle model - a technique for establishing user requirements</a:t>
            </a:r>
          </a:p>
          <a:p>
            <a:pPr eaLnBrk="1" hangingPunct="1">
              <a:spcBef>
                <a:spcPct val="0"/>
              </a:spcBef>
            </a:pPr>
            <a:r>
              <a:rPr lang="en-GB" altLang="en-US" smtClean="0">
                <a:latin typeface="Arial" panose="020B0604020202020204" pitchFamily="34" charset="0"/>
              </a:rPr>
              <a:t>It is not, however, the “lazy” programmer’s technique. It involves:</a:t>
            </a:r>
          </a:p>
          <a:p>
            <a:pPr lvl="1" eaLnBrk="1" hangingPunct="1">
              <a:spcBef>
                <a:spcPct val="0"/>
              </a:spcBef>
            </a:pPr>
            <a:r>
              <a:rPr lang="en-GB" altLang="en-US" smtClean="0">
                <a:latin typeface="Arial" panose="020B0604020202020204" pitchFamily="34" charset="0"/>
              </a:rPr>
              <a:t>A detailed requirements gathering exercise,</a:t>
            </a:r>
          </a:p>
          <a:p>
            <a:pPr lvl="1" eaLnBrk="1" hangingPunct="1">
              <a:spcBef>
                <a:spcPct val="0"/>
              </a:spcBef>
            </a:pPr>
            <a:r>
              <a:rPr lang="en-GB" altLang="en-US" smtClean="0">
                <a:latin typeface="Arial" panose="020B0604020202020204" pitchFamily="34" charset="0"/>
              </a:rPr>
              <a:t>the development of prototype</a:t>
            </a:r>
          </a:p>
          <a:p>
            <a:pPr lvl="1" eaLnBrk="1" hangingPunct="1">
              <a:spcBef>
                <a:spcPct val="0"/>
              </a:spcBef>
            </a:pPr>
            <a:r>
              <a:rPr lang="en-GB" altLang="en-US" smtClean="0">
                <a:latin typeface="Arial" panose="020B0604020202020204" pitchFamily="34" charset="0"/>
              </a:rPr>
              <a:t>a rigorous evaluation of the prototype with the customer (then Iteration)</a:t>
            </a:r>
          </a:p>
          <a:p>
            <a:pPr eaLnBrk="1" hangingPunct="1">
              <a:spcBef>
                <a:spcPct val="0"/>
              </a:spcBef>
            </a:pPr>
            <a:r>
              <a:rPr lang="en-GB" altLang="en-US" b="1" u="sng" smtClean="0">
                <a:latin typeface="Arial" panose="020B0604020202020204" pitchFamily="34" charset="0"/>
              </a:rPr>
              <a:t>Key points to remember for Prototyping to be a success:</a:t>
            </a:r>
          </a:p>
          <a:p>
            <a:pPr eaLnBrk="1" hangingPunct="1">
              <a:spcBef>
                <a:spcPct val="0"/>
              </a:spcBef>
            </a:pPr>
            <a:r>
              <a:rPr lang="en-GB" altLang="en-US" smtClean="0">
                <a:latin typeface="Arial" panose="020B0604020202020204" pitchFamily="34" charset="0"/>
              </a:rPr>
              <a:t>Do not proceed to the real design or coding stage until full requirements analysis.</a:t>
            </a:r>
          </a:p>
          <a:p>
            <a:pPr eaLnBrk="1" hangingPunct="1">
              <a:spcBef>
                <a:spcPct val="0"/>
              </a:spcBef>
            </a:pPr>
            <a:r>
              <a:rPr lang="en-GB" altLang="en-US" smtClean="0">
                <a:latin typeface="Arial" panose="020B0604020202020204" pitchFamily="34" charset="0"/>
              </a:rPr>
              <a:t>If the customer cannot devote sufficient time to the prototyping exercise it is pointless</a:t>
            </a:r>
          </a:p>
        </p:txBody>
      </p:sp>
    </p:spTree>
    <p:extLst>
      <p:ext uri="{BB962C8B-B14F-4D97-AF65-F5344CB8AC3E}">
        <p14:creationId xmlns:p14="http://schemas.microsoft.com/office/powerpoint/2010/main" val="3755116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rebuchet MS" panose="020B0603020202020204" pitchFamily="34" charset="0"/>
                <a:cs typeface="Arial" panose="020B0604020202020204" pitchFamily="34" charset="0"/>
              </a:defRPr>
            </a:lvl1pPr>
            <a:lvl2pPr marL="741363" indent="-284163" eaLnBrk="0" hangingPunct="0">
              <a:defRPr>
                <a:solidFill>
                  <a:schemeClr val="tx1"/>
                </a:solidFill>
                <a:latin typeface="Trebuchet MS" panose="020B0603020202020204" pitchFamily="34" charset="0"/>
                <a:cs typeface="Arial" panose="020B0604020202020204" pitchFamily="34" charset="0"/>
              </a:defRPr>
            </a:lvl2pPr>
            <a:lvl3pPr marL="1141413" indent="-227013" eaLnBrk="0" hangingPunct="0">
              <a:defRPr>
                <a:solidFill>
                  <a:schemeClr val="tx1"/>
                </a:solidFill>
                <a:latin typeface="Trebuchet MS" panose="020B0603020202020204" pitchFamily="34" charset="0"/>
                <a:cs typeface="Arial" panose="020B0604020202020204" pitchFamily="34" charset="0"/>
              </a:defRPr>
            </a:lvl3pPr>
            <a:lvl4pPr marL="1598613" indent="-227013" eaLnBrk="0" hangingPunct="0">
              <a:defRPr>
                <a:solidFill>
                  <a:schemeClr val="tx1"/>
                </a:solidFill>
                <a:latin typeface="Trebuchet MS" panose="020B0603020202020204" pitchFamily="34" charset="0"/>
                <a:cs typeface="Arial" panose="020B0604020202020204" pitchFamily="34" charset="0"/>
              </a:defRPr>
            </a:lvl4pPr>
            <a:lvl5pPr marL="2055813" indent="-227013" eaLnBrk="0" hangingPunct="0">
              <a:defRPr>
                <a:solidFill>
                  <a:schemeClr val="tx1"/>
                </a:solidFill>
                <a:latin typeface="Trebuchet MS" panose="020B0603020202020204" pitchFamily="34" charset="0"/>
                <a:cs typeface="Arial" panose="020B0604020202020204" pitchFamily="34" charset="0"/>
              </a:defRPr>
            </a:lvl5pPr>
            <a:lvl6pPr marL="25130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6pPr>
            <a:lvl7pPr marL="29702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7pPr>
            <a:lvl8pPr marL="34274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8pPr>
            <a:lvl9pPr marL="3884613" indent="-227013" eaLnBrk="0" fontAlgn="base" hangingPunct="0">
              <a:spcBef>
                <a:spcPct val="0"/>
              </a:spcBef>
              <a:spcAft>
                <a:spcPct val="0"/>
              </a:spcAft>
              <a:defRPr>
                <a:solidFill>
                  <a:schemeClr val="tx1"/>
                </a:solidFill>
                <a:latin typeface="Trebuchet MS" panose="020B0603020202020204" pitchFamily="34" charset="0"/>
                <a:cs typeface="Arial" panose="020B0604020202020204" pitchFamily="34" charset="0"/>
              </a:defRPr>
            </a:lvl9pPr>
          </a:lstStyle>
          <a:p>
            <a:pPr eaLnBrk="1" hangingPunct="1"/>
            <a:fld id="{FD1A3897-76E3-4BD7-ACBF-4469A9EFF09A}" type="slidenum">
              <a:rPr lang="en-GB" altLang="en-US">
                <a:solidFill>
                  <a:srgbClr val="000000"/>
                </a:solidFill>
                <a:latin typeface="Times New Roman" panose="02020603050405020304" pitchFamily="18" charset="0"/>
              </a:rPr>
              <a:pPr eaLnBrk="1" hangingPunct="1"/>
              <a:t>66</a:t>
            </a:fld>
            <a:endParaRPr lang="en-GB" altLang="en-US">
              <a:solidFill>
                <a:srgbClr val="000000"/>
              </a:solidFill>
              <a:latin typeface="Times New Roman" panose="02020603050405020304" pitchFamily="18" charset="0"/>
            </a:endParaRPr>
          </a:p>
        </p:txBody>
      </p:sp>
      <p:sp>
        <p:nvSpPr>
          <p:cNvPr id="1331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dirty="0" smtClean="0">
                <a:latin typeface="Arial" panose="020B0604020202020204" pitchFamily="34" charset="0"/>
              </a:rPr>
              <a:t>! </a:t>
            </a:r>
          </a:p>
          <a:p>
            <a:pPr eaLnBrk="1" hangingPunct="1">
              <a:spcBef>
                <a:spcPct val="0"/>
              </a:spcBef>
            </a:pPr>
            <a:r>
              <a:rPr lang="en-GB" altLang="en-US" dirty="0" smtClean="0">
                <a:latin typeface="Arial" panose="020B0604020202020204" pitchFamily="34" charset="0"/>
              </a:rPr>
              <a:t>Customer might think they are seeing a “working” system. It is not and must be “thrown away”. They must appreciate that.</a:t>
            </a:r>
          </a:p>
          <a:p>
            <a:pPr eaLnBrk="1" hangingPunct="1">
              <a:spcBef>
                <a:spcPct val="0"/>
              </a:spcBef>
            </a:pPr>
            <a:r>
              <a:rPr lang="en-GB" altLang="en-US" dirty="0" smtClean="0">
                <a:latin typeface="Arial" panose="020B0604020202020204" pitchFamily="34" charset="0"/>
              </a:rPr>
              <a:t>Developer must not make implementation compromises based on the prototype.</a:t>
            </a:r>
          </a:p>
          <a:p>
            <a:pPr eaLnBrk="1" hangingPunct="1">
              <a:spcBef>
                <a:spcPct val="0"/>
              </a:spcBef>
            </a:pPr>
            <a:endParaRPr lang="en-GB" altLang="en-US" dirty="0" smtClean="0">
              <a:latin typeface="Arial" panose="020B0604020202020204" pitchFamily="34" charset="0"/>
            </a:endParaRPr>
          </a:p>
          <a:p>
            <a:pPr eaLnBrk="1" hangingPunct="1">
              <a:spcBef>
                <a:spcPct val="0"/>
              </a:spcBef>
            </a:pPr>
            <a:r>
              <a:rPr lang="en-GB" altLang="en-US" dirty="0" smtClean="0">
                <a:latin typeface="Arial" panose="020B0604020202020204" pitchFamily="34" charset="0"/>
              </a:rPr>
              <a:t>What is a suitable type of application for Prototyping?</a:t>
            </a:r>
          </a:p>
          <a:p>
            <a:pPr eaLnBrk="1" hangingPunct="1">
              <a:spcBef>
                <a:spcPct val="0"/>
              </a:spcBef>
            </a:pPr>
            <a:endParaRPr lang="en-GB" altLang="en-US" dirty="0" smtClean="0">
              <a:latin typeface="Arial" panose="020B0604020202020204" pitchFamily="34" charset="0"/>
            </a:endParaRPr>
          </a:p>
          <a:p>
            <a:pPr eaLnBrk="1" hangingPunct="1">
              <a:spcBef>
                <a:spcPct val="0"/>
              </a:spcBef>
            </a:pPr>
            <a:endParaRPr lang="en-GB" altLang="en-US" dirty="0" smtClean="0">
              <a:latin typeface="Arial" panose="020B0604020202020204" pitchFamily="34" charset="0"/>
            </a:endParaRPr>
          </a:p>
        </p:txBody>
      </p:sp>
    </p:spTree>
    <p:extLst>
      <p:ext uri="{BB962C8B-B14F-4D97-AF65-F5344CB8AC3E}">
        <p14:creationId xmlns:p14="http://schemas.microsoft.com/office/powerpoint/2010/main" val="644488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fld id="{04F93D2B-6D2A-48EC-A9E0-34BF773A5D5A}" type="slidenum">
              <a:rPr lang="en-US" altLang="en-US" sz="1200" b="0">
                <a:solidFill>
                  <a:schemeClr val="tx1"/>
                </a:solidFill>
              </a:rPr>
              <a:pPr eaLnBrk="1" hangingPunct="1"/>
              <a:t>68</a:t>
            </a:fld>
            <a:endParaRPr lang="en-US" altLang="en-US" sz="1200" b="0">
              <a:solidFill>
                <a:schemeClr val="tx1"/>
              </a:solidFill>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085479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infoadmin/comms/Shared%20Images/College%20Logos/FVC%20Logo.jpg" TargetMode="Externa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infoadmin/comms/Shared%20Images/College%20Logos/FVC%20Logo.jpg" TargetMode="Externa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infoadmin/comms/Shared%20Images/College%20Logos/FVC%20Logo.jpg" TargetMode="Externa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p:cNvSpPr>
            <a:spLocks noChangeArrowheads="1"/>
          </p:cNvSpPr>
          <p:nvPr/>
        </p:nvSpPr>
        <p:spPr bwMode="blackWhite">
          <a:xfrm>
            <a:off x="0" y="0"/>
            <a:ext cx="9144000" cy="1690688"/>
          </a:xfrm>
          <a:prstGeom prst="rect">
            <a:avLst/>
          </a:prstGeom>
          <a:solidFill>
            <a:schemeClr val="accent1"/>
          </a:solidFill>
          <a:ln w="9525">
            <a:solidFill>
              <a:schemeClr val="accent1"/>
            </a:solidFill>
            <a:miter lim="800000"/>
            <a:headEnd/>
            <a:tailEnd/>
          </a:ln>
          <a:effectLst/>
        </p:spPr>
        <p:txBody>
          <a:bodyPr wrap="none" anchor="ctr"/>
          <a:lstStyle/>
          <a:p>
            <a:pPr algn="ctr">
              <a:defRPr/>
            </a:pPr>
            <a:endParaRPr lang="en-US" b="1">
              <a:solidFill>
                <a:srgbClr val="000000"/>
              </a:solidFill>
              <a:latin typeface="Arial" panose="020B0604020202020204" pitchFamily="34" charset="0"/>
            </a:endParaRPr>
          </a:p>
        </p:txBody>
      </p:sp>
      <p:pic>
        <p:nvPicPr>
          <p:cNvPr id="6" name="Picture 11" descr="ibm_white_logo_300dpi"/>
          <p:cNvPicPr>
            <a:picLocks noChangeAspect="1" noChangeArrowheads="1"/>
          </p:cNvPicPr>
          <p:nvPr/>
        </p:nvPicPr>
        <p:blipFill>
          <a:blip r:embed="rId2">
            <a:clrChange>
              <a:clrFrom>
                <a:srgbClr val="7889FB"/>
              </a:clrFrom>
              <a:clrTo>
                <a:srgbClr val="7889FB">
                  <a:alpha val="0"/>
                </a:srgbClr>
              </a:clrTo>
            </a:clrChange>
            <a:extLst>
              <a:ext uri="{28A0092B-C50C-407E-A947-70E740481C1C}">
                <a14:useLocalDpi xmlns:a14="http://schemas.microsoft.com/office/drawing/2010/main" val="0"/>
              </a:ext>
            </a:extLst>
          </a:blip>
          <a:srcRect r="6470"/>
          <a:stretch>
            <a:fillRect/>
          </a:stretch>
        </p:blipFill>
        <p:spPr bwMode="invGray">
          <a:xfrm>
            <a:off x="7521575" y="687388"/>
            <a:ext cx="1003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black">
          <a:xfrm>
            <a:off x="2035175" y="1287463"/>
            <a:ext cx="4103688" cy="306387"/>
          </a:xfrm>
          <a:prstGeom prst="rect">
            <a:avLst/>
          </a:prstGeom>
          <a:noFill/>
          <a:ln w="9525" algn="ctr">
            <a:noFill/>
            <a:miter lim="800000"/>
            <a:headEnd/>
            <a:tailEnd/>
          </a:ln>
          <a:effectLst/>
        </p:spPr>
        <p:txBody>
          <a:bodyPr lIns="18288" tIns="18288" rIns="18288" bIns="18288" anchor="ctr"/>
          <a:lstStyle/>
          <a:p>
            <a:pPr marL="342900" indent="-342900">
              <a:lnSpc>
                <a:spcPct val="98000"/>
              </a:lnSpc>
              <a:spcBef>
                <a:spcPct val="20000"/>
              </a:spcBef>
              <a:defRPr/>
            </a:pPr>
            <a:r>
              <a:rPr lang="en-US" sz="1700">
                <a:solidFill>
                  <a:srgbClr val="FFFFFF"/>
                </a:solidFill>
                <a:latin typeface="Arial" panose="020B0604020202020204" pitchFamily="34" charset="0"/>
              </a:rPr>
              <a:t>IBM Software Group</a:t>
            </a:r>
          </a:p>
        </p:txBody>
      </p:sp>
      <p:sp>
        <p:nvSpPr>
          <p:cNvPr id="8" name="Line 7"/>
          <p:cNvSpPr>
            <a:spLocks noChangeShapeType="1"/>
          </p:cNvSpPr>
          <p:nvPr/>
        </p:nvSpPr>
        <p:spPr bwMode="black">
          <a:xfrm flipV="1">
            <a:off x="1890713" y="1362075"/>
            <a:ext cx="0" cy="331788"/>
          </a:xfrm>
          <a:prstGeom prst="line">
            <a:avLst/>
          </a:prstGeom>
          <a:noFill/>
          <a:ln w="12700">
            <a:solidFill>
              <a:schemeClr val="tx1"/>
            </a:solidFill>
            <a:round/>
            <a:headEnd/>
            <a:tailEnd/>
          </a:ln>
          <a:effectLst/>
        </p:spPr>
        <p:txBody>
          <a:bodyPr/>
          <a:lstStyle/>
          <a:p>
            <a:pPr algn="ctr">
              <a:defRPr/>
            </a:pPr>
            <a:endParaRPr lang="en-US" b="1">
              <a:solidFill>
                <a:srgbClr val="000000"/>
              </a:solidFill>
              <a:latin typeface="Arial" panose="020B0604020202020204" pitchFamily="34" charset="0"/>
            </a:endParaRPr>
          </a:p>
        </p:txBody>
      </p:sp>
      <p:sp>
        <p:nvSpPr>
          <p:cNvPr id="9" name="Rectangle 9"/>
          <p:cNvSpPr>
            <a:spLocks noChangeArrowheads="1"/>
          </p:cNvSpPr>
          <p:nvPr/>
        </p:nvSpPr>
        <p:spPr bwMode="auto">
          <a:xfrm>
            <a:off x="-714375" y="-1855788"/>
            <a:ext cx="184150" cy="366713"/>
          </a:xfrm>
          <a:prstGeom prst="rect">
            <a:avLst/>
          </a:prstGeom>
          <a:noFill/>
          <a:ln w="9525">
            <a:noFill/>
            <a:miter lim="800000"/>
            <a:headEnd/>
            <a:tailEnd/>
          </a:ln>
          <a:effectLst/>
        </p:spPr>
        <p:txBody>
          <a:bodyPr wrap="none">
            <a:spAutoFit/>
          </a:bodyPr>
          <a:lstStyle/>
          <a:p>
            <a:pPr>
              <a:defRPr/>
            </a:pPr>
            <a:endParaRPr lang="en-US">
              <a:solidFill>
                <a:srgbClr val="FFFFFF"/>
              </a:solidFill>
              <a:latin typeface="Arial" panose="020B0604020202020204" pitchFamily="34" charset="0"/>
            </a:endParaRPr>
          </a:p>
        </p:txBody>
      </p:sp>
      <p:pic>
        <p:nvPicPr>
          <p:cNvPr id="1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789488"/>
            <a:ext cx="91424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2" descr="rational_logo_wh_mat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Gray">
          <a:xfrm>
            <a:off x="1890713" y="4176713"/>
            <a:ext cx="165417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3"/>
          <p:cNvSpPr>
            <a:spLocks noChangeArrowheads="1"/>
          </p:cNvSpPr>
          <p:nvPr/>
        </p:nvSpPr>
        <p:spPr bwMode="black">
          <a:xfrm>
            <a:off x="8453438" y="969963"/>
            <a:ext cx="230187" cy="276225"/>
          </a:xfrm>
          <a:prstGeom prst="rect">
            <a:avLst/>
          </a:prstGeom>
          <a:noFill/>
          <a:ln w="9525">
            <a:noFill/>
            <a:miter lim="800000"/>
            <a:headEnd/>
            <a:tailEnd/>
          </a:ln>
          <a:effectLst/>
        </p:spPr>
        <p:txBody>
          <a:bodyPr>
            <a:spAutoFit/>
          </a:bodyPr>
          <a:lstStyle/>
          <a:p>
            <a:pPr algn="r" eaLnBrk="0" hangingPunct="0">
              <a:defRPr/>
            </a:pPr>
            <a:r>
              <a:rPr lang="en-US" altLang="en-US" sz="600">
                <a:solidFill>
                  <a:srgbClr val="FFFFFF"/>
                </a:solidFill>
                <a:latin typeface="Arial" panose="020B0604020202020204" pitchFamily="34" charset="0"/>
              </a:rPr>
              <a:t>®</a:t>
            </a:r>
          </a:p>
          <a:p>
            <a:pPr algn="r" eaLnBrk="0" hangingPunct="0">
              <a:defRPr/>
            </a:pPr>
            <a:endParaRPr lang="en-US" altLang="en-US" sz="600">
              <a:solidFill>
                <a:srgbClr val="FFFFFF"/>
              </a:solidFill>
              <a:latin typeface="Arial" panose="020B0604020202020204" pitchFamily="34" charset="0"/>
            </a:endParaRPr>
          </a:p>
        </p:txBody>
      </p:sp>
      <p:sp>
        <p:nvSpPr>
          <p:cNvPr id="1377282" name="Rectangle 2"/>
          <p:cNvSpPr>
            <a:spLocks noGrp="1" noChangeArrowheads="1"/>
          </p:cNvSpPr>
          <p:nvPr>
            <p:ph type="subTitle" sz="quarter" idx="1" hasCustomPrompt="1"/>
          </p:nvPr>
        </p:nvSpPr>
        <p:spPr bwMode="hidden">
          <a:xfrm>
            <a:off x="598488" y="6148388"/>
            <a:ext cx="809625" cy="77787"/>
          </a:xfrm>
        </p:spPr>
        <p:txBody>
          <a:bodyPr/>
          <a:lstStyle>
            <a:lvl1pPr marL="0" indent="0">
              <a:buFont typeface="Wingdings" pitchFamily="2" charset="2"/>
              <a:buNone/>
              <a:defRPr sz="800">
                <a:solidFill>
                  <a:schemeClr val="accent2"/>
                </a:solidFill>
              </a:defRPr>
            </a:lvl1pPr>
          </a:lstStyle>
          <a:p>
            <a:r>
              <a:rPr lang="en-US" dirty="0"/>
              <a:t>Click to </a:t>
            </a:r>
            <a:r>
              <a:rPr lang="en-US" dirty="0" err="1" smtClean="0"/>
              <a:t>eit</a:t>
            </a:r>
            <a:r>
              <a:rPr lang="en-US" dirty="0" smtClean="0"/>
              <a:t> </a:t>
            </a:r>
            <a:r>
              <a:rPr lang="en-US" dirty="0"/>
              <a:t>Master </a:t>
            </a:r>
            <a:r>
              <a:rPr lang="en-US" dirty="0" err="1" smtClean="0"/>
              <a:t>sutitle</a:t>
            </a:r>
            <a:r>
              <a:rPr lang="en-US" dirty="0" smtClean="0"/>
              <a:t> </a:t>
            </a:r>
            <a:r>
              <a:rPr lang="en-US" dirty="0"/>
              <a:t>style</a:t>
            </a:r>
          </a:p>
        </p:txBody>
      </p:sp>
      <p:sp>
        <p:nvSpPr>
          <p:cNvPr id="1377288" name="Rectangle 8"/>
          <p:cNvSpPr>
            <a:spLocks noGrp="1" noChangeArrowheads="1"/>
          </p:cNvSpPr>
          <p:nvPr>
            <p:ph type="ctrTitle"/>
          </p:nvPr>
        </p:nvSpPr>
        <p:spPr>
          <a:xfrm>
            <a:off x="390525" y="2493963"/>
            <a:ext cx="7954963" cy="1470025"/>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798005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57603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78786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089025" y="1636713"/>
            <a:ext cx="3597275"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636713"/>
            <a:ext cx="3598863"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940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5267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851406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6051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0086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6012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23935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7688" y="622300"/>
            <a:ext cx="2246312" cy="49164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3988" y="622300"/>
            <a:ext cx="6591300" cy="49164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54545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53988" y="622300"/>
            <a:ext cx="8990012" cy="498475"/>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089025" y="1636713"/>
            <a:ext cx="3597275" cy="3902075"/>
          </a:xfrm>
        </p:spPr>
        <p:txBody>
          <a:bodyPr/>
          <a:lstStyle/>
          <a:p>
            <a:pPr lvl="0"/>
            <a:endParaRPr lang="en-US" noProof="0" smtClean="0"/>
          </a:p>
        </p:txBody>
      </p:sp>
      <p:sp>
        <p:nvSpPr>
          <p:cNvPr id="4" name="Text Placeholder 3"/>
          <p:cNvSpPr>
            <a:spLocks noGrp="1"/>
          </p:cNvSpPr>
          <p:nvPr>
            <p:ph type="body" sz="half" idx="2"/>
          </p:nvPr>
        </p:nvSpPr>
        <p:spPr>
          <a:xfrm>
            <a:off x="4838700" y="1636713"/>
            <a:ext cx="3598863" cy="3902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000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AndTx" preserve="1">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53988" y="622300"/>
            <a:ext cx="8990012" cy="498475"/>
          </a:xfrm>
        </p:spPr>
        <p:txBody>
          <a:bodyPr/>
          <a:lstStyle/>
          <a:p>
            <a:r>
              <a:rPr lang="en-US" smtClean="0"/>
              <a:t>Click to edit Master title style</a:t>
            </a:r>
            <a:endParaRPr lang="en-US"/>
          </a:p>
        </p:txBody>
      </p:sp>
      <p:sp>
        <p:nvSpPr>
          <p:cNvPr id="3" name="Chart Placeholder 2"/>
          <p:cNvSpPr>
            <a:spLocks noGrp="1"/>
          </p:cNvSpPr>
          <p:nvPr>
            <p:ph type="chart" sz="half" idx="1"/>
          </p:nvPr>
        </p:nvSpPr>
        <p:spPr>
          <a:xfrm>
            <a:off x="1089025" y="1636713"/>
            <a:ext cx="3597275" cy="3902075"/>
          </a:xfrm>
        </p:spPr>
        <p:txBody>
          <a:bodyPr/>
          <a:lstStyle/>
          <a:p>
            <a:pPr lvl="0"/>
            <a:endParaRPr lang="en-US" noProof="0" smtClean="0"/>
          </a:p>
        </p:txBody>
      </p:sp>
      <p:sp>
        <p:nvSpPr>
          <p:cNvPr id="4" name="Text Placeholder 3"/>
          <p:cNvSpPr>
            <a:spLocks noGrp="1"/>
          </p:cNvSpPr>
          <p:nvPr>
            <p:ph type="body" sz="half" idx="2"/>
          </p:nvPr>
        </p:nvSpPr>
        <p:spPr>
          <a:xfrm>
            <a:off x="4838700" y="1636713"/>
            <a:ext cx="3598863" cy="3902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25335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3988" y="622300"/>
            <a:ext cx="8990012" cy="49847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1089025" y="1636713"/>
            <a:ext cx="7348538" cy="3902075"/>
          </a:xfrm>
        </p:spPr>
        <p:txBody>
          <a:bodyPr/>
          <a:lstStyle/>
          <a:p>
            <a:pPr lvl="0"/>
            <a:endParaRPr lang="en-US" noProof="0" smtClean="0"/>
          </a:p>
        </p:txBody>
      </p:sp>
    </p:spTree>
    <p:extLst>
      <p:ext uri="{BB962C8B-B14F-4D97-AF65-F5344CB8AC3E}">
        <p14:creationId xmlns:p14="http://schemas.microsoft.com/office/powerpoint/2010/main" val="1886770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blackWhite">
          <a:xfrm>
            <a:off x="0" y="4978400"/>
            <a:ext cx="9144000" cy="1935163"/>
          </a:xfrm>
          <a:prstGeom prst="rect">
            <a:avLst/>
          </a:prstGeom>
          <a:solidFill>
            <a:schemeClr val="accent1"/>
          </a:solidFill>
          <a:ln w="9525">
            <a:noFill/>
            <a:miter lim="800000"/>
            <a:headEnd/>
            <a:tailEnd/>
          </a:ln>
          <a:effectLst/>
        </p:spPr>
        <p:txBody>
          <a:bodyPr wrap="none" anchor="ctr"/>
          <a:lstStyle/>
          <a:p>
            <a:pPr algn="ctr">
              <a:defRPr/>
            </a:pPr>
            <a:endParaRPr lang="en-US" b="1">
              <a:solidFill>
                <a:srgbClr val="000000"/>
              </a:solidFill>
              <a:latin typeface="Arial" panose="020B0604020202020204" pitchFamily="34" charset="0"/>
            </a:endParaRPr>
          </a:p>
        </p:txBody>
      </p:sp>
      <p:sp>
        <p:nvSpPr>
          <p:cNvPr id="5" name="Rectangle 4"/>
          <p:cNvSpPr>
            <a:spLocks noChangeArrowheads="1"/>
          </p:cNvSpPr>
          <p:nvPr/>
        </p:nvSpPr>
        <p:spPr bwMode="blackWhite">
          <a:xfrm>
            <a:off x="0" y="0"/>
            <a:ext cx="9144000" cy="1690688"/>
          </a:xfrm>
          <a:prstGeom prst="rect">
            <a:avLst/>
          </a:prstGeom>
          <a:solidFill>
            <a:schemeClr val="accent1"/>
          </a:solidFill>
          <a:ln w="9525">
            <a:solidFill>
              <a:schemeClr val="accent1"/>
            </a:solidFill>
            <a:miter lim="800000"/>
            <a:headEnd/>
            <a:tailEnd/>
          </a:ln>
          <a:effectLst/>
        </p:spPr>
        <p:txBody>
          <a:bodyPr wrap="none" anchor="ctr"/>
          <a:lstStyle/>
          <a:p>
            <a:pPr algn="ctr">
              <a:defRPr/>
            </a:pPr>
            <a:endParaRPr lang="en-US" b="1">
              <a:solidFill>
                <a:srgbClr val="000000"/>
              </a:solidFill>
              <a:latin typeface="Arial" panose="020B0604020202020204" pitchFamily="34" charset="0"/>
            </a:endParaRPr>
          </a:p>
        </p:txBody>
      </p:sp>
      <p:pic>
        <p:nvPicPr>
          <p:cNvPr id="6" name="Picture 11" descr="ibm_white_logo_300dpi"/>
          <p:cNvPicPr>
            <a:picLocks noChangeAspect="1" noChangeArrowheads="1"/>
          </p:cNvPicPr>
          <p:nvPr/>
        </p:nvPicPr>
        <p:blipFill>
          <a:blip r:embed="rId2">
            <a:clrChange>
              <a:clrFrom>
                <a:srgbClr val="7889FB"/>
              </a:clrFrom>
              <a:clrTo>
                <a:srgbClr val="7889FB">
                  <a:alpha val="0"/>
                </a:srgbClr>
              </a:clrTo>
            </a:clrChange>
            <a:extLst>
              <a:ext uri="{28A0092B-C50C-407E-A947-70E740481C1C}">
                <a14:useLocalDpi xmlns:a14="http://schemas.microsoft.com/office/drawing/2010/main" val="0"/>
              </a:ext>
            </a:extLst>
          </a:blip>
          <a:srcRect r="6470"/>
          <a:stretch>
            <a:fillRect/>
          </a:stretch>
        </p:blipFill>
        <p:spPr bwMode="invGray">
          <a:xfrm>
            <a:off x="7521575" y="687388"/>
            <a:ext cx="1003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black">
          <a:xfrm>
            <a:off x="2035175" y="1287463"/>
            <a:ext cx="4103688" cy="306387"/>
          </a:xfrm>
          <a:prstGeom prst="rect">
            <a:avLst/>
          </a:prstGeom>
          <a:noFill/>
          <a:ln w="9525" algn="ctr">
            <a:noFill/>
            <a:miter lim="800000"/>
            <a:headEnd/>
            <a:tailEnd/>
          </a:ln>
          <a:effectLst/>
        </p:spPr>
        <p:txBody>
          <a:bodyPr lIns="18288" tIns="18288" rIns="18288" bIns="18288" anchor="ctr"/>
          <a:lstStyle/>
          <a:p>
            <a:pPr marL="342900" indent="-342900">
              <a:lnSpc>
                <a:spcPct val="98000"/>
              </a:lnSpc>
              <a:spcBef>
                <a:spcPct val="20000"/>
              </a:spcBef>
              <a:defRPr/>
            </a:pPr>
            <a:r>
              <a:rPr lang="en-US" sz="1700">
                <a:solidFill>
                  <a:srgbClr val="FFFFFF"/>
                </a:solidFill>
                <a:latin typeface="Arial" panose="020B0604020202020204" pitchFamily="34" charset="0"/>
              </a:rPr>
              <a:t>IBM Software Group</a:t>
            </a:r>
          </a:p>
        </p:txBody>
      </p:sp>
      <p:sp>
        <p:nvSpPr>
          <p:cNvPr id="8" name="Line 7"/>
          <p:cNvSpPr>
            <a:spLocks noChangeShapeType="1"/>
          </p:cNvSpPr>
          <p:nvPr/>
        </p:nvSpPr>
        <p:spPr bwMode="black">
          <a:xfrm flipV="1">
            <a:off x="1890713" y="1362075"/>
            <a:ext cx="0" cy="331788"/>
          </a:xfrm>
          <a:prstGeom prst="line">
            <a:avLst/>
          </a:prstGeom>
          <a:noFill/>
          <a:ln w="12700">
            <a:solidFill>
              <a:schemeClr val="tx1"/>
            </a:solidFill>
            <a:round/>
            <a:headEnd/>
            <a:tailEnd/>
          </a:ln>
          <a:effectLst/>
        </p:spPr>
        <p:txBody>
          <a:bodyPr/>
          <a:lstStyle/>
          <a:p>
            <a:pPr algn="ctr">
              <a:defRPr/>
            </a:pPr>
            <a:endParaRPr lang="en-US" b="1">
              <a:solidFill>
                <a:srgbClr val="000000"/>
              </a:solidFill>
              <a:latin typeface="Arial" panose="020B0604020202020204" pitchFamily="34" charset="0"/>
            </a:endParaRPr>
          </a:p>
        </p:txBody>
      </p:sp>
      <p:sp>
        <p:nvSpPr>
          <p:cNvPr id="9" name="Rectangle 9"/>
          <p:cNvSpPr>
            <a:spLocks noChangeArrowheads="1"/>
          </p:cNvSpPr>
          <p:nvPr/>
        </p:nvSpPr>
        <p:spPr bwMode="auto">
          <a:xfrm>
            <a:off x="-714375" y="-1855788"/>
            <a:ext cx="184150" cy="366713"/>
          </a:xfrm>
          <a:prstGeom prst="rect">
            <a:avLst/>
          </a:prstGeom>
          <a:noFill/>
          <a:ln w="9525">
            <a:noFill/>
            <a:miter lim="800000"/>
            <a:headEnd/>
            <a:tailEnd/>
          </a:ln>
          <a:effectLst/>
        </p:spPr>
        <p:txBody>
          <a:bodyPr wrap="none">
            <a:spAutoFit/>
          </a:bodyPr>
          <a:lstStyle/>
          <a:p>
            <a:pPr>
              <a:defRPr/>
            </a:pPr>
            <a:endParaRPr lang="en-US">
              <a:solidFill>
                <a:srgbClr val="FFFFFF"/>
              </a:solidFill>
              <a:latin typeface="Arial" panose="020B0604020202020204" pitchFamily="34" charset="0"/>
            </a:endParaRPr>
          </a:p>
        </p:txBody>
      </p:sp>
      <p:pic>
        <p:nvPicPr>
          <p:cNvPr id="1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789488"/>
            <a:ext cx="91424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e_on_dema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6329363" y="5238750"/>
            <a:ext cx="2578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2" descr="rational_logo_wh_matt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blackGray">
          <a:xfrm>
            <a:off x="1890713" y="4176713"/>
            <a:ext cx="165417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3"/>
          <p:cNvSpPr>
            <a:spLocks noChangeArrowheads="1"/>
          </p:cNvSpPr>
          <p:nvPr/>
        </p:nvSpPr>
        <p:spPr bwMode="black">
          <a:xfrm>
            <a:off x="8453438" y="969963"/>
            <a:ext cx="230187" cy="276225"/>
          </a:xfrm>
          <a:prstGeom prst="rect">
            <a:avLst/>
          </a:prstGeom>
          <a:noFill/>
          <a:ln w="9525">
            <a:noFill/>
            <a:miter lim="800000"/>
            <a:headEnd/>
            <a:tailEnd/>
          </a:ln>
          <a:effectLst/>
        </p:spPr>
        <p:txBody>
          <a:bodyPr>
            <a:spAutoFit/>
          </a:bodyPr>
          <a:lstStyle/>
          <a:p>
            <a:pPr algn="r" eaLnBrk="0" hangingPunct="0">
              <a:defRPr/>
            </a:pPr>
            <a:r>
              <a:rPr lang="en-US" altLang="en-US" sz="600">
                <a:solidFill>
                  <a:srgbClr val="FFFFFF"/>
                </a:solidFill>
                <a:latin typeface="Arial" panose="020B0604020202020204" pitchFamily="34" charset="0"/>
              </a:rPr>
              <a:t>®</a:t>
            </a:r>
          </a:p>
          <a:p>
            <a:pPr algn="r" eaLnBrk="0" hangingPunct="0">
              <a:defRPr/>
            </a:pPr>
            <a:endParaRPr lang="en-US" altLang="en-US" sz="600">
              <a:solidFill>
                <a:srgbClr val="FFFFFF"/>
              </a:solidFill>
              <a:latin typeface="Arial" panose="020B0604020202020204" pitchFamily="34" charset="0"/>
            </a:endParaRPr>
          </a:p>
        </p:txBody>
      </p:sp>
      <p:sp>
        <p:nvSpPr>
          <p:cNvPr id="1377282" name="Rectangle 2"/>
          <p:cNvSpPr>
            <a:spLocks noGrp="1" noChangeArrowheads="1"/>
          </p:cNvSpPr>
          <p:nvPr>
            <p:ph type="subTitle" sz="quarter" idx="1"/>
          </p:nvPr>
        </p:nvSpPr>
        <p:spPr bwMode="hidden">
          <a:xfrm>
            <a:off x="598488" y="6148388"/>
            <a:ext cx="809625" cy="77787"/>
          </a:xfrm>
        </p:spPr>
        <p:txBody>
          <a:bodyPr/>
          <a:lstStyle>
            <a:lvl1pPr marL="0" indent="0">
              <a:buFont typeface="Wingdings" pitchFamily="2" charset="2"/>
              <a:buNone/>
              <a:defRPr sz="800">
                <a:solidFill>
                  <a:schemeClr val="accent2"/>
                </a:solidFill>
              </a:defRPr>
            </a:lvl1pPr>
          </a:lstStyle>
          <a:p>
            <a:r>
              <a:rPr lang="en-US"/>
              <a:t>Click to edit Master subtitle style</a:t>
            </a:r>
          </a:p>
        </p:txBody>
      </p:sp>
      <p:sp>
        <p:nvSpPr>
          <p:cNvPr id="1377288" name="Rectangle 8"/>
          <p:cNvSpPr>
            <a:spLocks noGrp="1" noChangeArrowheads="1"/>
          </p:cNvSpPr>
          <p:nvPr>
            <p:ph type="ctrTitle"/>
          </p:nvPr>
        </p:nvSpPr>
        <p:spPr>
          <a:xfrm>
            <a:off x="390525" y="2493963"/>
            <a:ext cx="7954963" cy="1470025"/>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3959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328522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95162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089025" y="1636713"/>
            <a:ext cx="3597275"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636713"/>
            <a:ext cx="3598863"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42619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253101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126464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690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555207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61293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183341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7688" y="622300"/>
            <a:ext cx="2246312" cy="49164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3988" y="622300"/>
            <a:ext cx="6591300" cy="49164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323116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53988" y="622300"/>
            <a:ext cx="8990012" cy="498475"/>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089025" y="1636713"/>
            <a:ext cx="3597275" cy="3902075"/>
          </a:xfrm>
        </p:spPr>
        <p:txBody>
          <a:bodyPr/>
          <a:lstStyle/>
          <a:p>
            <a:pPr lvl="0"/>
            <a:endParaRPr lang="en-US" noProof="0" smtClean="0"/>
          </a:p>
        </p:txBody>
      </p:sp>
      <p:sp>
        <p:nvSpPr>
          <p:cNvPr id="4" name="Text Placeholder 3"/>
          <p:cNvSpPr>
            <a:spLocks noGrp="1"/>
          </p:cNvSpPr>
          <p:nvPr>
            <p:ph type="body" sz="half" idx="2"/>
          </p:nvPr>
        </p:nvSpPr>
        <p:spPr>
          <a:xfrm>
            <a:off x="4838700" y="1636713"/>
            <a:ext cx="3598863" cy="3902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171972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chartAndTx" preserve="1">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53988" y="622300"/>
            <a:ext cx="8990012" cy="498475"/>
          </a:xfrm>
        </p:spPr>
        <p:txBody>
          <a:bodyPr/>
          <a:lstStyle/>
          <a:p>
            <a:r>
              <a:rPr lang="en-US" smtClean="0"/>
              <a:t>Click to edit Master title style</a:t>
            </a:r>
            <a:endParaRPr lang="en-US"/>
          </a:p>
        </p:txBody>
      </p:sp>
      <p:sp>
        <p:nvSpPr>
          <p:cNvPr id="3" name="Chart Placeholder 2"/>
          <p:cNvSpPr>
            <a:spLocks noGrp="1"/>
          </p:cNvSpPr>
          <p:nvPr>
            <p:ph type="chart" sz="half" idx="1"/>
          </p:nvPr>
        </p:nvSpPr>
        <p:spPr>
          <a:xfrm>
            <a:off x="1089025" y="1636713"/>
            <a:ext cx="3597275" cy="3902075"/>
          </a:xfrm>
        </p:spPr>
        <p:txBody>
          <a:bodyPr/>
          <a:lstStyle/>
          <a:p>
            <a:pPr lvl="0"/>
            <a:endParaRPr lang="en-US" noProof="0" smtClean="0"/>
          </a:p>
        </p:txBody>
      </p:sp>
      <p:sp>
        <p:nvSpPr>
          <p:cNvPr id="4" name="Text Placeholder 3"/>
          <p:cNvSpPr>
            <a:spLocks noGrp="1"/>
          </p:cNvSpPr>
          <p:nvPr>
            <p:ph type="body" sz="half" idx="2"/>
          </p:nvPr>
        </p:nvSpPr>
        <p:spPr>
          <a:xfrm>
            <a:off x="4838700" y="1636713"/>
            <a:ext cx="3598863" cy="39020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904423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3988" y="622300"/>
            <a:ext cx="8990012" cy="49847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1089025" y="1636713"/>
            <a:ext cx="7348538" cy="3902075"/>
          </a:xfrm>
        </p:spPr>
        <p:txBody>
          <a:bodyPr/>
          <a:lstStyle/>
          <a:p>
            <a:pPr lvl="0"/>
            <a:endParaRPr lang="en-US" noProof="0" smtClean="0"/>
          </a:p>
        </p:txBody>
      </p:sp>
    </p:spTree>
    <p:extLst>
      <p:ext uri="{BB962C8B-B14F-4D97-AF65-F5344CB8AC3E}">
        <p14:creationId xmlns:p14="http://schemas.microsoft.com/office/powerpoint/2010/main" val="12363033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ítulo e objecto">
    <p:spTree>
      <p:nvGrpSpPr>
        <p:cNvPr id="1" name=""/>
        <p:cNvGrpSpPr/>
        <p:nvPr/>
      </p:nvGrpSpPr>
      <p:grpSpPr>
        <a:xfrm>
          <a:off x="0" y="0"/>
          <a:ext cx="0" cy="0"/>
          <a:chOff x="0" y="0"/>
          <a:chExt cx="0" cy="0"/>
        </a:xfrm>
      </p:grpSpPr>
      <p:sp>
        <p:nvSpPr>
          <p:cNvPr id="3" name="Marcador de Posição de Conteúdo 2"/>
          <p:cNvSpPr>
            <a:spLocks noGrp="1"/>
          </p:cNvSpPr>
          <p:nvPr>
            <p:ph idx="1"/>
          </p:nvPr>
        </p:nvSpPr>
        <p:spPr>
          <a:xfrm>
            <a:off x="395536" y="1340768"/>
            <a:ext cx="8229600" cy="4525963"/>
          </a:xfrm>
        </p:spPr>
        <p:txBody>
          <a:bodyPr/>
          <a:lstStyle>
            <a:lvl1pPr>
              <a:defRPr baseline="0">
                <a:solidFill>
                  <a:srgbClr val="474747"/>
                </a:solidFill>
              </a:defRPr>
            </a:lvl1pPr>
            <a:lvl2pPr>
              <a:defRPr>
                <a:solidFill>
                  <a:srgbClr val="474747"/>
                </a:solidFill>
              </a:defRPr>
            </a:lvl2pPr>
            <a:lvl3pPr>
              <a:defRPr>
                <a:solidFill>
                  <a:srgbClr val="474747"/>
                </a:solidFill>
              </a:defRPr>
            </a:lvl3pPr>
            <a:lvl4pPr>
              <a:defRPr>
                <a:solidFill>
                  <a:srgbClr val="474747"/>
                </a:solidFill>
              </a:defRPr>
            </a:lvl4pPr>
            <a:lvl5pPr>
              <a:defRPr>
                <a:solidFill>
                  <a:srgbClr val="474747"/>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PT" dirty="0"/>
          </a:p>
        </p:txBody>
      </p:sp>
      <p:sp>
        <p:nvSpPr>
          <p:cNvPr id="14" name="Marcador de Posição do Título 1"/>
          <p:cNvSpPr>
            <a:spLocks noGrp="1"/>
          </p:cNvSpPr>
          <p:nvPr>
            <p:ph type="title"/>
          </p:nvPr>
        </p:nvSpPr>
        <p:spPr>
          <a:xfrm>
            <a:off x="457200" y="-24"/>
            <a:ext cx="8229600" cy="654032"/>
          </a:xfrm>
          <a:prstGeom prst="rect">
            <a:avLst/>
          </a:prstGeom>
        </p:spPr>
        <p:txBody>
          <a:bodyPr rtlCol="0">
            <a:normAutofit/>
          </a:bodyPr>
          <a:lstStyle>
            <a:lvl1pPr algn="l">
              <a:defRPr u="none"/>
            </a:lvl1pPr>
          </a:lstStyle>
          <a:p>
            <a:r>
              <a:rPr lang="en-US" smtClean="0"/>
              <a:t>Click to edit Master title style</a:t>
            </a:r>
            <a:endParaRPr lang="pt-PT" dirty="0"/>
          </a:p>
        </p:txBody>
      </p:sp>
      <p:sp>
        <p:nvSpPr>
          <p:cNvPr id="6" name="Marcador de Posição da Data 3"/>
          <p:cNvSpPr>
            <a:spLocks noGrp="1"/>
          </p:cNvSpPr>
          <p:nvPr>
            <p:ph type="dt" sz="half" idx="10"/>
          </p:nvPr>
        </p:nvSpPr>
        <p:spPr>
          <a:xfrm>
            <a:off x="6804025" y="6524625"/>
            <a:ext cx="971550" cy="333375"/>
          </a:xfrm>
        </p:spPr>
        <p:txBody>
          <a:bodyPr/>
          <a:lstStyle>
            <a:lvl1pPr defTabSz="914400">
              <a:defRPr baseline="0">
                <a:solidFill>
                  <a:srgbClr val="002395"/>
                </a:solidFill>
                <a:latin typeface="+mn-lt"/>
              </a:defRPr>
            </a:lvl1pPr>
          </a:lstStyle>
          <a:p>
            <a:pPr>
              <a:defRPr/>
            </a:pPr>
            <a:fld id="{BDD318A7-AD8E-4B42-A2C8-DBCC0EDA53DD}" type="datetime1">
              <a:rPr lang="en-GB"/>
              <a:pPr>
                <a:defRPr/>
              </a:pPr>
              <a:t>25/11/2019</a:t>
            </a:fld>
            <a:endParaRPr lang="en-US"/>
          </a:p>
        </p:txBody>
      </p:sp>
      <p:sp>
        <p:nvSpPr>
          <p:cNvPr id="7" name="Marcador de Posição do Rodapé 4"/>
          <p:cNvSpPr>
            <a:spLocks noGrp="1"/>
          </p:cNvSpPr>
          <p:nvPr>
            <p:ph type="ftr" sz="quarter" idx="11"/>
          </p:nvPr>
        </p:nvSpPr>
        <p:spPr>
          <a:xfrm>
            <a:off x="2987675" y="6492875"/>
            <a:ext cx="3422650" cy="365125"/>
          </a:xfrm>
        </p:spPr>
        <p:txBody>
          <a:bodyPr/>
          <a:lstStyle>
            <a:lvl1pPr defTabSz="914400">
              <a:defRPr baseline="0">
                <a:solidFill>
                  <a:srgbClr val="474747"/>
                </a:solidFill>
                <a:latin typeface="+mn-lt"/>
              </a:defRPr>
            </a:lvl1pPr>
          </a:lstStyle>
          <a:p>
            <a:pPr>
              <a:defRPr/>
            </a:pPr>
            <a:endParaRPr lang="en-US"/>
          </a:p>
        </p:txBody>
      </p:sp>
    </p:spTree>
    <p:extLst>
      <p:ext uri="{BB962C8B-B14F-4D97-AF65-F5344CB8AC3E}">
        <p14:creationId xmlns:p14="http://schemas.microsoft.com/office/powerpoint/2010/main" val="22302520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5"/>
          <p:cNvSpPr>
            <a:spLocks noGrp="1" noChangeArrowheads="1"/>
          </p:cNvSpPr>
          <p:nvPr>
            <p:ph type="dt" sz="half" idx="10"/>
          </p:nvPr>
        </p:nvSpPr>
        <p:spPr>
          <a:ln/>
        </p:spPr>
        <p:txBody>
          <a:bodyPr/>
          <a:lstStyle>
            <a:lvl1pPr>
              <a:defRPr/>
            </a:lvl1pPr>
          </a:lstStyle>
          <a:p>
            <a:pPr>
              <a:defRPr/>
            </a:pPr>
            <a:r>
              <a:rPr lang="en-US"/>
              <a:t>30-04-2008</a:t>
            </a: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fld id="{A90D5BB4-5D69-4376-8411-FB640A615F1A}" type="slidenum">
              <a:rPr lang="en-US" altLang="en-US"/>
              <a:pPr/>
              <a:t>‹#›</a:t>
            </a:fld>
            <a:endParaRPr lang="en-US" altLang="en-US"/>
          </a:p>
        </p:txBody>
      </p:sp>
    </p:spTree>
    <p:extLst>
      <p:ext uri="{BB962C8B-B14F-4D97-AF65-F5344CB8AC3E}">
        <p14:creationId xmlns:p14="http://schemas.microsoft.com/office/powerpoint/2010/main" val="6994335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1D8BD707-D9CF-40AE-B4C6-C98DA3205C09}" type="datetimeFigureOut">
              <a:rPr lang="en-US" smtClean="0"/>
              <a:pPr/>
              <a:t>11/25/2019</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9126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smtClean="0"/>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1D8BD707-D9CF-40AE-B4C6-C98DA3205C09}" type="datetimeFigureOut">
              <a:rPr lang="en-US" smtClean="0"/>
              <a:pPr/>
              <a:t>11/25/2019</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B6F15528-21DE-4FAA-801E-634DDDAF4B2B}" type="slidenum">
              <a:rPr lang="en-US" smtClean="0"/>
              <a:pPr/>
              <a:t>‹#›</a:t>
            </a:fld>
            <a:endParaRPr lang="en-US"/>
          </a:p>
        </p:txBody>
      </p:sp>
      <p:pic>
        <p:nvPicPr>
          <p:cNvPr id="7"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77201" y="5791201"/>
            <a:ext cx="1066799" cy="106679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93893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30522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77201" y="5791201"/>
            <a:ext cx="1066799" cy="106679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93279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77201" y="5791201"/>
            <a:ext cx="1066799" cy="106679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8515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94755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293687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24780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61703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03598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051656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29256825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410386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11938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97794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842576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953232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5"/>
          <p:cNvSpPr>
            <a:spLocks noGrp="1" noChangeArrowheads="1"/>
          </p:cNvSpPr>
          <p:nvPr>
            <p:ph type="dt" sz="half" idx="10"/>
          </p:nvPr>
        </p:nvSpPr>
        <p:spPr>
          <a:ln/>
        </p:spPr>
        <p:txBody>
          <a:bodyPr/>
          <a:lstStyle>
            <a:lvl1pPr>
              <a:defRPr/>
            </a:lvl1pPr>
          </a:lstStyle>
          <a:p>
            <a:pPr>
              <a:defRPr/>
            </a:pPr>
            <a:r>
              <a:rPr lang="en-US"/>
              <a:t>30-04-2008</a:t>
            </a: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fld id="{A90D5BB4-5D69-4376-8411-FB640A615F1A}" type="slidenum">
              <a:rPr lang="en-US" altLang="en-US"/>
              <a:pPr/>
              <a:t>‹#›</a:t>
            </a:fld>
            <a:endParaRPr lang="en-US" altLang="en-US"/>
          </a:p>
        </p:txBody>
      </p:sp>
    </p:spTree>
    <p:extLst>
      <p:ext uri="{BB962C8B-B14F-4D97-AF65-F5344CB8AC3E}">
        <p14:creationId xmlns:p14="http://schemas.microsoft.com/office/powerpoint/2010/main" val="3554243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5.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image" Target="../media/image8.pn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theme" Target="../theme/theme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76258" name="Rectangle 2"/>
          <p:cNvSpPr>
            <a:spLocks noChangeArrowheads="1"/>
          </p:cNvSpPr>
          <p:nvPr/>
        </p:nvSpPr>
        <p:spPr bwMode="blackWhite">
          <a:xfrm>
            <a:off x="0" y="6502400"/>
            <a:ext cx="9144000" cy="387350"/>
          </a:xfrm>
          <a:prstGeom prst="rect">
            <a:avLst/>
          </a:prstGeom>
          <a:solidFill>
            <a:schemeClr val="accent1"/>
          </a:solidFill>
          <a:ln w="3175">
            <a:solidFill>
              <a:schemeClr val="accent1"/>
            </a:solidFill>
            <a:miter lim="800000"/>
            <a:headEnd/>
            <a:tailEnd/>
          </a:ln>
          <a:effectLst/>
        </p:spPr>
        <p:txBody>
          <a:bodyPr wrap="none" anchor="ctr"/>
          <a:lstStyle/>
          <a:p>
            <a:pPr algn="ctr">
              <a:defRPr/>
            </a:pPr>
            <a:endParaRPr lang="en-US" b="1">
              <a:solidFill>
                <a:srgbClr val="000000"/>
              </a:solidFill>
              <a:latin typeface="Arial" panose="020B0604020202020204" pitchFamily="34" charset="0"/>
            </a:endParaRPr>
          </a:p>
        </p:txBody>
      </p:sp>
      <p:sp>
        <p:nvSpPr>
          <p:cNvPr id="2051" name="Rectangle 3"/>
          <p:cNvSpPr>
            <a:spLocks noGrp="1" noChangeArrowheads="1"/>
          </p:cNvSpPr>
          <p:nvPr>
            <p:ph type="title"/>
          </p:nvPr>
        </p:nvSpPr>
        <p:spPr bwMode="auto">
          <a:xfrm>
            <a:off x="153988" y="622300"/>
            <a:ext cx="89900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2052" name="Rectangle 4"/>
          <p:cNvSpPr>
            <a:spLocks noGrp="1" noChangeArrowheads="1"/>
          </p:cNvSpPr>
          <p:nvPr>
            <p:ph type="body" idx="1"/>
          </p:nvPr>
        </p:nvSpPr>
        <p:spPr bwMode="auto">
          <a:xfrm>
            <a:off x="1089025" y="1636713"/>
            <a:ext cx="7348538"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pic>
        <p:nvPicPr>
          <p:cNvPr id="2053" name="Picture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88" y="6477000"/>
            <a:ext cx="9148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6262" name="Rectangle 6"/>
          <p:cNvSpPr>
            <a:spLocks noChangeArrowheads="1"/>
          </p:cNvSpPr>
          <p:nvPr/>
        </p:nvSpPr>
        <p:spPr bwMode="blackWhite">
          <a:xfrm>
            <a:off x="0" y="0"/>
            <a:ext cx="9144000" cy="438150"/>
          </a:xfrm>
          <a:prstGeom prst="rect">
            <a:avLst/>
          </a:prstGeom>
          <a:solidFill>
            <a:schemeClr val="accent1"/>
          </a:solidFill>
          <a:ln w="3175" algn="ctr">
            <a:noFill/>
            <a:miter lim="800000"/>
            <a:headEnd/>
            <a:tailEnd/>
          </a:ln>
          <a:effectLst/>
        </p:spPr>
        <p:txBody>
          <a:bodyPr wrap="none" anchor="ctr"/>
          <a:lstStyle/>
          <a:p>
            <a:pPr algn="ctr">
              <a:defRPr/>
            </a:pPr>
            <a:endParaRPr lang="en-US" b="1">
              <a:solidFill>
                <a:srgbClr val="000000"/>
              </a:solidFill>
              <a:latin typeface="Arial" panose="020B0604020202020204" pitchFamily="34" charset="0"/>
            </a:endParaRPr>
          </a:p>
        </p:txBody>
      </p:sp>
      <p:sp>
        <p:nvSpPr>
          <p:cNvPr id="1376263" name="Text Box 7"/>
          <p:cNvSpPr txBox="1">
            <a:spLocks noChangeArrowheads="1"/>
          </p:cNvSpPr>
          <p:nvPr/>
        </p:nvSpPr>
        <p:spPr bwMode="black">
          <a:xfrm>
            <a:off x="1446213" y="90488"/>
            <a:ext cx="3403600" cy="304800"/>
          </a:xfrm>
          <a:prstGeom prst="rect">
            <a:avLst/>
          </a:prstGeom>
          <a:noFill/>
          <a:ln w="9525">
            <a:noFill/>
            <a:miter lim="800000"/>
            <a:headEnd/>
            <a:tailEnd/>
          </a:ln>
          <a:effectLst/>
        </p:spPr>
        <p:txBody>
          <a:bodyPr wrap="none">
            <a:spAutoFit/>
          </a:bodyPr>
          <a:lstStyle/>
          <a:p>
            <a:pPr eaLnBrk="0" hangingPunct="0">
              <a:defRPr/>
            </a:pPr>
            <a:r>
              <a:rPr lang="en-US" sz="1400">
                <a:solidFill>
                  <a:srgbClr val="FFFFFF"/>
                </a:solidFill>
                <a:latin typeface="Arial" panose="020B0604020202020204" pitchFamily="34" charset="0"/>
              </a:rPr>
              <a:t>IBM Software Group  |  Rational software</a:t>
            </a:r>
          </a:p>
        </p:txBody>
      </p:sp>
      <p:sp>
        <p:nvSpPr>
          <p:cNvPr id="1376265" name="Line 9"/>
          <p:cNvSpPr>
            <a:spLocks noChangeShapeType="1"/>
          </p:cNvSpPr>
          <p:nvPr/>
        </p:nvSpPr>
        <p:spPr bwMode="black">
          <a:xfrm>
            <a:off x="1446213" y="195263"/>
            <a:ext cx="0" cy="234950"/>
          </a:xfrm>
          <a:prstGeom prst="line">
            <a:avLst/>
          </a:prstGeom>
          <a:noFill/>
          <a:ln w="9525">
            <a:solidFill>
              <a:schemeClr val="tx1"/>
            </a:solidFill>
            <a:round/>
            <a:headEnd/>
            <a:tailEnd/>
          </a:ln>
          <a:effectLst/>
        </p:spPr>
        <p:txBody>
          <a:bodyPr wrap="none" anchor="ctr"/>
          <a:lstStyle/>
          <a:p>
            <a:pPr algn="ctr">
              <a:defRPr/>
            </a:pPr>
            <a:endParaRPr lang="en-US" b="1">
              <a:solidFill>
                <a:srgbClr val="000000"/>
              </a:solidFill>
              <a:latin typeface="Arial" panose="020B0604020202020204" pitchFamily="34" charset="0"/>
            </a:endParaRPr>
          </a:p>
        </p:txBody>
      </p:sp>
    </p:spTree>
    <p:extLst>
      <p:ext uri="{BB962C8B-B14F-4D97-AF65-F5344CB8AC3E}">
        <p14:creationId xmlns:p14="http://schemas.microsoft.com/office/powerpoint/2010/main" val="283510422"/>
      </p:ext>
    </p:extLst>
  </p:cSld>
  <p:clrMap bg1="dk2" tx1="lt1" bg2="dk1"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Lst>
  <p:txStyles>
    <p:titleStyle>
      <a:lvl1pPr algn="l" rtl="0" eaLnBrk="0" fontAlgn="base" hangingPunct="0">
        <a:lnSpc>
          <a:spcPct val="90000"/>
        </a:lnSpc>
        <a:spcBef>
          <a:spcPct val="0"/>
        </a:spcBef>
        <a:spcAft>
          <a:spcPct val="0"/>
        </a:spcAft>
        <a:defRPr sz="2800" b="1">
          <a:solidFill>
            <a:schemeClr val="accent1"/>
          </a:solidFill>
          <a:latin typeface="+mj-lt"/>
          <a:ea typeface="+mj-ea"/>
          <a:cs typeface="+mj-cs"/>
        </a:defRPr>
      </a:lvl1pPr>
      <a:lvl2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2pPr>
      <a:lvl3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3pPr>
      <a:lvl4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4pPr>
      <a:lvl5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5pPr>
      <a:lvl6pPr marL="457200" algn="l" rtl="0" fontAlgn="base">
        <a:lnSpc>
          <a:spcPct val="90000"/>
        </a:lnSpc>
        <a:spcBef>
          <a:spcPct val="0"/>
        </a:spcBef>
        <a:spcAft>
          <a:spcPct val="0"/>
        </a:spcAft>
        <a:defRPr sz="2800" b="1">
          <a:solidFill>
            <a:schemeClr val="accent1"/>
          </a:solidFill>
          <a:latin typeface="Arial" pitchFamily="34" charset="0"/>
          <a:cs typeface="Arial" pitchFamily="34" charset="0"/>
        </a:defRPr>
      </a:lvl6pPr>
      <a:lvl7pPr marL="914400" algn="l" rtl="0" fontAlgn="base">
        <a:lnSpc>
          <a:spcPct val="90000"/>
        </a:lnSpc>
        <a:spcBef>
          <a:spcPct val="0"/>
        </a:spcBef>
        <a:spcAft>
          <a:spcPct val="0"/>
        </a:spcAft>
        <a:defRPr sz="2800" b="1">
          <a:solidFill>
            <a:schemeClr val="accent1"/>
          </a:solidFill>
          <a:latin typeface="Arial" pitchFamily="34" charset="0"/>
          <a:cs typeface="Arial" pitchFamily="34" charset="0"/>
        </a:defRPr>
      </a:lvl7pPr>
      <a:lvl8pPr marL="1371600" algn="l" rtl="0" fontAlgn="base">
        <a:lnSpc>
          <a:spcPct val="90000"/>
        </a:lnSpc>
        <a:spcBef>
          <a:spcPct val="0"/>
        </a:spcBef>
        <a:spcAft>
          <a:spcPct val="0"/>
        </a:spcAft>
        <a:defRPr sz="2800" b="1">
          <a:solidFill>
            <a:schemeClr val="accent1"/>
          </a:solidFill>
          <a:latin typeface="Arial" pitchFamily="34" charset="0"/>
          <a:cs typeface="Arial" pitchFamily="34" charset="0"/>
        </a:defRPr>
      </a:lvl8pPr>
      <a:lvl9pPr marL="1828800" algn="l" rtl="0" fontAlgn="base">
        <a:lnSpc>
          <a:spcPct val="90000"/>
        </a:lnSpc>
        <a:spcBef>
          <a:spcPct val="0"/>
        </a:spcBef>
        <a:spcAft>
          <a:spcPct val="0"/>
        </a:spcAft>
        <a:defRPr sz="2800" b="1">
          <a:solidFill>
            <a:schemeClr val="accent1"/>
          </a:solidFill>
          <a:latin typeface="Arial" pitchFamily="34" charset="0"/>
          <a:cs typeface="Arial" pitchFamily="34" charset="0"/>
        </a:defRPr>
      </a:lvl9pPr>
    </p:titleStyle>
    <p:bodyStyle>
      <a:lvl1pPr marL="228600" indent="-228600" algn="l" rtl="0" eaLnBrk="0" fontAlgn="base" hangingPunct="0">
        <a:spcBef>
          <a:spcPct val="0"/>
        </a:spcBef>
        <a:spcAft>
          <a:spcPct val="0"/>
        </a:spcAft>
        <a:buClr>
          <a:schemeClr val="accent2"/>
        </a:buClr>
        <a:buFont typeface="Wingdings" panose="05000000000000000000" pitchFamily="2" charset="2"/>
        <a:buChar char="§"/>
        <a:defRPr sz="3200">
          <a:solidFill>
            <a:schemeClr val="bg1"/>
          </a:solidFill>
          <a:latin typeface="+mn-lt"/>
          <a:ea typeface="+mn-ea"/>
          <a:cs typeface="+mn-cs"/>
        </a:defRPr>
      </a:lvl1pPr>
      <a:lvl2pPr marL="446088" indent="-215900" algn="l" rtl="0" eaLnBrk="0" fontAlgn="base" hangingPunct="0">
        <a:spcBef>
          <a:spcPct val="25000"/>
        </a:spcBef>
        <a:spcAft>
          <a:spcPct val="15000"/>
        </a:spcAft>
        <a:buClr>
          <a:schemeClr val="accent2"/>
        </a:buClr>
        <a:buFont typeface="Webdings" panose="05030102010509060703" pitchFamily="18" charset="2"/>
        <a:buChar char="4"/>
        <a:defRPr sz="1600">
          <a:solidFill>
            <a:schemeClr val="bg1"/>
          </a:solidFill>
          <a:latin typeface="+mn-lt"/>
          <a:cs typeface="+mn-cs"/>
        </a:defRPr>
      </a:lvl2pPr>
      <a:lvl3pPr marL="676275" indent="-228600" algn="l" rtl="0" eaLnBrk="0" fontAlgn="base" hangingPunct="0">
        <a:spcBef>
          <a:spcPct val="20000"/>
        </a:spcBef>
        <a:spcAft>
          <a:spcPct val="0"/>
        </a:spcAft>
        <a:buClr>
          <a:schemeClr val="accent2"/>
        </a:buClr>
        <a:buChar char="•"/>
        <a:defRPr sz="1600">
          <a:solidFill>
            <a:schemeClr val="bg1"/>
          </a:solidFill>
          <a:latin typeface="+mn-lt"/>
          <a:cs typeface="+mn-cs"/>
        </a:defRPr>
      </a:lvl3pPr>
      <a:lvl4pPr marL="908050" indent="-230188" algn="l" rtl="0" eaLnBrk="0" fontAlgn="base" hangingPunct="0">
        <a:spcBef>
          <a:spcPct val="20000"/>
        </a:spcBef>
        <a:spcAft>
          <a:spcPct val="0"/>
        </a:spcAft>
        <a:buClr>
          <a:schemeClr val="accent2"/>
        </a:buClr>
        <a:buFont typeface="Arial" panose="020B0604020202020204" pitchFamily="34" charset="0"/>
        <a:buChar char="−"/>
        <a:defRPr sz="1600">
          <a:solidFill>
            <a:schemeClr val="bg1"/>
          </a:solidFill>
          <a:latin typeface="+mn-lt"/>
          <a:cs typeface="+mn-cs"/>
        </a:defRPr>
      </a:lvl4pPr>
      <a:lvl5pPr marL="1138238" indent="-228600" algn="l" rtl="0" eaLnBrk="0" fontAlgn="base" hangingPunct="0">
        <a:spcBef>
          <a:spcPct val="20000"/>
        </a:spcBef>
        <a:spcAft>
          <a:spcPct val="0"/>
        </a:spcAft>
        <a:buClr>
          <a:schemeClr val="accent2"/>
        </a:buClr>
        <a:buFont typeface="Arial" panose="020B0604020202020204" pitchFamily="34" charset="0"/>
        <a:buChar char="−"/>
        <a:defRPr sz="1600">
          <a:solidFill>
            <a:schemeClr val="bg1"/>
          </a:solidFill>
          <a:latin typeface="+mn-lt"/>
          <a:cs typeface="+mn-cs"/>
        </a:defRPr>
      </a:lvl5pPr>
      <a:lvl6pPr marL="15954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6pPr>
      <a:lvl7pPr marL="20526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7pPr>
      <a:lvl8pPr marL="25098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8pPr>
      <a:lvl9pPr marL="29670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76258" name="Rectangle 2"/>
          <p:cNvSpPr>
            <a:spLocks noChangeArrowheads="1"/>
          </p:cNvSpPr>
          <p:nvPr/>
        </p:nvSpPr>
        <p:spPr bwMode="blackWhite">
          <a:xfrm>
            <a:off x="0" y="6502400"/>
            <a:ext cx="9144000" cy="387350"/>
          </a:xfrm>
          <a:prstGeom prst="rect">
            <a:avLst/>
          </a:prstGeom>
          <a:solidFill>
            <a:schemeClr val="accent1"/>
          </a:solidFill>
          <a:ln w="3175">
            <a:solidFill>
              <a:schemeClr val="accent1"/>
            </a:solidFill>
            <a:miter lim="800000"/>
            <a:headEnd/>
            <a:tailEnd/>
          </a:ln>
          <a:effectLst/>
        </p:spPr>
        <p:txBody>
          <a:bodyPr wrap="none" anchor="ctr"/>
          <a:lstStyle/>
          <a:p>
            <a:pPr algn="ctr">
              <a:defRPr/>
            </a:pPr>
            <a:endParaRPr lang="en-US" b="1">
              <a:solidFill>
                <a:srgbClr val="000000"/>
              </a:solidFill>
              <a:latin typeface="Arial" panose="020B0604020202020204" pitchFamily="34" charset="0"/>
            </a:endParaRPr>
          </a:p>
        </p:txBody>
      </p:sp>
      <p:sp>
        <p:nvSpPr>
          <p:cNvPr id="2051" name="Rectangle 3"/>
          <p:cNvSpPr>
            <a:spLocks noGrp="1" noChangeArrowheads="1"/>
          </p:cNvSpPr>
          <p:nvPr>
            <p:ph type="title"/>
          </p:nvPr>
        </p:nvSpPr>
        <p:spPr bwMode="auto">
          <a:xfrm>
            <a:off x="153988" y="622300"/>
            <a:ext cx="89900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2052" name="Rectangle 4"/>
          <p:cNvSpPr>
            <a:spLocks noGrp="1" noChangeArrowheads="1"/>
          </p:cNvSpPr>
          <p:nvPr>
            <p:ph type="body" idx="1"/>
          </p:nvPr>
        </p:nvSpPr>
        <p:spPr bwMode="auto">
          <a:xfrm>
            <a:off x="1089025" y="1636713"/>
            <a:ext cx="7348538"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pic>
        <p:nvPicPr>
          <p:cNvPr id="2053" name="Picture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88" y="6477000"/>
            <a:ext cx="9148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6262" name="Rectangle 6"/>
          <p:cNvSpPr>
            <a:spLocks noChangeArrowheads="1"/>
          </p:cNvSpPr>
          <p:nvPr/>
        </p:nvSpPr>
        <p:spPr bwMode="blackWhite">
          <a:xfrm>
            <a:off x="0" y="0"/>
            <a:ext cx="9144000" cy="438150"/>
          </a:xfrm>
          <a:prstGeom prst="rect">
            <a:avLst/>
          </a:prstGeom>
          <a:solidFill>
            <a:schemeClr val="accent1"/>
          </a:solidFill>
          <a:ln w="3175" algn="ctr">
            <a:noFill/>
            <a:miter lim="800000"/>
            <a:headEnd/>
            <a:tailEnd/>
          </a:ln>
          <a:effectLst/>
        </p:spPr>
        <p:txBody>
          <a:bodyPr wrap="none" anchor="ctr"/>
          <a:lstStyle/>
          <a:p>
            <a:pPr algn="ctr">
              <a:defRPr/>
            </a:pPr>
            <a:endParaRPr lang="en-US" b="1">
              <a:solidFill>
                <a:srgbClr val="000000"/>
              </a:solidFill>
              <a:latin typeface="Arial" panose="020B0604020202020204" pitchFamily="34" charset="0"/>
            </a:endParaRPr>
          </a:p>
        </p:txBody>
      </p:sp>
      <p:sp>
        <p:nvSpPr>
          <p:cNvPr id="1376263" name="Text Box 7"/>
          <p:cNvSpPr txBox="1">
            <a:spLocks noChangeArrowheads="1"/>
          </p:cNvSpPr>
          <p:nvPr/>
        </p:nvSpPr>
        <p:spPr bwMode="black">
          <a:xfrm>
            <a:off x="1446213" y="90488"/>
            <a:ext cx="3403600" cy="304800"/>
          </a:xfrm>
          <a:prstGeom prst="rect">
            <a:avLst/>
          </a:prstGeom>
          <a:noFill/>
          <a:ln w="9525">
            <a:noFill/>
            <a:miter lim="800000"/>
            <a:headEnd/>
            <a:tailEnd/>
          </a:ln>
          <a:effectLst/>
        </p:spPr>
        <p:txBody>
          <a:bodyPr wrap="none">
            <a:spAutoFit/>
          </a:bodyPr>
          <a:lstStyle/>
          <a:p>
            <a:pPr eaLnBrk="0" hangingPunct="0">
              <a:defRPr/>
            </a:pPr>
            <a:r>
              <a:rPr lang="en-US" sz="1400">
                <a:solidFill>
                  <a:srgbClr val="FFFFFF"/>
                </a:solidFill>
                <a:latin typeface="Arial" panose="020B0604020202020204" pitchFamily="34" charset="0"/>
              </a:rPr>
              <a:t>IBM Software Group  |  Rational software</a:t>
            </a:r>
          </a:p>
        </p:txBody>
      </p:sp>
      <p:pic>
        <p:nvPicPr>
          <p:cNvPr id="2056" name="Picture 8" descr="ibm_light_gray_logo_300dpi"/>
          <p:cNvPicPr>
            <a:picLocks noChangeAspect="1" noChangeArrowheads="1"/>
          </p:cNvPicPr>
          <p:nvPr/>
        </p:nvPicPr>
        <p:blipFill>
          <a:blip r:embed="rId19" cstate="print">
            <a:clrChange>
              <a:clrFrom>
                <a:srgbClr val="7889FB"/>
              </a:clrFrom>
              <a:clrTo>
                <a:srgbClr val="7889FB">
                  <a:alpha val="0"/>
                </a:srgbClr>
              </a:clrTo>
            </a:clrChange>
            <a:lum bright="100000" contrast="100000"/>
            <a:extLst>
              <a:ext uri="{28A0092B-C50C-407E-A947-70E740481C1C}">
                <a14:useLocalDpi xmlns:a14="http://schemas.microsoft.com/office/drawing/2010/main" val="0"/>
              </a:ext>
            </a:extLst>
          </a:blip>
          <a:srcRect r="6470"/>
          <a:stretch>
            <a:fillRect/>
          </a:stretch>
        </p:blipFill>
        <p:spPr bwMode="invGray">
          <a:xfrm>
            <a:off x="8370888" y="100013"/>
            <a:ext cx="623887"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76265" name="Line 9"/>
          <p:cNvSpPr>
            <a:spLocks noChangeShapeType="1"/>
          </p:cNvSpPr>
          <p:nvPr/>
        </p:nvSpPr>
        <p:spPr bwMode="black">
          <a:xfrm>
            <a:off x="1446213" y="195263"/>
            <a:ext cx="0" cy="234950"/>
          </a:xfrm>
          <a:prstGeom prst="line">
            <a:avLst/>
          </a:prstGeom>
          <a:noFill/>
          <a:ln w="9525">
            <a:solidFill>
              <a:schemeClr val="tx1"/>
            </a:solidFill>
            <a:round/>
            <a:headEnd/>
            <a:tailEnd/>
          </a:ln>
          <a:effectLst/>
        </p:spPr>
        <p:txBody>
          <a:bodyPr wrap="none" anchor="ctr"/>
          <a:lstStyle/>
          <a:p>
            <a:pPr algn="ctr">
              <a:defRPr/>
            </a:pPr>
            <a:endParaRPr lang="en-US" b="1">
              <a:solidFill>
                <a:srgbClr val="000000"/>
              </a:solidFill>
              <a:latin typeface="Arial" panose="020B0604020202020204" pitchFamily="34" charset="0"/>
            </a:endParaRPr>
          </a:p>
        </p:txBody>
      </p:sp>
    </p:spTree>
    <p:extLst>
      <p:ext uri="{BB962C8B-B14F-4D97-AF65-F5344CB8AC3E}">
        <p14:creationId xmlns:p14="http://schemas.microsoft.com/office/powerpoint/2010/main" val="127581145"/>
      </p:ext>
    </p:extLst>
  </p:cSld>
  <p:clrMap bg1="dk2" tx1="lt1" bg2="dk1" tx2="lt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7" r:id="rId15"/>
    <p:sldLayoutId id="2147483778" r:id="rId16"/>
  </p:sldLayoutIdLst>
  <p:txStyles>
    <p:titleStyle>
      <a:lvl1pPr algn="l" rtl="0" eaLnBrk="0" fontAlgn="base" hangingPunct="0">
        <a:lnSpc>
          <a:spcPct val="90000"/>
        </a:lnSpc>
        <a:spcBef>
          <a:spcPct val="0"/>
        </a:spcBef>
        <a:spcAft>
          <a:spcPct val="0"/>
        </a:spcAft>
        <a:defRPr sz="2800" b="1">
          <a:solidFill>
            <a:schemeClr val="accent1"/>
          </a:solidFill>
          <a:latin typeface="+mj-lt"/>
          <a:ea typeface="+mj-ea"/>
          <a:cs typeface="+mj-cs"/>
        </a:defRPr>
      </a:lvl1pPr>
      <a:lvl2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2pPr>
      <a:lvl3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3pPr>
      <a:lvl4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4pPr>
      <a:lvl5pPr algn="l" rtl="0" eaLnBrk="0" fontAlgn="base" hangingPunct="0">
        <a:lnSpc>
          <a:spcPct val="90000"/>
        </a:lnSpc>
        <a:spcBef>
          <a:spcPct val="0"/>
        </a:spcBef>
        <a:spcAft>
          <a:spcPct val="0"/>
        </a:spcAft>
        <a:defRPr sz="2800" b="1">
          <a:solidFill>
            <a:schemeClr val="accent1"/>
          </a:solidFill>
          <a:latin typeface="Arial" pitchFamily="34" charset="0"/>
          <a:cs typeface="Arial" pitchFamily="34" charset="0"/>
        </a:defRPr>
      </a:lvl5pPr>
      <a:lvl6pPr marL="457200" algn="l" rtl="0" fontAlgn="base">
        <a:lnSpc>
          <a:spcPct val="90000"/>
        </a:lnSpc>
        <a:spcBef>
          <a:spcPct val="0"/>
        </a:spcBef>
        <a:spcAft>
          <a:spcPct val="0"/>
        </a:spcAft>
        <a:defRPr sz="2800" b="1">
          <a:solidFill>
            <a:schemeClr val="accent1"/>
          </a:solidFill>
          <a:latin typeface="Arial" pitchFamily="34" charset="0"/>
          <a:cs typeface="Arial" pitchFamily="34" charset="0"/>
        </a:defRPr>
      </a:lvl6pPr>
      <a:lvl7pPr marL="914400" algn="l" rtl="0" fontAlgn="base">
        <a:lnSpc>
          <a:spcPct val="90000"/>
        </a:lnSpc>
        <a:spcBef>
          <a:spcPct val="0"/>
        </a:spcBef>
        <a:spcAft>
          <a:spcPct val="0"/>
        </a:spcAft>
        <a:defRPr sz="2800" b="1">
          <a:solidFill>
            <a:schemeClr val="accent1"/>
          </a:solidFill>
          <a:latin typeface="Arial" pitchFamily="34" charset="0"/>
          <a:cs typeface="Arial" pitchFamily="34" charset="0"/>
        </a:defRPr>
      </a:lvl7pPr>
      <a:lvl8pPr marL="1371600" algn="l" rtl="0" fontAlgn="base">
        <a:lnSpc>
          <a:spcPct val="90000"/>
        </a:lnSpc>
        <a:spcBef>
          <a:spcPct val="0"/>
        </a:spcBef>
        <a:spcAft>
          <a:spcPct val="0"/>
        </a:spcAft>
        <a:defRPr sz="2800" b="1">
          <a:solidFill>
            <a:schemeClr val="accent1"/>
          </a:solidFill>
          <a:latin typeface="Arial" pitchFamily="34" charset="0"/>
          <a:cs typeface="Arial" pitchFamily="34" charset="0"/>
        </a:defRPr>
      </a:lvl8pPr>
      <a:lvl9pPr marL="1828800" algn="l" rtl="0" fontAlgn="base">
        <a:lnSpc>
          <a:spcPct val="90000"/>
        </a:lnSpc>
        <a:spcBef>
          <a:spcPct val="0"/>
        </a:spcBef>
        <a:spcAft>
          <a:spcPct val="0"/>
        </a:spcAft>
        <a:defRPr sz="2800" b="1">
          <a:solidFill>
            <a:schemeClr val="accent1"/>
          </a:solidFill>
          <a:latin typeface="Arial" pitchFamily="34" charset="0"/>
          <a:cs typeface="Arial" pitchFamily="34" charset="0"/>
        </a:defRPr>
      </a:lvl9pPr>
    </p:titleStyle>
    <p:bodyStyle>
      <a:lvl1pPr marL="228600" indent="-228600" algn="l" rtl="0" eaLnBrk="0" fontAlgn="base" hangingPunct="0">
        <a:spcBef>
          <a:spcPct val="0"/>
        </a:spcBef>
        <a:spcAft>
          <a:spcPct val="0"/>
        </a:spcAft>
        <a:buClr>
          <a:schemeClr val="accent2"/>
        </a:buClr>
        <a:buFont typeface="Wingdings" panose="05000000000000000000" pitchFamily="2" charset="2"/>
        <a:buChar char="§"/>
        <a:defRPr sz="3200">
          <a:solidFill>
            <a:schemeClr val="bg1"/>
          </a:solidFill>
          <a:latin typeface="+mn-lt"/>
          <a:ea typeface="+mn-ea"/>
          <a:cs typeface="+mn-cs"/>
        </a:defRPr>
      </a:lvl1pPr>
      <a:lvl2pPr marL="446088" indent="-215900" algn="l" rtl="0" eaLnBrk="0" fontAlgn="base" hangingPunct="0">
        <a:spcBef>
          <a:spcPct val="25000"/>
        </a:spcBef>
        <a:spcAft>
          <a:spcPct val="15000"/>
        </a:spcAft>
        <a:buClr>
          <a:schemeClr val="accent2"/>
        </a:buClr>
        <a:buFont typeface="Webdings" panose="05030102010509060703" pitchFamily="18" charset="2"/>
        <a:buChar char="4"/>
        <a:defRPr sz="1600">
          <a:solidFill>
            <a:schemeClr val="bg1"/>
          </a:solidFill>
          <a:latin typeface="+mn-lt"/>
          <a:cs typeface="+mn-cs"/>
        </a:defRPr>
      </a:lvl2pPr>
      <a:lvl3pPr marL="676275" indent="-228600" algn="l" rtl="0" eaLnBrk="0" fontAlgn="base" hangingPunct="0">
        <a:spcBef>
          <a:spcPct val="20000"/>
        </a:spcBef>
        <a:spcAft>
          <a:spcPct val="0"/>
        </a:spcAft>
        <a:buClr>
          <a:schemeClr val="accent2"/>
        </a:buClr>
        <a:buChar char="•"/>
        <a:defRPr sz="1600">
          <a:solidFill>
            <a:schemeClr val="bg1"/>
          </a:solidFill>
          <a:latin typeface="+mn-lt"/>
          <a:cs typeface="+mn-cs"/>
        </a:defRPr>
      </a:lvl3pPr>
      <a:lvl4pPr marL="908050" indent="-230188" algn="l" rtl="0" eaLnBrk="0" fontAlgn="base" hangingPunct="0">
        <a:spcBef>
          <a:spcPct val="20000"/>
        </a:spcBef>
        <a:spcAft>
          <a:spcPct val="0"/>
        </a:spcAft>
        <a:buClr>
          <a:schemeClr val="accent2"/>
        </a:buClr>
        <a:buFont typeface="Arial" panose="020B0604020202020204" pitchFamily="34" charset="0"/>
        <a:buChar char="−"/>
        <a:defRPr sz="1600">
          <a:solidFill>
            <a:schemeClr val="bg1"/>
          </a:solidFill>
          <a:latin typeface="+mn-lt"/>
          <a:cs typeface="+mn-cs"/>
        </a:defRPr>
      </a:lvl4pPr>
      <a:lvl5pPr marL="1138238" indent="-228600" algn="l" rtl="0" eaLnBrk="0" fontAlgn="base" hangingPunct="0">
        <a:spcBef>
          <a:spcPct val="20000"/>
        </a:spcBef>
        <a:spcAft>
          <a:spcPct val="0"/>
        </a:spcAft>
        <a:buClr>
          <a:schemeClr val="accent2"/>
        </a:buClr>
        <a:buFont typeface="Arial" panose="020B0604020202020204" pitchFamily="34" charset="0"/>
        <a:buChar char="−"/>
        <a:defRPr sz="1600">
          <a:solidFill>
            <a:schemeClr val="bg1"/>
          </a:solidFill>
          <a:latin typeface="+mn-lt"/>
          <a:cs typeface="+mn-cs"/>
        </a:defRPr>
      </a:lvl5pPr>
      <a:lvl6pPr marL="15954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6pPr>
      <a:lvl7pPr marL="20526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7pPr>
      <a:lvl8pPr marL="25098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8pPr>
      <a:lvl9pPr marL="2967038" indent="-228600" algn="l" rtl="0" fontAlgn="base">
        <a:spcBef>
          <a:spcPct val="20000"/>
        </a:spcBef>
        <a:spcAft>
          <a:spcPct val="0"/>
        </a:spcAft>
        <a:buClr>
          <a:schemeClr val="accent2"/>
        </a:buClr>
        <a:buFont typeface="Arial" pitchFamily="34" charset="0"/>
        <a:buChar char="−"/>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D8BD707-D9CF-40AE-B4C6-C98DA3205C09}" type="datetimeFigureOut">
              <a:rPr lang="en-US" smtClean="0"/>
              <a:pPr/>
              <a:t>11/25/2019</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610449740"/>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8" r:id="rId18"/>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32.xml"/><Relationship Id="rId4" Type="http://schemas.openxmlformats.org/officeDocument/2006/relationships/image" Target="../media/image14.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2.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8.xml"/><Relationship Id="rId4" Type="http://schemas.openxmlformats.org/officeDocument/2006/relationships/image" Target="../media/image18.wmf"/></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4.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4.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4.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4.xml"/><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4.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4.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2.xml"/></Relationships>
</file>

<file path=ppt/slides/_rels/slide55.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6.xml"/><Relationship Id="rId7" Type="http://schemas.openxmlformats.org/officeDocument/2006/relationships/oleObject" Target="../embeddings/oleObject4.bin"/><Relationship Id="rId2" Type="http://schemas.openxmlformats.org/officeDocument/2006/relationships/slideLayout" Target="../slideLayouts/slideLayout3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29.wmf"/><Relationship Id="rId4" Type="http://schemas.openxmlformats.org/officeDocument/2006/relationships/oleObject" Target="../embeddings/oleObject2.bin"/></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7.xml.rels><?xml version="1.0" encoding="UTF-8" standalone="yes"?>
<Relationships xmlns="http://schemas.openxmlformats.org/package/2006/relationships"><Relationship Id="rId2" Type="http://schemas.openxmlformats.org/officeDocument/2006/relationships/hyperlink" Target="https://www.youtube.com/watch?v=jL1VOF5JgPQ" TargetMode="Externa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ctrTitle"/>
          </p:nvPr>
        </p:nvSpPr>
        <p:spPr>
          <a:xfrm>
            <a:off x="1403648" y="1844824"/>
            <a:ext cx="7272338" cy="1646237"/>
          </a:xfrm>
        </p:spPr>
        <p:txBody>
          <a:bodyPr/>
          <a:lstStyle/>
          <a:p>
            <a:pPr eaLnBrk="1" hangingPunct="1"/>
            <a:r>
              <a:rPr lang="en-GB" altLang="en-US" sz="4400" dirty="0" smtClean="0"/>
              <a:t>Project </a:t>
            </a:r>
            <a:r>
              <a:rPr lang="en-GB" altLang="en-US" sz="4400" dirty="0" smtClean="0"/>
              <a:t>Life cycle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smtClean="0"/>
              <a:t>The Context of IT Projects</a:t>
            </a:r>
          </a:p>
        </p:txBody>
      </p:sp>
      <p:sp>
        <p:nvSpPr>
          <p:cNvPr id="33797" name="Rectangle 3"/>
          <p:cNvSpPr>
            <a:spLocks noGrp="1" noChangeArrowheads="1"/>
          </p:cNvSpPr>
          <p:nvPr>
            <p:ph idx="1"/>
          </p:nvPr>
        </p:nvSpPr>
        <p:spPr>
          <a:xfrm>
            <a:off x="404813" y="1552575"/>
            <a:ext cx="7029450" cy="4491038"/>
          </a:xfrm>
        </p:spPr>
        <p:txBody>
          <a:bodyPr rtlCol="0">
            <a:normAutofit/>
          </a:bodyPr>
          <a:lstStyle/>
          <a:p>
            <a:pPr eaLnBrk="1" fontAlgn="auto" hangingPunct="1">
              <a:spcAft>
                <a:spcPts val="0"/>
              </a:spcAft>
              <a:buFont typeface="Wingdings 3" charset="2"/>
              <a:buChar char=""/>
              <a:defRPr/>
            </a:pPr>
            <a:r>
              <a:rPr lang="en-US" sz="2800" dirty="0" smtClean="0">
                <a:solidFill>
                  <a:schemeClr val="tx1">
                    <a:lumMod val="75000"/>
                    <a:lumOff val="25000"/>
                  </a:schemeClr>
                </a:solidFill>
              </a:rPr>
              <a:t>IT projects can be very diverse in terms of size,  complexity, products produced, application area, and resource requirements</a:t>
            </a:r>
          </a:p>
          <a:p>
            <a:pPr eaLnBrk="1" fontAlgn="auto" hangingPunct="1">
              <a:spcAft>
                <a:spcPts val="0"/>
              </a:spcAft>
              <a:buFont typeface="Wingdings 3" charset="2"/>
              <a:buChar char=""/>
              <a:defRPr/>
            </a:pPr>
            <a:r>
              <a:rPr lang="en-US" sz="2800" dirty="0" smtClean="0">
                <a:solidFill>
                  <a:schemeClr val="tx1">
                    <a:lumMod val="75000"/>
                    <a:lumOff val="25000"/>
                  </a:schemeClr>
                </a:solidFill>
              </a:rPr>
              <a:t>IT project team members often have diverse backgrounds and skill sets</a:t>
            </a:r>
          </a:p>
          <a:p>
            <a:pPr eaLnBrk="1" fontAlgn="auto" hangingPunct="1">
              <a:spcAft>
                <a:spcPts val="0"/>
              </a:spcAft>
              <a:buFont typeface="Wingdings 3" charset="2"/>
              <a:buChar char=""/>
              <a:defRPr/>
            </a:pPr>
            <a:r>
              <a:rPr lang="en-US" sz="2800" dirty="0" smtClean="0">
                <a:solidFill>
                  <a:schemeClr val="tx1">
                    <a:lumMod val="75000"/>
                    <a:lumOff val="25000"/>
                  </a:schemeClr>
                </a:solidFill>
              </a:rPr>
              <a:t>IT projects use diverse technologies that change rapidly.  Even within one technology area, people must be highly specialized</a:t>
            </a:r>
          </a:p>
        </p:txBody>
      </p:sp>
      <p:sp>
        <p:nvSpPr>
          <p:cNvPr id="29700" name="Footer Placeholder 3"/>
          <p:cNvSpPr>
            <a:spLocks noGrp="1"/>
          </p:cNvSpPr>
          <p:nvPr>
            <p:ph type="ftr" sz="quarter" idx="11"/>
          </p:nvPr>
        </p:nvSpPr>
        <p:spPr bwMode="auto">
          <a:xfrm>
            <a:off x="6053138" y="6042025"/>
            <a:ext cx="3090862"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algn="r" fontAlgn="base">
              <a:spcBef>
                <a:spcPct val="0"/>
              </a:spcBef>
              <a:spcAft>
                <a:spcPct val="0"/>
              </a:spcAft>
              <a:defRPr/>
            </a:pPr>
            <a:r>
              <a:rPr lang="en-US" altLang="en-US" dirty="0" smtClean="0">
                <a:solidFill>
                  <a:srgbClr val="898989"/>
                </a:solidFill>
              </a:rPr>
              <a:t>Information Technology Project Management, Eighth Edition</a:t>
            </a:r>
          </a:p>
        </p:txBody>
      </p:sp>
      <p:sp>
        <p:nvSpPr>
          <p:cNvPr id="29701"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DF0FE02F-606F-4773-AE76-0185A4922639}" type="slidenum">
              <a:rPr lang="en-US" altLang="en-US">
                <a:solidFill>
                  <a:srgbClr val="898989"/>
                </a:solidFill>
              </a:rPr>
              <a:pPr algn="l" eaLnBrk="1" hangingPunct="1">
                <a:spcBef>
                  <a:spcPct val="0"/>
                </a:spcBef>
                <a:buClrTx/>
                <a:buSzTx/>
                <a:buFontTx/>
                <a:buNone/>
              </a:pPr>
              <a:t>2</a:t>
            </a:fld>
            <a:endParaRPr lang="en-US" altLang="en-US">
              <a:solidFill>
                <a:srgbClr val="898989"/>
              </a:solidFill>
            </a:endParaRPr>
          </a:p>
        </p:txBody>
      </p:sp>
    </p:spTree>
    <p:extLst>
      <p:ext uri="{BB962C8B-B14F-4D97-AF65-F5344CB8AC3E}">
        <p14:creationId xmlns:p14="http://schemas.microsoft.com/office/powerpoint/2010/main" val="30574048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itle 2"/>
          <p:cNvSpPr>
            <a:spLocks noGrp="1"/>
          </p:cNvSpPr>
          <p:nvPr>
            <p:ph type="title"/>
          </p:nvPr>
        </p:nvSpPr>
        <p:spPr>
          <a:xfrm>
            <a:off x="1763688" y="269875"/>
            <a:ext cx="6446837" cy="1320800"/>
          </a:xfrm>
        </p:spPr>
        <p:txBody>
          <a:bodyPr/>
          <a:lstStyle/>
          <a:p>
            <a:pPr eaLnBrk="1" hangingPunct="1"/>
            <a:r>
              <a:rPr lang="en-US" altLang="en-US" dirty="0" smtClean="0"/>
              <a:t>Recent Trends Affecting IT Project Management</a:t>
            </a:r>
          </a:p>
        </p:txBody>
      </p:sp>
      <p:sp>
        <p:nvSpPr>
          <p:cNvPr id="2" name="Content Placeholder 1"/>
          <p:cNvSpPr>
            <a:spLocks noGrp="1"/>
          </p:cNvSpPr>
          <p:nvPr>
            <p:ph idx="1"/>
          </p:nvPr>
        </p:nvSpPr>
        <p:spPr>
          <a:xfrm>
            <a:off x="1365432" y="1610199"/>
            <a:ext cx="6286500" cy="4525962"/>
          </a:xfrm>
        </p:spPr>
        <p:txBody>
          <a:bodyPr rtlCol="0">
            <a:normAutofit fontScale="85000" lnSpcReduction="20000"/>
          </a:bodyPr>
          <a:lstStyle/>
          <a:p>
            <a:pPr eaLnBrk="1" fontAlgn="auto" hangingPunct="1">
              <a:spcAft>
                <a:spcPts val="0"/>
              </a:spcAft>
              <a:buFont typeface="Wingdings 3" charset="2"/>
              <a:buChar char=""/>
              <a:defRPr/>
            </a:pPr>
            <a:r>
              <a:rPr lang="en-US" sz="2800" dirty="0">
                <a:solidFill>
                  <a:schemeClr val="tx1">
                    <a:lumMod val="75000"/>
                    <a:lumOff val="25000"/>
                  </a:schemeClr>
                </a:solidFill>
              </a:rPr>
              <a:t>Globalization</a:t>
            </a:r>
          </a:p>
          <a:p>
            <a:pPr eaLnBrk="1" fontAlgn="auto" hangingPunct="1">
              <a:spcAft>
                <a:spcPts val="0"/>
              </a:spcAft>
              <a:buFont typeface="Wingdings 3" charset="2"/>
              <a:buChar char=""/>
              <a:defRPr/>
            </a:pPr>
            <a:r>
              <a:rPr lang="en-US" sz="2800" dirty="0">
                <a:solidFill>
                  <a:schemeClr val="tx1">
                    <a:lumMod val="75000"/>
                    <a:lumOff val="25000"/>
                  </a:schemeClr>
                </a:solidFill>
              </a:rPr>
              <a:t>Outsourcing: </a:t>
            </a:r>
            <a:r>
              <a:rPr lang="en-US" sz="2800" b="1" dirty="0">
                <a:solidFill>
                  <a:schemeClr val="tx1">
                    <a:lumMod val="75000"/>
                    <a:lumOff val="25000"/>
                  </a:schemeClr>
                </a:solidFill>
              </a:rPr>
              <a:t>Outsourcing</a:t>
            </a:r>
            <a:r>
              <a:rPr lang="en-US" sz="2800" dirty="0">
                <a:solidFill>
                  <a:schemeClr val="tx1">
                    <a:lumMod val="75000"/>
                    <a:lumOff val="25000"/>
                  </a:schemeClr>
                </a:solidFill>
              </a:rPr>
              <a:t> is when an organization acquires goods and/or sources from an outside source. </a:t>
            </a:r>
            <a:r>
              <a:rPr lang="en-US" sz="2800" b="1" dirty="0">
                <a:solidFill>
                  <a:schemeClr val="tx1">
                    <a:lumMod val="75000"/>
                    <a:lumOff val="25000"/>
                  </a:schemeClr>
                </a:solidFill>
              </a:rPr>
              <a:t>Offshoring</a:t>
            </a:r>
            <a:r>
              <a:rPr lang="en-US" sz="2800" dirty="0">
                <a:solidFill>
                  <a:schemeClr val="tx1">
                    <a:lumMod val="75000"/>
                    <a:lumOff val="25000"/>
                  </a:schemeClr>
                </a:solidFill>
              </a:rPr>
              <a:t> is sometimes used to describe outsourcing from another country</a:t>
            </a:r>
          </a:p>
          <a:p>
            <a:pPr eaLnBrk="1" fontAlgn="auto" hangingPunct="1">
              <a:spcAft>
                <a:spcPts val="0"/>
              </a:spcAft>
              <a:buFont typeface="Wingdings 3" charset="2"/>
              <a:buChar char=""/>
              <a:defRPr/>
            </a:pPr>
            <a:r>
              <a:rPr lang="en-US" sz="2800" dirty="0">
                <a:solidFill>
                  <a:schemeClr val="tx1">
                    <a:lumMod val="75000"/>
                    <a:lumOff val="25000"/>
                  </a:schemeClr>
                </a:solidFill>
              </a:rPr>
              <a:t>Virtual teams: A </a:t>
            </a:r>
            <a:r>
              <a:rPr lang="en-US" sz="2800" b="1" dirty="0">
                <a:solidFill>
                  <a:schemeClr val="tx1">
                    <a:lumMod val="75000"/>
                    <a:lumOff val="25000"/>
                  </a:schemeClr>
                </a:solidFill>
              </a:rPr>
              <a:t>virtual te</a:t>
            </a:r>
            <a:r>
              <a:rPr lang="en-US" sz="2800" dirty="0">
                <a:solidFill>
                  <a:schemeClr val="tx1">
                    <a:lumMod val="75000"/>
                    <a:lumOff val="25000"/>
                  </a:schemeClr>
                </a:solidFill>
              </a:rPr>
              <a:t>am is a group of individuals who work across time and space using communication technologies</a:t>
            </a:r>
          </a:p>
          <a:p>
            <a:pPr eaLnBrk="1" fontAlgn="auto" hangingPunct="1">
              <a:spcAft>
                <a:spcPts val="0"/>
              </a:spcAft>
              <a:buFont typeface="Wingdings 3" charset="2"/>
              <a:buChar char=""/>
              <a:defRPr/>
            </a:pPr>
            <a:r>
              <a:rPr lang="en-US" sz="2800" dirty="0" smtClean="0">
                <a:solidFill>
                  <a:schemeClr val="tx1">
                    <a:lumMod val="75000"/>
                    <a:lumOff val="25000"/>
                  </a:schemeClr>
                </a:solidFill>
              </a:rPr>
              <a:t>Plan-Driven management &amp; Agile </a:t>
            </a:r>
            <a:r>
              <a:rPr lang="en-US" sz="2800" dirty="0">
                <a:solidFill>
                  <a:schemeClr val="tx1">
                    <a:lumMod val="75000"/>
                    <a:lumOff val="25000"/>
                  </a:schemeClr>
                </a:solidFill>
              </a:rPr>
              <a:t>project management</a:t>
            </a:r>
          </a:p>
          <a:p>
            <a:pPr eaLnBrk="1" fontAlgn="auto" hangingPunct="1">
              <a:spcAft>
                <a:spcPts val="0"/>
              </a:spcAft>
              <a:buFont typeface="Wingdings 3" charset="2"/>
              <a:buChar char=""/>
              <a:defRPr/>
            </a:pPr>
            <a:endParaRPr lang="en-US" dirty="0" smtClean="0">
              <a:solidFill>
                <a:schemeClr val="tx1">
                  <a:lumMod val="75000"/>
                  <a:lumOff val="25000"/>
                </a:schemeClr>
              </a:solidFill>
            </a:endParaRPr>
          </a:p>
          <a:p>
            <a:pPr eaLnBrk="1" fontAlgn="auto" hangingPunct="1">
              <a:spcAft>
                <a:spcPts val="0"/>
              </a:spcAft>
              <a:buFont typeface="Wingdings 3" charset="2"/>
              <a:buChar char=""/>
              <a:defRPr/>
            </a:pPr>
            <a:endParaRPr lang="en-US" dirty="0" smtClean="0">
              <a:solidFill>
                <a:schemeClr val="tx1">
                  <a:lumMod val="75000"/>
                  <a:lumOff val="25000"/>
                </a:schemeClr>
              </a:solidFill>
            </a:endParaRPr>
          </a:p>
          <a:p>
            <a:pPr eaLnBrk="1" fontAlgn="auto" hangingPunct="1">
              <a:spcAft>
                <a:spcPts val="0"/>
              </a:spcAft>
              <a:buFont typeface="Wingdings 3" charset="2"/>
              <a:buChar char=""/>
              <a:defRPr/>
            </a:pPr>
            <a:endParaRPr lang="en-US" dirty="0">
              <a:solidFill>
                <a:schemeClr val="tx1">
                  <a:lumMod val="75000"/>
                  <a:lumOff val="25000"/>
                </a:schemeClr>
              </a:solidFill>
            </a:endParaRPr>
          </a:p>
        </p:txBody>
      </p:sp>
      <p:sp>
        <p:nvSpPr>
          <p:cNvPr id="30725"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1EC07553-BF79-4C22-8BE3-063CD0BA3F82}" type="slidenum">
              <a:rPr lang="en-US" altLang="en-US">
                <a:solidFill>
                  <a:srgbClr val="898989"/>
                </a:solidFill>
              </a:rPr>
              <a:pPr algn="l" eaLnBrk="1" hangingPunct="1">
                <a:spcBef>
                  <a:spcPct val="0"/>
                </a:spcBef>
                <a:buClrTx/>
                <a:buSzTx/>
                <a:buFontTx/>
                <a:buNone/>
              </a:pPr>
              <a:t>3</a:t>
            </a:fld>
            <a:endParaRPr lang="en-US" altLang="en-US">
              <a:solidFill>
                <a:srgbClr val="898989"/>
              </a:solidFill>
            </a:endParaRPr>
          </a:p>
        </p:txBody>
      </p:sp>
    </p:spTree>
    <p:extLst>
      <p:ext uri="{BB962C8B-B14F-4D97-AF65-F5344CB8AC3E}">
        <p14:creationId xmlns:p14="http://schemas.microsoft.com/office/powerpoint/2010/main" val="32930447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a:xfrm>
            <a:off x="485775" y="196850"/>
            <a:ext cx="8189913" cy="784225"/>
          </a:xfrm>
        </p:spPr>
        <p:txBody>
          <a:bodyPr rtlCol="0">
            <a:normAutofit fontScale="90000"/>
          </a:bodyPr>
          <a:lstStyle/>
          <a:p>
            <a:pPr eaLnBrk="1" fontAlgn="auto" hangingPunct="1">
              <a:spcAft>
                <a:spcPts val="0"/>
              </a:spcAft>
              <a:defRPr/>
            </a:pPr>
            <a:r>
              <a:rPr lang="en-US" dirty="0" smtClean="0"/>
              <a:t>Project Phases and the Project Life Cycle</a:t>
            </a:r>
          </a:p>
        </p:txBody>
      </p:sp>
      <p:sp>
        <p:nvSpPr>
          <p:cNvPr id="26629" name="Rectangle 3"/>
          <p:cNvSpPr>
            <a:spLocks noGrp="1" noChangeArrowheads="1"/>
          </p:cNvSpPr>
          <p:nvPr>
            <p:ph idx="1"/>
          </p:nvPr>
        </p:nvSpPr>
        <p:spPr>
          <a:xfrm>
            <a:off x="539750" y="981075"/>
            <a:ext cx="6869113" cy="5046663"/>
          </a:xfrm>
        </p:spPr>
        <p:txBody>
          <a:bodyPr rtlCol="0">
            <a:normAutofit/>
          </a:bodyPr>
          <a:lstStyle/>
          <a:p>
            <a:pPr eaLnBrk="1" fontAlgn="auto" hangingPunct="1">
              <a:lnSpc>
                <a:spcPct val="90000"/>
              </a:lnSpc>
              <a:spcAft>
                <a:spcPts val="0"/>
              </a:spcAft>
              <a:buFont typeface="Wingdings 3" charset="2"/>
              <a:buChar char=""/>
              <a:defRPr/>
            </a:pPr>
            <a:r>
              <a:rPr lang="en-US" sz="2800" dirty="0" smtClean="0">
                <a:solidFill>
                  <a:schemeClr val="tx1">
                    <a:lumMod val="75000"/>
                    <a:lumOff val="25000"/>
                  </a:schemeClr>
                </a:solidFill>
              </a:rPr>
              <a:t>A </a:t>
            </a:r>
            <a:r>
              <a:rPr lang="en-US" sz="2800" b="1" dirty="0" smtClean="0">
                <a:solidFill>
                  <a:schemeClr val="tx1">
                    <a:lumMod val="75000"/>
                    <a:lumOff val="25000"/>
                  </a:schemeClr>
                </a:solidFill>
              </a:rPr>
              <a:t>project life cycle</a:t>
            </a:r>
            <a:r>
              <a:rPr lang="en-US" sz="2800" dirty="0" smtClean="0">
                <a:solidFill>
                  <a:schemeClr val="tx1">
                    <a:lumMod val="75000"/>
                    <a:lumOff val="25000"/>
                  </a:schemeClr>
                </a:solidFill>
              </a:rPr>
              <a:t> is a collection of project phases that defines</a:t>
            </a:r>
          </a:p>
          <a:p>
            <a:pPr lvl="1" eaLnBrk="1" fontAlgn="auto" hangingPunct="1">
              <a:lnSpc>
                <a:spcPct val="90000"/>
              </a:lnSpc>
              <a:spcAft>
                <a:spcPts val="0"/>
              </a:spcAft>
              <a:buFont typeface="Wingdings 3" charset="2"/>
              <a:buChar char=""/>
              <a:defRPr/>
            </a:pPr>
            <a:r>
              <a:rPr lang="en-US" sz="2400" dirty="0" smtClean="0">
                <a:solidFill>
                  <a:schemeClr val="tx1">
                    <a:lumMod val="75000"/>
                    <a:lumOff val="25000"/>
                  </a:schemeClr>
                </a:solidFill>
              </a:rPr>
              <a:t>what work will be performed in each phase</a:t>
            </a:r>
          </a:p>
          <a:p>
            <a:pPr lvl="1" eaLnBrk="1" fontAlgn="auto" hangingPunct="1">
              <a:lnSpc>
                <a:spcPct val="90000"/>
              </a:lnSpc>
              <a:spcAft>
                <a:spcPts val="0"/>
              </a:spcAft>
              <a:buFont typeface="Wingdings 3" charset="2"/>
              <a:buChar char=""/>
              <a:defRPr/>
            </a:pPr>
            <a:r>
              <a:rPr lang="en-US" sz="2400" dirty="0" smtClean="0">
                <a:solidFill>
                  <a:schemeClr val="tx1">
                    <a:lumMod val="75000"/>
                    <a:lumOff val="25000"/>
                  </a:schemeClr>
                </a:solidFill>
              </a:rPr>
              <a:t>what deliverables will be produced and when</a:t>
            </a:r>
          </a:p>
          <a:p>
            <a:pPr lvl="1" eaLnBrk="1" fontAlgn="auto" hangingPunct="1">
              <a:lnSpc>
                <a:spcPct val="90000"/>
              </a:lnSpc>
              <a:spcAft>
                <a:spcPts val="0"/>
              </a:spcAft>
              <a:buFont typeface="Wingdings 3" charset="2"/>
              <a:buChar char=""/>
              <a:defRPr/>
            </a:pPr>
            <a:r>
              <a:rPr lang="en-US" sz="2400" dirty="0" smtClean="0">
                <a:solidFill>
                  <a:schemeClr val="tx1">
                    <a:lumMod val="75000"/>
                    <a:lumOff val="25000"/>
                  </a:schemeClr>
                </a:solidFill>
              </a:rPr>
              <a:t>who is involved in each phase, and </a:t>
            </a:r>
          </a:p>
          <a:p>
            <a:pPr lvl="1" eaLnBrk="1" fontAlgn="auto" hangingPunct="1">
              <a:lnSpc>
                <a:spcPct val="90000"/>
              </a:lnSpc>
              <a:spcAft>
                <a:spcPts val="0"/>
              </a:spcAft>
              <a:buFont typeface="Wingdings 3" charset="2"/>
              <a:buChar char=""/>
              <a:defRPr/>
            </a:pPr>
            <a:r>
              <a:rPr lang="en-US" sz="2400" dirty="0" smtClean="0">
                <a:solidFill>
                  <a:schemeClr val="tx1">
                    <a:lumMod val="75000"/>
                    <a:lumOff val="25000"/>
                  </a:schemeClr>
                </a:solidFill>
              </a:rPr>
              <a:t>how management will control and approve work produced in each phase</a:t>
            </a:r>
          </a:p>
          <a:p>
            <a:pPr eaLnBrk="1" fontAlgn="auto" hangingPunct="1">
              <a:lnSpc>
                <a:spcPct val="90000"/>
              </a:lnSpc>
              <a:spcAft>
                <a:spcPts val="0"/>
              </a:spcAft>
              <a:buFont typeface="Wingdings 3" charset="2"/>
              <a:buChar char=""/>
              <a:defRPr/>
            </a:pPr>
            <a:r>
              <a:rPr lang="en-US" sz="2800" dirty="0" smtClean="0">
                <a:solidFill>
                  <a:schemeClr val="tx1">
                    <a:lumMod val="75000"/>
                    <a:lumOff val="25000"/>
                  </a:schemeClr>
                </a:solidFill>
              </a:rPr>
              <a:t>A </a:t>
            </a:r>
            <a:r>
              <a:rPr lang="en-US" sz="2800" b="1" dirty="0" smtClean="0">
                <a:solidFill>
                  <a:schemeClr val="tx1">
                    <a:lumMod val="75000"/>
                    <a:lumOff val="25000"/>
                  </a:schemeClr>
                </a:solidFill>
              </a:rPr>
              <a:t>deliverable</a:t>
            </a:r>
            <a:r>
              <a:rPr lang="en-US" sz="2800" dirty="0" smtClean="0">
                <a:solidFill>
                  <a:schemeClr val="tx1">
                    <a:lumMod val="75000"/>
                    <a:lumOff val="25000"/>
                  </a:schemeClr>
                </a:solidFill>
              </a:rPr>
              <a:t> is a product or service produced or provided as part of a project</a:t>
            </a:r>
          </a:p>
          <a:p>
            <a:pPr eaLnBrk="1" fontAlgn="auto" hangingPunct="1">
              <a:lnSpc>
                <a:spcPct val="90000"/>
              </a:lnSpc>
              <a:spcAft>
                <a:spcPts val="0"/>
              </a:spcAft>
              <a:buFont typeface="Wingdings 3" charset="2"/>
              <a:buChar char=""/>
              <a:defRPr/>
            </a:pPr>
            <a:r>
              <a:rPr lang="en-GB" altLang="en-US" sz="2800" dirty="0"/>
              <a:t>The Software Development Process is often also called The Software Lifecycle or just simply The Software Process.</a:t>
            </a:r>
          </a:p>
          <a:p>
            <a:pPr eaLnBrk="1" fontAlgn="auto" hangingPunct="1">
              <a:lnSpc>
                <a:spcPct val="90000"/>
              </a:lnSpc>
              <a:spcAft>
                <a:spcPts val="0"/>
              </a:spcAft>
              <a:buFont typeface="Wingdings 3" charset="2"/>
              <a:buChar char=""/>
              <a:defRPr/>
            </a:pPr>
            <a:endParaRPr lang="en-US" sz="3200" dirty="0" smtClean="0">
              <a:solidFill>
                <a:schemeClr val="tx1">
                  <a:lumMod val="75000"/>
                  <a:lumOff val="25000"/>
                </a:schemeClr>
              </a:solidFill>
            </a:endParaRPr>
          </a:p>
          <a:p>
            <a:pPr eaLnBrk="1" fontAlgn="auto" hangingPunct="1">
              <a:lnSpc>
                <a:spcPct val="90000"/>
              </a:lnSpc>
              <a:spcAft>
                <a:spcPts val="0"/>
              </a:spcAft>
              <a:buFont typeface="Wingdings 3" charset="2"/>
              <a:buChar char=""/>
              <a:defRPr/>
            </a:pPr>
            <a:endParaRPr lang="en-US" dirty="0" smtClean="0">
              <a:solidFill>
                <a:schemeClr val="tx1">
                  <a:lumMod val="75000"/>
                  <a:lumOff val="25000"/>
                </a:schemeClr>
              </a:solidFill>
            </a:endParaRPr>
          </a:p>
        </p:txBody>
      </p:sp>
      <p:sp>
        <p:nvSpPr>
          <p:cNvPr id="20485"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64B16EC1-BB9E-4F95-8448-B380675C78C2}" type="slidenum">
              <a:rPr lang="en-US" altLang="en-US">
                <a:solidFill>
                  <a:srgbClr val="898989"/>
                </a:solidFill>
              </a:rPr>
              <a:pPr algn="l" eaLnBrk="1" hangingPunct="1">
                <a:spcBef>
                  <a:spcPct val="0"/>
                </a:spcBef>
                <a:buClrTx/>
                <a:buSzTx/>
                <a:buFontTx/>
                <a:buNone/>
              </a:pPr>
              <a:t>4</a:t>
            </a:fld>
            <a:endParaRPr lang="en-US" altLang="en-US">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687641" y="260648"/>
            <a:ext cx="6446838" cy="1320800"/>
          </a:xfrm>
        </p:spPr>
        <p:txBody>
          <a:bodyPr/>
          <a:lstStyle/>
          <a:p>
            <a:pPr eaLnBrk="1" hangingPunct="1"/>
            <a:r>
              <a:rPr lang="en-US" altLang="en-US" dirty="0" smtClean="0"/>
              <a:t>More on Project Phases</a:t>
            </a:r>
          </a:p>
        </p:txBody>
      </p:sp>
      <p:sp>
        <p:nvSpPr>
          <p:cNvPr id="27653" name="Rectangle 3"/>
          <p:cNvSpPr>
            <a:spLocks noGrp="1" noChangeArrowheads="1"/>
          </p:cNvSpPr>
          <p:nvPr>
            <p:ph idx="1"/>
          </p:nvPr>
        </p:nvSpPr>
        <p:spPr>
          <a:xfrm>
            <a:off x="320675" y="1124744"/>
            <a:ext cx="7059613" cy="4949031"/>
          </a:xfrm>
        </p:spPr>
        <p:txBody>
          <a:bodyPr rtlCol="0">
            <a:normAutofit fontScale="92500" lnSpcReduction="10000"/>
          </a:bodyPr>
          <a:lstStyle/>
          <a:p>
            <a:pPr eaLnBrk="1" fontAlgn="auto" hangingPunct="1">
              <a:lnSpc>
                <a:spcPct val="90000"/>
              </a:lnSpc>
              <a:spcAft>
                <a:spcPts val="0"/>
              </a:spcAft>
              <a:buFont typeface="Wingdings 3" charset="2"/>
              <a:buChar char=""/>
              <a:defRPr/>
            </a:pPr>
            <a:r>
              <a:rPr lang="en-US" sz="3200" dirty="0" smtClean="0">
                <a:solidFill>
                  <a:schemeClr val="tx1">
                    <a:lumMod val="75000"/>
                    <a:lumOff val="25000"/>
                  </a:schemeClr>
                </a:solidFill>
              </a:rPr>
              <a:t>In early phases of a project life cycle</a:t>
            </a:r>
          </a:p>
          <a:p>
            <a:pPr lvl="1" eaLnBrk="1" fontAlgn="auto" hangingPunct="1">
              <a:lnSpc>
                <a:spcPct val="90000"/>
              </a:lnSpc>
              <a:spcAft>
                <a:spcPts val="0"/>
              </a:spcAft>
              <a:buFont typeface="Wingdings" panose="05000000000000000000" pitchFamily="2" charset="2"/>
              <a:buChar char="§"/>
              <a:defRPr/>
            </a:pPr>
            <a:r>
              <a:rPr lang="en-US" sz="2800" dirty="0" smtClean="0">
                <a:solidFill>
                  <a:schemeClr val="tx1">
                    <a:lumMod val="75000"/>
                    <a:lumOff val="25000"/>
                  </a:schemeClr>
                </a:solidFill>
              </a:rPr>
              <a:t>resource needs are usually lowest</a:t>
            </a:r>
          </a:p>
          <a:p>
            <a:pPr lvl="1" eaLnBrk="1" fontAlgn="auto" hangingPunct="1">
              <a:lnSpc>
                <a:spcPct val="90000"/>
              </a:lnSpc>
              <a:spcAft>
                <a:spcPts val="0"/>
              </a:spcAft>
              <a:buFont typeface="Wingdings" panose="05000000000000000000" pitchFamily="2" charset="2"/>
              <a:buChar char="§"/>
              <a:defRPr/>
            </a:pPr>
            <a:r>
              <a:rPr lang="en-US" sz="2800" dirty="0" smtClean="0">
                <a:solidFill>
                  <a:schemeClr val="tx1">
                    <a:lumMod val="75000"/>
                    <a:lumOff val="25000"/>
                  </a:schemeClr>
                </a:solidFill>
              </a:rPr>
              <a:t>the level of uncertainty (risk) is highest</a:t>
            </a:r>
          </a:p>
          <a:p>
            <a:pPr lvl="1" eaLnBrk="1" fontAlgn="auto" hangingPunct="1">
              <a:lnSpc>
                <a:spcPct val="90000"/>
              </a:lnSpc>
              <a:spcAft>
                <a:spcPts val="0"/>
              </a:spcAft>
              <a:buFont typeface="Wingdings" panose="05000000000000000000" pitchFamily="2" charset="2"/>
              <a:buChar char="§"/>
              <a:defRPr/>
            </a:pPr>
            <a:r>
              <a:rPr lang="en-US" sz="2800" dirty="0" smtClean="0">
                <a:solidFill>
                  <a:schemeClr val="tx1">
                    <a:lumMod val="75000"/>
                    <a:lumOff val="25000"/>
                  </a:schemeClr>
                </a:solidFill>
              </a:rPr>
              <a:t>project stakeholders have the greatest opportunity to influence the project</a:t>
            </a:r>
          </a:p>
          <a:p>
            <a:pPr eaLnBrk="1" fontAlgn="auto" hangingPunct="1">
              <a:lnSpc>
                <a:spcPct val="90000"/>
              </a:lnSpc>
              <a:spcAft>
                <a:spcPts val="0"/>
              </a:spcAft>
              <a:buFont typeface="Wingdings 3" charset="2"/>
              <a:buChar char=""/>
              <a:defRPr/>
            </a:pPr>
            <a:r>
              <a:rPr lang="en-US" sz="3200" dirty="0" smtClean="0">
                <a:solidFill>
                  <a:schemeClr val="tx1">
                    <a:lumMod val="75000"/>
                    <a:lumOff val="25000"/>
                  </a:schemeClr>
                </a:solidFill>
              </a:rPr>
              <a:t>In middle phases of a project life cycle</a:t>
            </a:r>
          </a:p>
          <a:p>
            <a:pPr lvl="1" eaLnBrk="1" fontAlgn="auto" hangingPunct="1">
              <a:lnSpc>
                <a:spcPct val="90000"/>
              </a:lnSpc>
              <a:spcAft>
                <a:spcPts val="0"/>
              </a:spcAft>
              <a:buFont typeface="Wingdings" panose="05000000000000000000" pitchFamily="2" charset="2"/>
              <a:buChar char="§"/>
              <a:defRPr/>
            </a:pPr>
            <a:r>
              <a:rPr lang="en-US" sz="2800" dirty="0" smtClean="0">
                <a:solidFill>
                  <a:schemeClr val="tx1">
                    <a:lumMod val="75000"/>
                    <a:lumOff val="25000"/>
                  </a:schemeClr>
                </a:solidFill>
              </a:rPr>
              <a:t>the certainty of completing a project improves</a:t>
            </a:r>
          </a:p>
          <a:p>
            <a:pPr lvl="1" eaLnBrk="1" fontAlgn="auto" hangingPunct="1">
              <a:lnSpc>
                <a:spcPct val="90000"/>
              </a:lnSpc>
              <a:spcAft>
                <a:spcPts val="0"/>
              </a:spcAft>
              <a:buFont typeface="Wingdings" panose="05000000000000000000" pitchFamily="2" charset="2"/>
              <a:buChar char="§"/>
              <a:defRPr/>
            </a:pPr>
            <a:r>
              <a:rPr lang="en-US" sz="2800" dirty="0" smtClean="0">
                <a:solidFill>
                  <a:schemeClr val="tx1">
                    <a:lumMod val="75000"/>
                    <a:lumOff val="25000"/>
                  </a:schemeClr>
                </a:solidFill>
              </a:rPr>
              <a:t>more resources are needed</a:t>
            </a:r>
          </a:p>
          <a:p>
            <a:pPr eaLnBrk="1" fontAlgn="auto" hangingPunct="1">
              <a:lnSpc>
                <a:spcPct val="90000"/>
              </a:lnSpc>
              <a:spcAft>
                <a:spcPts val="0"/>
              </a:spcAft>
              <a:buFont typeface="Wingdings 3" charset="2"/>
              <a:buChar char=""/>
              <a:defRPr/>
            </a:pPr>
            <a:r>
              <a:rPr lang="en-US" sz="3200" dirty="0" smtClean="0">
                <a:solidFill>
                  <a:schemeClr val="tx1">
                    <a:lumMod val="75000"/>
                    <a:lumOff val="25000"/>
                  </a:schemeClr>
                </a:solidFill>
              </a:rPr>
              <a:t>The final phase of a project life cycle focuses on</a:t>
            </a:r>
          </a:p>
          <a:p>
            <a:pPr lvl="1" eaLnBrk="1" fontAlgn="auto" hangingPunct="1">
              <a:lnSpc>
                <a:spcPct val="90000"/>
              </a:lnSpc>
              <a:spcAft>
                <a:spcPts val="0"/>
              </a:spcAft>
              <a:buFont typeface="Wingdings" panose="05000000000000000000" pitchFamily="2" charset="2"/>
              <a:buChar char="§"/>
              <a:defRPr/>
            </a:pPr>
            <a:r>
              <a:rPr lang="en-US" sz="2800" dirty="0" smtClean="0">
                <a:solidFill>
                  <a:schemeClr val="tx1">
                    <a:lumMod val="75000"/>
                    <a:lumOff val="25000"/>
                  </a:schemeClr>
                </a:solidFill>
              </a:rPr>
              <a:t>ensuring that project requirements were met</a:t>
            </a:r>
          </a:p>
          <a:p>
            <a:pPr lvl="1" eaLnBrk="1" fontAlgn="auto" hangingPunct="1">
              <a:lnSpc>
                <a:spcPct val="90000"/>
              </a:lnSpc>
              <a:spcAft>
                <a:spcPts val="0"/>
              </a:spcAft>
              <a:buFont typeface="Wingdings" panose="05000000000000000000" pitchFamily="2" charset="2"/>
              <a:buChar char="§"/>
              <a:defRPr/>
            </a:pPr>
            <a:r>
              <a:rPr lang="en-US" sz="2800" dirty="0" smtClean="0">
                <a:solidFill>
                  <a:schemeClr val="tx1">
                    <a:lumMod val="75000"/>
                    <a:lumOff val="25000"/>
                  </a:schemeClr>
                </a:solidFill>
              </a:rPr>
              <a:t>the sponsor approves completion of the project</a:t>
            </a:r>
          </a:p>
          <a:p>
            <a:pPr lvl="1" eaLnBrk="1" fontAlgn="auto" hangingPunct="1">
              <a:lnSpc>
                <a:spcPct val="90000"/>
              </a:lnSpc>
              <a:spcAft>
                <a:spcPts val="0"/>
              </a:spcAft>
              <a:buFont typeface="Wingdings 3" charset="2"/>
              <a:buChar char=""/>
              <a:defRPr/>
            </a:pPr>
            <a:endParaRPr lang="en-US" dirty="0" smtClean="0">
              <a:solidFill>
                <a:schemeClr val="tx1">
                  <a:lumMod val="75000"/>
                  <a:lumOff val="25000"/>
                </a:schemeClr>
              </a:solidFill>
            </a:endParaRPr>
          </a:p>
        </p:txBody>
      </p:sp>
      <p:sp>
        <p:nvSpPr>
          <p:cNvPr id="21508" name="Footer Placeholder 3"/>
          <p:cNvSpPr>
            <a:spLocks noGrp="1"/>
          </p:cNvSpPr>
          <p:nvPr>
            <p:ph type="ftr" sz="quarter" idx="11"/>
          </p:nvPr>
        </p:nvSpPr>
        <p:spPr bwMode="auto">
          <a:xfrm>
            <a:off x="5643563" y="6042025"/>
            <a:ext cx="3500437"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algn="r" fontAlgn="base">
              <a:spcBef>
                <a:spcPct val="0"/>
              </a:spcBef>
              <a:spcAft>
                <a:spcPct val="0"/>
              </a:spcAft>
              <a:defRPr/>
            </a:pPr>
            <a:r>
              <a:rPr lang="en-US" altLang="en-US" dirty="0" smtClean="0">
                <a:solidFill>
                  <a:srgbClr val="898989"/>
                </a:solidFill>
              </a:rPr>
              <a:t>Information Technology Project Management, Eighth Edition</a:t>
            </a:r>
          </a:p>
        </p:txBody>
      </p:sp>
      <p:sp>
        <p:nvSpPr>
          <p:cNvPr id="21509"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444324DC-B620-4C25-8CEF-C460F0A275BB}" type="slidenum">
              <a:rPr lang="en-US" altLang="en-US">
                <a:solidFill>
                  <a:srgbClr val="898989"/>
                </a:solidFill>
              </a:rPr>
              <a:pPr algn="l" eaLnBrk="1" hangingPunct="1">
                <a:spcBef>
                  <a:spcPct val="0"/>
                </a:spcBef>
                <a:buClrTx/>
                <a:buSzTx/>
                <a:buFontTx/>
                <a:buNone/>
              </a:pPr>
              <a:t>5</a:t>
            </a:fld>
            <a:endParaRPr lang="en-US" altLang="en-US">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403648" y="180975"/>
            <a:ext cx="7164288" cy="879475"/>
          </a:xfrm>
        </p:spPr>
        <p:txBody>
          <a:bodyPr rtlCol="0">
            <a:noAutofit/>
          </a:bodyPr>
          <a:lstStyle/>
          <a:p>
            <a:pPr eaLnBrk="1" fontAlgn="auto" hangingPunct="1">
              <a:spcAft>
                <a:spcPts val="0"/>
              </a:spcAft>
              <a:defRPr/>
            </a:pPr>
            <a:r>
              <a:rPr lang="en-US" sz="2800" dirty="0" smtClean="0"/>
              <a:t>Figure 2-1. Phases of the Traditional Project Life Cycle</a:t>
            </a:r>
          </a:p>
        </p:txBody>
      </p:sp>
      <p:sp>
        <p:nvSpPr>
          <p:cNvPr id="22531" name="Footer Placeholder 6"/>
          <p:cNvSpPr>
            <a:spLocks noGrp="1"/>
          </p:cNvSpPr>
          <p:nvPr>
            <p:ph type="ftr" sz="quarter" idx="11"/>
          </p:nvPr>
        </p:nvSpPr>
        <p:spPr bwMode="auto">
          <a:xfrm>
            <a:off x="6461125" y="6492875"/>
            <a:ext cx="268287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algn="r" fontAlgn="base">
              <a:spcBef>
                <a:spcPct val="0"/>
              </a:spcBef>
              <a:spcAft>
                <a:spcPct val="0"/>
              </a:spcAft>
              <a:defRPr/>
            </a:pPr>
            <a:r>
              <a:rPr lang="en-US" altLang="en-US" dirty="0" smtClean="0">
                <a:solidFill>
                  <a:srgbClr val="898989"/>
                </a:solidFill>
              </a:rPr>
              <a:t>Information Technology Project Management, Eighth Edition</a:t>
            </a:r>
          </a:p>
        </p:txBody>
      </p:sp>
      <p:sp>
        <p:nvSpPr>
          <p:cNvPr id="22532" name="Slide Number Placeholder 5"/>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485ED4F3-A004-409C-ADB2-E8232CA3D35B}" type="slidenum">
              <a:rPr lang="en-US" altLang="en-US">
                <a:solidFill>
                  <a:srgbClr val="898989"/>
                </a:solidFill>
              </a:rPr>
              <a:pPr algn="l" eaLnBrk="1" hangingPunct="1">
                <a:spcBef>
                  <a:spcPct val="0"/>
                </a:spcBef>
                <a:buClrTx/>
                <a:buSzTx/>
                <a:buFontTx/>
                <a:buNone/>
              </a:pPr>
              <a:t>6</a:t>
            </a:fld>
            <a:endParaRPr lang="en-US" altLang="en-US">
              <a:solidFill>
                <a:srgbClr val="898989"/>
              </a:solidFill>
            </a:endParaRPr>
          </a:p>
        </p:txBody>
      </p:sp>
      <p:pic>
        <p:nvPicPr>
          <p:cNvPr id="2253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38" y="1060450"/>
            <a:ext cx="7175500"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366712" y="157163"/>
            <a:ext cx="8237736" cy="487362"/>
          </a:xfrm>
        </p:spPr>
        <p:txBody>
          <a:bodyPr rtlCol="0">
            <a:normAutofit fontScale="90000"/>
          </a:bodyPr>
          <a:lstStyle/>
          <a:p>
            <a:pPr eaLnBrk="1" fontAlgn="auto" hangingPunct="1">
              <a:spcAft>
                <a:spcPts val="0"/>
              </a:spcAft>
              <a:defRPr/>
            </a:pPr>
            <a:r>
              <a:rPr lang="en-US" b="1" dirty="0">
                <a:solidFill>
                  <a:schemeClr val="tx1">
                    <a:lumMod val="75000"/>
                    <a:lumOff val="25000"/>
                  </a:schemeClr>
                </a:solidFill>
              </a:rPr>
              <a:t>Systems Development </a:t>
            </a:r>
            <a:r>
              <a:rPr lang="en-US" b="1" dirty="0" smtClean="0">
                <a:solidFill>
                  <a:schemeClr val="tx1">
                    <a:lumMod val="75000"/>
                    <a:lumOff val="25000"/>
                  </a:schemeClr>
                </a:solidFill>
              </a:rPr>
              <a:t>projects</a:t>
            </a:r>
            <a:endParaRPr lang="en-US" dirty="0" smtClean="0"/>
          </a:p>
        </p:txBody>
      </p:sp>
      <p:sp>
        <p:nvSpPr>
          <p:cNvPr id="29701" name="Rectangle 3"/>
          <p:cNvSpPr>
            <a:spLocks noGrp="1" noChangeArrowheads="1"/>
          </p:cNvSpPr>
          <p:nvPr>
            <p:ph idx="1"/>
          </p:nvPr>
        </p:nvSpPr>
        <p:spPr>
          <a:xfrm>
            <a:off x="387351" y="1099038"/>
            <a:ext cx="7191618" cy="4998550"/>
          </a:xfrm>
        </p:spPr>
        <p:txBody>
          <a:bodyPr rtlCol="0">
            <a:normAutofit/>
          </a:bodyPr>
          <a:lstStyle/>
          <a:p>
            <a:pPr eaLnBrk="1" fontAlgn="auto" hangingPunct="1">
              <a:spcAft>
                <a:spcPts val="0"/>
              </a:spcAft>
              <a:buFont typeface="Wingdings 3" charset="2"/>
              <a:buChar char=""/>
              <a:defRPr/>
            </a:pPr>
            <a:r>
              <a:rPr lang="en-US" sz="2800" dirty="0" smtClean="0">
                <a:solidFill>
                  <a:schemeClr val="tx1">
                    <a:lumMod val="75000"/>
                    <a:lumOff val="25000"/>
                  </a:schemeClr>
                </a:solidFill>
              </a:rPr>
              <a:t>Systems development projects can follow </a:t>
            </a:r>
          </a:p>
          <a:p>
            <a:pPr lvl="1" eaLnBrk="1" fontAlgn="auto" hangingPunct="1">
              <a:spcAft>
                <a:spcPts val="0"/>
              </a:spcAft>
              <a:buFont typeface="Wingdings 3" charset="2"/>
              <a:buChar char=""/>
              <a:defRPr/>
            </a:pPr>
            <a:r>
              <a:rPr lang="en-US" sz="2800" b="1" dirty="0" smtClean="0">
                <a:solidFill>
                  <a:schemeClr val="tx1">
                    <a:lumMod val="75000"/>
                    <a:lumOff val="25000"/>
                  </a:schemeClr>
                </a:solidFill>
              </a:rPr>
              <a:t>Predictive life cycle</a:t>
            </a:r>
            <a:r>
              <a:rPr lang="en-US" sz="2800" dirty="0" smtClean="0">
                <a:solidFill>
                  <a:schemeClr val="tx1">
                    <a:lumMod val="75000"/>
                    <a:lumOff val="25000"/>
                  </a:schemeClr>
                </a:solidFill>
              </a:rPr>
              <a:t>: the scope of the project can be clearly articulated and the schedule and cost can be predicted</a:t>
            </a:r>
          </a:p>
          <a:p>
            <a:pPr lvl="1" eaLnBrk="1" fontAlgn="auto" hangingPunct="1">
              <a:spcAft>
                <a:spcPts val="0"/>
              </a:spcAft>
              <a:buFont typeface="Wingdings 3" charset="2"/>
              <a:buChar char=""/>
              <a:defRPr/>
            </a:pPr>
            <a:r>
              <a:rPr lang="en-US" sz="2800" b="1" dirty="0" smtClean="0">
                <a:solidFill>
                  <a:schemeClr val="tx1">
                    <a:lumMod val="75000"/>
                    <a:lumOff val="25000"/>
                  </a:schemeClr>
                </a:solidFill>
              </a:rPr>
              <a:t>Adaptive Software Development (ASD)</a:t>
            </a:r>
            <a:r>
              <a:rPr lang="en-US" sz="2800" dirty="0" smtClean="0">
                <a:solidFill>
                  <a:schemeClr val="tx1">
                    <a:lumMod val="75000"/>
                    <a:lumOff val="25000"/>
                  </a:schemeClr>
                </a:solidFill>
              </a:rPr>
              <a:t> </a:t>
            </a:r>
            <a:r>
              <a:rPr lang="en-US" sz="2800" b="1" dirty="0" smtClean="0">
                <a:solidFill>
                  <a:schemeClr val="tx1">
                    <a:lumMod val="75000"/>
                    <a:lumOff val="25000"/>
                  </a:schemeClr>
                </a:solidFill>
              </a:rPr>
              <a:t>life cycle</a:t>
            </a:r>
            <a:r>
              <a:rPr lang="en-US" sz="2800" dirty="0" smtClean="0">
                <a:solidFill>
                  <a:schemeClr val="tx1">
                    <a:lumMod val="75000"/>
                    <a:lumOff val="25000"/>
                  </a:schemeClr>
                </a:solidFill>
              </a:rPr>
              <a:t>: requirements cannot be clearly expressed, projects are mission driven and component based, using time-based cycles to meet target dates</a:t>
            </a:r>
          </a:p>
          <a:p>
            <a:pPr lvl="1" eaLnBrk="1" fontAlgn="auto" hangingPunct="1">
              <a:spcAft>
                <a:spcPts val="0"/>
              </a:spcAft>
              <a:buFontTx/>
              <a:buNone/>
              <a:defRPr/>
            </a:pPr>
            <a:endParaRPr lang="en-US" dirty="0" smtClean="0">
              <a:solidFill>
                <a:schemeClr val="tx1">
                  <a:lumMod val="75000"/>
                  <a:lumOff val="25000"/>
                </a:schemeClr>
              </a:solidFill>
            </a:endParaRPr>
          </a:p>
        </p:txBody>
      </p:sp>
      <p:sp>
        <p:nvSpPr>
          <p:cNvPr id="23556" name="Footer Placeholder 3"/>
          <p:cNvSpPr>
            <a:spLocks noGrp="1"/>
          </p:cNvSpPr>
          <p:nvPr>
            <p:ph type="ftr" sz="quarter" idx="11"/>
          </p:nvPr>
        </p:nvSpPr>
        <p:spPr bwMode="auto">
          <a:xfrm>
            <a:off x="6207125" y="6188075"/>
            <a:ext cx="293687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algn="r" fontAlgn="base">
              <a:spcBef>
                <a:spcPct val="0"/>
              </a:spcBef>
              <a:spcAft>
                <a:spcPct val="0"/>
              </a:spcAft>
              <a:defRPr/>
            </a:pPr>
            <a:r>
              <a:rPr lang="en-US" altLang="en-US" dirty="0" smtClean="0">
                <a:solidFill>
                  <a:srgbClr val="898989"/>
                </a:solidFill>
              </a:rPr>
              <a:t>Information Technology Project Management, Eighth Edition</a:t>
            </a:r>
          </a:p>
        </p:txBody>
      </p:sp>
      <p:sp>
        <p:nvSpPr>
          <p:cNvPr id="23557"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31147750-0F98-48FE-B64F-EA3EE5D7E30E}" type="slidenum">
              <a:rPr lang="en-US" altLang="en-US">
                <a:solidFill>
                  <a:srgbClr val="898989"/>
                </a:solidFill>
              </a:rPr>
              <a:pPr algn="l" eaLnBrk="1" hangingPunct="1">
                <a:spcBef>
                  <a:spcPct val="0"/>
                </a:spcBef>
                <a:buClrTx/>
                <a:buSzTx/>
                <a:buFontTx/>
                <a:buNone/>
              </a:pPr>
              <a:t>7</a:t>
            </a:fld>
            <a:endParaRPr lang="en-US" altLang="en-US">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517702" y="188640"/>
            <a:ext cx="6167586" cy="684312"/>
          </a:xfrm>
        </p:spPr>
        <p:txBody>
          <a:bodyPr/>
          <a:lstStyle/>
          <a:p>
            <a:pPr eaLnBrk="1" hangingPunct="1"/>
            <a:r>
              <a:rPr lang="en-US" altLang="en-US" dirty="0" smtClean="0"/>
              <a:t>Predictive Life Cycle Models</a:t>
            </a:r>
          </a:p>
        </p:txBody>
      </p:sp>
      <p:sp>
        <p:nvSpPr>
          <p:cNvPr id="30725" name="Rectangle 3"/>
          <p:cNvSpPr>
            <a:spLocks noGrp="1" noChangeArrowheads="1"/>
          </p:cNvSpPr>
          <p:nvPr>
            <p:ph idx="1"/>
          </p:nvPr>
        </p:nvSpPr>
        <p:spPr>
          <a:xfrm>
            <a:off x="280988" y="1052513"/>
            <a:ext cx="7315200" cy="4968875"/>
          </a:xfrm>
        </p:spPr>
        <p:txBody>
          <a:bodyPr rtlCol="0">
            <a:normAutofit fontScale="85000" lnSpcReduction="20000"/>
          </a:bodyPr>
          <a:lstStyle/>
          <a:p>
            <a:pPr eaLnBrk="1" fontAlgn="auto" hangingPunct="1">
              <a:lnSpc>
                <a:spcPct val="90000"/>
              </a:lnSpc>
              <a:spcAft>
                <a:spcPts val="0"/>
              </a:spcAft>
              <a:buFont typeface="Wingdings 3" charset="2"/>
              <a:buChar char=""/>
              <a:defRPr/>
            </a:pPr>
            <a:r>
              <a:rPr lang="en-GB" sz="2800" b="1" dirty="0">
                <a:solidFill>
                  <a:schemeClr val="tx1">
                    <a:lumMod val="75000"/>
                    <a:lumOff val="25000"/>
                  </a:schemeClr>
                </a:solidFill>
              </a:rPr>
              <a:t>NETWORK</a:t>
            </a:r>
            <a:r>
              <a:rPr lang="en-GB" sz="2800" dirty="0">
                <a:solidFill>
                  <a:schemeClr val="tx1">
                    <a:lumMod val="75000"/>
                    <a:lumOff val="25000"/>
                  </a:schemeClr>
                </a:solidFill>
              </a:rPr>
              <a:t> DESIGN </a:t>
            </a:r>
            <a:r>
              <a:rPr lang="en-GB" sz="2800" dirty="0" smtClean="0">
                <a:solidFill>
                  <a:schemeClr val="tx1">
                    <a:lumMod val="75000"/>
                    <a:lumOff val="25000"/>
                  </a:schemeClr>
                </a:solidFill>
              </a:rPr>
              <a:t>METHODOLOGY (PPDIOO </a:t>
            </a:r>
            <a:r>
              <a:rPr lang="en-GB" sz="2800" dirty="0">
                <a:solidFill>
                  <a:schemeClr val="tx1">
                    <a:lumMod val="75000"/>
                    <a:lumOff val="25000"/>
                  </a:schemeClr>
                </a:solidFill>
              </a:rPr>
              <a:t>Methodology (Cisco</a:t>
            </a:r>
            <a:r>
              <a:rPr lang="en-GB" sz="2800" dirty="0" smtClean="0">
                <a:solidFill>
                  <a:schemeClr val="tx1">
                    <a:lumMod val="75000"/>
                    <a:lumOff val="25000"/>
                  </a:schemeClr>
                </a:solidFill>
              </a:rPr>
              <a:t>))</a:t>
            </a:r>
            <a:endParaRPr lang="en-GB" sz="2800" dirty="0">
              <a:solidFill>
                <a:schemeClr val="tx1">
                  <a:lumMod val="75000"/>
                  <a:lumOff val="25000"/>
                </a:schemeClr>
              </a:solidFill>
            </a:endParaRPr>
          </a:p>
          <a:p>
            <a:pPr eaLnBrk="1" fontAlgn="auto" hangingPunct="1">
              <a:lnSpc>
                <a:spcPct val="90000"/>
              </a:lnSpc>
              <a:spcAft>
                <a:spcPts val="0"/>
              </a:spcAft>
              <a:buFont typeface="Wingdings 3" charset="2"/>
              <a:buChar char=""/>
              <a:defRPr/>
            </a:pPr>
            <a:r>
              <a:rPr lang="en-US" sz="2800" b="1" dirty="0" smtClean="0">
                <a:solidFill>
                  <a:schemeClr val="tx1">
                    <a:lumMod val="75000"/>
                    <a:lumOff val="25000"/>
                  </a:schemeClr>
                </a:solidFill>
              </a:rPr>
              <a:t>Waterfall </a:t>
            </a:r>
            <a:r>
              <a:rPr lang="en-US" sz="2800" dirty="0" smtClean="0">
                <a:solidFill>
                  <a:schemeClr val="tx1">
                    <a:lumMod val="75000"/>
                    <a:lumOff val="25000"/>
                  </a:schemeClr>
                </a:solidFill>
              </a:rPr>
              <a:t>model: has well-defined, linear stages of systems development and support</a:t>
            </a:r>
          </a:p>
          <a:p>
            <a:pPr eaLnBrk="1" fontAlgn="auto" hangingPunct="1">
              <a:lnSpc>
                <a:spcPct val="90000"/>
              </a:lnSpc>
              <a:spcAft>
                <a:spcPts val="0"/>
              </a:spcAft>
              <a:buFont typeface="Wingdings 3" charset="2"/>
              <a:buChar char=""/>
              <a:defRPr/>
            </a:pPr>
            <a:r>
              <a:rPr lang="en-US" sz="2800" b="1" dirty="0" smtClean="0">
                <a:solidFill>
                  <a:schemeClr val="tx1">
                    <a:lumMod val="75000"/>
                    <a:lumOff val="25000"/>
                  </a:schemeClr>
                </a:solidFill>
              </a:rPr>
              <a:t>Spiral</a:t>
            </a:r>
            <a:r>
              <a:rPr lang="en-US" sz="2800" dirty="0" smtClean="0">
                <a:solidFill>
                  <a:schemeClr val="tx1">
                    <a:lumMod val="75000"/>
                    <a:lumOff val="25000"/>
                  </a:schemeClr>
                </a:solidFill>
              </a:rPr>
              <a:t> model: shows that software is developed using an iterative or spiral approach rather than a linear approach</a:t>
            </a:r>
          </a:p>
          <a:p>
            <a:pPr eaLnBrk="1" fontAlgn="auto" hangingPunct="1">
              <a:lnSpc>
                <a:spcPct val="90000"/>
              </a:lnSpc>
              <a:spcAft>
                <a:spcPts val="0"/>
              </a:spcAft>
              <a:buFont typeface="Wingdings 3" charset="2"/>
              <a:buChar char=""/>
              <a:defRPr/>
            </a:pPr>
            <a:r>
              <a:rPr lang="en-US" sz="2800" b="1" dirty="0" smtClean="0">
                <a:solidFill>
                  <a:schemeClr val="tx1">
                    <a:lumMod val="75000"/>
                    <a:lumOff val="25000"/>
                  </a:schemeClr>
                </a:solidFill>
              </a:rPr>
              <a:t>Incremental</a:t>
            </a:r>
            <a:r>
              <a:rPr lang="en-US" sz="2800" dirty="0" smtClean="0">
                <a:solidFill>
                  <a:schemeClr val="tx1">
                    <a:lumMod val="75000"/>
                    <a:lumOff val="25000"/>
                  </a:schemeClr>
                </a:solidFill>
              </a:rPr>
              <a:t> model: provides for progressive development of operational software</a:t>
            </a:r>
          </a:p>
          <a:p>
            <a:pPr eaLnBrk="1" fontAlgn="auto" hangingPunct="1">
              <a:lnSpc>
                <a:spcPct val="90000"/>
              </a:lnSpc>
              <a:spcAft>
                <a:spcPts val="0"/>
              </a:spcAft>
              <a:buFont typeface="Wingdings 3" charset="2"/>
              <a:buChar char=""/>
              <a:defRPr/>
            </a:pPr>
            <a:r>
              <a:rPr lang="en-US" sz="2800" b="1" dirty="0" smtClean="0">
                <a:solidFill>
                  <a:schemeClr val="tx1">
                    <a:lumMod val="75000"/>
                    <a:lumOff val="25000"/>
                  </a:schemeClr>
                </a:solidFill>
              </a:rPr>
              <a:t>Agile</a:t>
            </a:r>
            <a:r>
              <a:rPr lang="en-US" sz="2800" dirty="0" smtClean="0">
                <a:solidFill>
                  <a:schemeClr val="tx1">
                    <a:lumMod val="75000"/>
                    <a:lumOff val="25000"/>
                  </a:schemeClr>
                </a:solidFill>
              </a:rPr>
              <a:t> methods: Scrum, XP, RUP and Lean software development</a:t>
            </a:r>
          </a:p>
          <a:p>
            <a:pPr eaLnBrk="1" fontAlgn="auto" hangingPunct="1">
              <a:lnSpc>
                <a:spcPct val="90000"/>
              </a:lnSpc>
              <a:spcAft>
                <a:spcPts val="0"/>
              </a:spcAft>
              <a:buFont typeface="Wingdings 3" charset="2"/>
              <a:buChar char=""/>
              <a:defRPr/>
            </a:pPr>
            <a:r>
              <a:rPr lang="en-US" sz="2800" b="1" dirty="0" smtClean="0">
                <a:solidFill>
                  <a:schemeClr val="tx1">
                    <a:lumMod val="75000"/>
                    <a:lumOff val="25000"/>
                  </a:schemeClr>
                </a:solidFill>
              </a:rPr>
              <a:t>Prototyping</a:t>
            </a:r>
            <a:r>
              <a:rPr lang="en-US" sz="2800" dirty="0" smtClean="0">
                <a:solidFill>
                  <a:schemeClr val="tx1">
                    <a:lumMod val="75000"/>
                    <a:lumOff val="25000"/>
                  </a:schemeClr>
                </a:solidFill>
              </a:rPr>
              <a:t> model: used for developing prototypes to clarify user requirements</a:t>
            </a:r>
          </a:p>
          <a:p>
            <a:pPr eaLnBrk="1" fontAlgn="auto" hangingPunct="1">
              <a:lnSpc>
                <a:spcPct val="90000"/>
              </a:lnSpc>
              <a:spcAft>
                <a:spcPts val="0"/>
              </a:spcAft>
              <a:buFont typeface="Wingdings 3" charset="2"/>
              <a:buChar char=""/>
              <a:defRPr/>
            </a:pPr>
            <a:r>
              <a:rPr lang="en-US" sz="2800" b="1" dirty="0" smtClean="0">
                <a:solidFill>
                  <a:schemeClr val="tx1">
                    <a:lumMod val="75000"/>
                    <a:lumOff val="25000"/>
                  </a:schemeClr>
                </a:solidFill>
              </a:rPr>
              <a:t>Rapid</a:t>
            </a:r>
            <a:r>
              <a:rPr lang="en-US" sz="2800" dirty="0" smtClean="0">
                <a:solidFill>
                  <a:schemeClr val="tx1">
                    <a:lumMod val="75000"/>
                    <a:lumOff val="25000"/>
                  </a:schemeClr>
                </a:solidFill>
              </a:rPr>
              <a:t> Application Development (RAD) model:  used to produce systems quickly without sacrificing quality</a:t>
            </a:r>
          </a:p>
        </p:txBody>
      </p:sp>
      <p:sp>
        <p:nvSpPr>
          <p:cNvPr id="24580" name="Footer Placeholder 3"/>
          <p:cNvSpPr>
            <a:spLocks noGrp="1"/>
          </p:cNvSpPr>
          <p:nvPr>
            <p:ph type="ftr" sz="quarter" idx="11"/>
          </p:nvPr>
        </p:nvSpPr>
        <p:spPr bwMode="auto">
          <a:xfrm>
            <a:off x="6296025" y="6042025"/>
            <a:ext cx="284797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algn="r" fontAlgn="base">
              <a:spcBef>
                <a:spcPct val="0"/>
              </a:spcBef>
              <a:spcAft>
                <a:spcPct val="0"/>
              </a:spcAft>
              <a:defRPr/>
            </a:pPr>
            <a:r>
              <a:rPr lang="en-US" altLang="en-US" dirty="0" smtClean="0">
                <a:solidFill>
                  <a:srgbClr val="898989"/>
                </a:solidFill>
              </a:rPr>
              <a:t>Information Technology Project Management, Eighth Edition</a:t>
            </a:r>
          </a:p>
        </p:txBody>
      </p:sp>
      <p:sp>
        <p:nvSpPr>
          <p:cNvPr id="24581"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F0DB6039-E6EB-43C9-A3CE-51E3E924FE11}" type="slidenum">
              <a:rPr lang="en-US" altLang="en-US">
                <a:solidFill>
                  <a:srgbClr val="898989"/>
                </a:solidFill>
              </a:rPr>
              <a:pPr algn="l" eaLnBrk="1" hangingPunct="1">
                <a:spcBef>
                  <a:spcPct val="0"/>
                </a:spcBef>
                <a:buClrTx/>
                <a:buSzTx/>
                <a:buFontTx/>
                <a:buNone/>
              </a:pPr>
              <a:t>8</a:t>
            </a:fld>
            <a:endParaRPr lang="en-US" altLang="en-US">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043608" y="1772816"/>
            <a:ext cx="7829550" cy="2160587"/>
          </a:xfrm>
        </p:spPr>
        <p:txBody>
          <a:bodyPr rtlCol="0">
            <a:normAutofit fontScale="77500" lnSpcReduction="20000"/>
          </a:bodyPr>
          <a:lstStyle/>
          <a:p>
            <a:pPr algn="ctr" eaLnBrk="1" fontAlgn="auto" hangingPunct="1">
              <a:spcBef>
                <a:spcPct val="0"/>
              </a:spcBef>
              <a:spcAft>
                <a:spcPts val="0"/>
              </a:spcAft>
              <a:buFont typeface="Wingdings 3" charset="2"/>
              <a:buNone/>
              <a:defRPr/>
            </a:pPr>
            <a:r>
              <a:rPr lang="en-US" sz="4000" b="1" kern="0" dirty="0" smtClean="0">
                <a:solidFill>
                  <a:schemeClr val="accent6">
                    <a:lumMod val="75000"/>
                  </a:schemeClr>
                </a:solidFill>
                <a:latin typeface="Times New Roman"/>
                <a:ea typeface="+mj-ea"/>
                <a:cs typeface="+mj-cs"/>
              </a:rPr>
              <a:t/>
            </a:r>
            <a:br>
              <a:rPr lang="en-US" sz="4000" b="1" kern="0" dirty="0" smtClean="0">
                <a:solidFill>
                  <a:schemeClr val="accent6">
                    <a:lumMod val="75000"/>
                  </a:schemeClr>
                </a:solidFill>
                <a:latin typeface="Times New Roman"/>
                <a:ea typeface="+mj-ea"/>
                <a:cs typeface="+mj-cs"/>
              </a:rPr>
            </a:br>
            <a:r>
              <a:rPr lang="en-US" sz="4000" b="1" kern="0" dirty="0" smtClean="0">
                <a:solidFill>
                  <a:schemeClr val="accent6">
                    <a:lumMod val="75000"/>
                  </a:schemeClr>
                </a:solidFill>
                <a:latin typeface="Times New Roman"/>
                <a:ea typeface="+mj-ea"/>
                <a:cs typeface="+mj-cs"/>
              </a:rPr>
              <a:t>NETWORK DESIGN METHODOLOGY</a:t>
            </a:r>
          </a:p>
          <a:p>
            <a:pPr algn="ctr" eaLnBrk="1" fontAlgn="auto" hangingPunct="1">
              <a:spcBef>
                <a:spcPct val="0"/>
              </a:spcBef>
              <a:spcAft>
                <a:spcPts val="0"/>
              </a:spcAft>
              <a:buFont typeface="Wingdings 3" charset="2"/>
              <a:buNone/>
              <a:defRPr/>
            </a:pPr>
            <a:r>
              <a:rPr lang="en-GB" sz="4000" b="1" kern="0" dirty="0" smtClean="0">
                <a:solidFill>
                  <a:srgbClr val="FF7300"/>
                </a:solidFill>
                <a:latin typeface="Times New Roman"/>
                <a:ea typeface="+mj-ea"/>
                <a:cs typeface="+mj-cs"/>
              </a:rPr>
              <a:t> </a:t>
            </a:r>
            <a:r>
              <a:rPr lang="en-GB" sz="4600" b="1" dirty="0" smtClean="0">
                <a:solidFill>
                  <a:schemeClr val="accent6">
                    <a:lumMod val="75000"/>
                  </a:schemeClr>
                </a:solidFill>
              </a:rPr>
              <a:t>PPDIOO Methodology (Cisco)</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001713" y="206562"/>
            <a:ext cx="7429499" cy="1478570"/>
          </a:xfrm>
        </p:spPr>
        <p:txBody>
          <a:bodyPr/>
          <a:lstStyle/>
          <a:p>
            <a:pPr eaLnBrk="1" hangingPunct="1"/>
            <a:r>
              <a:rPr lang="en-GB" altLang="en-US" dirty="0" smtClean="0"/>
              <a:t>PPDIOO Methodology (Cisco)</a:t>
            </a:r>
          </a:p>
        </p:txBody>
      </p:sp>
      <p:sp>
        <p:nvSpPr>
          <p:cNvPr id="28675" name="Rectangle 3"/>
          <p:cNvSpPr>
            <a:spLocks noGrp="1" noChangeArrowheads="1"/>
          </p:cNvSpPr>
          <p:nvPr>
            <p:ph idx="1"/>
          </p:nvPr>
        </p:nvSpPr>
        <p:spPr>
          <a:xfrm>
            <a:off x="468313" y="1268413"/>
            <a:ext cx="8229600" cy="4897437"/>
          </a:xfrm>
        </p:spPr>
        <p:txBody>
          <a:bodyPr/>
          <a:lstStyle/>
          <a:p>
            <a:pPr eaLnBrk="1" hangingPunct="1">
              <a:lnSpc>
                <a:spcPct val="90000"/>
              </a:lnSpc>
            </a:pPr>
            <a:r>
              <a:rPr lang="en-GB" altLang="en-US" dirty="0" smtClean="0"/>
              <a:t>Design is one component of network lifecycle</a:t>
            </a:r>
          </a:p>
          <a:p>
            <a:pPr eaLnBrk="1" hangingPunct="1">
              <a:lnSpc>
                <a:spcPct val="90000"/>
              </a:lnSpc>
            </a:pPr>
            <a:r>
              <a:rPr lang="en-GB" altLang="en-US" b="1" dirty="0" smtClean="0">
                <a:solidFill>
                  <a:srgbClr val="FF0000"/>
                </a:solidFill>
              </a:rPr>
              <a:t>PPDIOO</a:t>
            </a:r>
            <a:r>
              <a:rPr lang="en-GB" altLang="en-US" dirty="0" smtClean="0"/>
              <a:t> stages:</a:t>
            </a:r>
          </a:p>
          <a:p>
            <a:pPr lvl="1" eaLnBrk="1" hangingPunct="1">
              <a:lnSpc>
                <a:spcPct val="90000"/>
              </a:lnSpc>
            </a:pPr>
            <a:r>
              <a:rPr lang="en-GB" altLang="en-US" b="1" dirty="0" smtClean="0">
                <a:solidFill>
                  <a:srgbClr val="FF0000"/>
                </a:solidFill>
              </a:rPr>
              <a:t>P</a:t>
            </a:r>
            <a:r>
              <a:rPr lang="en-GB" altLang="en-US" dirty="0" smtClean="0"/>
              <a:t>repare</a:t>
            </a:r>
          </a:p>
          <a:p>
            <a:pPr lvl="1" eaLnBrk="1" hangingPunct="1">
              <a:lnSpc>
                <a:spcPct val="90000"/>
              </a:lnSpc>
            </a:pPr>
            <a:r>
              <a:rPr lang="en-GB" altLang="en-US" b="1" dirty="0" smtClean="0">
                <a:solidFill>
                  <a:srgbClr val="FF0000"/>
                </a:solidFill>
              </a:rPr>
              <a:t>P</a:t>
            </a:r>
            <a:r>
              <a:rPr lang="en-GB" altLang="en-US" dirty="0" smtClean="0"/>
              <a:t>lan</a:t>
            </a:r>
          </a:p>
          <a:p>
            <a:pPr lvl="1" eaLnBrk="1" hangingPunct="1">
              <a:lnSpc>
                <a:spcPct val="90000"/>
              </a:lnSpc>
            </a:pPr>
            <a:r>
              <a:rPr lang="en-GB" altLang="en-US" b="1" dirty="0" smtClean="0">
                <a:solidFill>
                  <a:srgbClr val="FF0000"/>
                </a:solidFill>
              </a:rPr>
              <a:t>D</a:t>
            </a:r>
            <a:r>
              <a:rPr lang="en-GB" altLang="en-US" dirty="0" smtClean="0"/>
              <a:t>esign</a:t>
            </a:r>
          </a:p>
          <a:p>
            <a:pPr lvl="1" eaLnBrk="1" hangingPunct="1">
              <a:lnSpc>
                <a:spcPct val="90000"/>
              </a:lnSpc>
            </a:pPr>
            <a:r>
              <a:rPr lang="en-GB" altLang="en-US" b="1" dirty="0" smtClean="0">
                <a:solidFill>
                  <a:srgbClr val="FF0000"/>
                </a:solidFill>
              </a:rPr>
              <a:t>I</a:t>
            </a:r>
            <a:r>
              <a:rPr lang="en-GB" altLang="en-US" dirty="0" smtClean="0"/>
              <a:t>mplement</a:t>
            </a:r>
          </a:p>
          <a:p>
            <a:pPr lvl="1" eaLnBrk="1" hangingPunct="1">
              <a:lnSpc>
                <a:spcPct val="90000"/>
              </a:lnSpc>
            </a:pPr>
            <a:r>
              <a:rPr lang="en-GB" altLang="en-US" b="1" dirty="0" smtClean="0">
                <a:solidFill>
                  <a:srgbClr val="FF0000"/>
                </a:solidFill>
              </a:rPr>
              <a:t>O</a:t>
            </a:r>
            <a:r>
              <a:rPr lang="en-GB" altLang="en-US" dirty="0" smtClean="0"/>
              <a:t>perate</a:t>
            </a:r>
          </a:p>
          <a:p>
            <a:pPr lvl="1" eaLnBrk="1" hangingPunct="1">
              <a:lnSpc>
                <a:spcPct val="90000"/>
              </a:lnSpc>
            </a:pPr>
            <a:r>
              <a:rPr lang="en-GB" altLang="en-US" b="1" dirty="0" smtClean="0">
                <a:solidFill>
                  <a:srgbClr val="FF0000"/>
                </a:solidFill>
              </a:rPr>
              <a:t>O</a:t>
            </a:r>
            <a:r>
              <a:rPr lang="en-GB" altLang="en-US" dirty="0" smtClean="0"/>
              <a:t>ptimise</a:t>
            </a:r>
          </a:p>
          <a:p>
            <a:pPr eaLnBrk="1" hangingPunct="1">
              <a:lnSpc>
                <a:spcPct val="90000"/>
              </a:lnSpc>
            </a:pPr>
            <a:r>
              <a:rPr lang="en-GB" altLang="en-US" dirty="0" smtClean="0"/>
              <a:t>Each phase builds on </a:t>
            </a:r>
          </a:p>
          <a:p>
            <a:pPr eaLnBrk="1" hangingPunct="1">
              <a:lnSpc>
                <a:spcPct val="90000"/>
              </a:lnSpc>
              <a:buFont typeface="Wingdings" panose="05000000000000000000" pitchFamily="2" charset="2"/>
              <a:buNone/>
            </a:pPr>
            <a:r>
              <a:rPr lang="en-GB" altLang="en-US" dirty="0" smtClean="0"/>
              <a:t>	its predecessor</a:t>
            </a:r>
          </a:p>
        </p:txBody>
      </p:sp>
      <p:grpSp>
        <p:nvGrpSpPr>
          <p:cNvPr id="28676" name="Group 4"/>
          <p:cNvGrpSpPr>
            <a:grpSpLocks/>
          </p:cNvGrpSpPr>
          <p:nvPr/>
        </p:nvGrpSpPr>
        <p:grpSpPr bwMode="auto">
          <a:xfrm>
            <a:off x="4500563" y="1989138"/>
            <a:ext cx="3598862" cy="3743325"/>
            <a:chOff x="1973" y="1480"/>
            <a:chExt cx="2267" cy="2358"/>
          </a:xfrm>
        </p:grpSpPr>
        <p:sp>
          <p:nvSpPr>
            <p:cNvPr id="28681" name="AutoShape 5"/>
            <p:cNvSpPr>
              <a:spLocks noChangeArrowheads="1"/>
            </p:cNvSpPr>
            <p:nvPr/>
          </p:nvSpPr>
          <p:spPr bwMode="auto">
            <a:xfrm>
              <a:off x="2109" y="1616"/>
              <a:ext cx="1996" cy="208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0 w 21600"/>
                <a:gd name="T25" fmla="*/ 3158 h 21600"/>
                <a:gd name="T26" fmla="*/ 18440 w 21600"/>
                <a:gd name="T27" fmla="*/ 1844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bg1"/>
            </a:solidFill>
            <a:ln w="12700">
              <a:solidFill>
                <a:schemeClr val="tx1"/>
              </a:solidFill>
              <a:round/>
              <a:headEnd type="none" w="sm" len="sm"/>
              <a:tailEnd type="none" w="sm" len="sm"/>
            </a:ln>
          </p:spPr>
          <p:txBody>
            <a:bodyPr wrap="none" anchor="ctr"/>
            <a:lstStyle/>
            <a:p>
              <a:endParaRPr lang="en-GB"/>
            </a:p>
          </p:txBody>
        </p:sp>
        <p:sp>
          <p:nvSpPr>
            <p:cNvPr id="28682" name="AutoShape 6"/>
            <p:cNvSpPr>
              <a:spLocks noChangeArrowheads="1"/>
            </p:cNvSpPr>
            <p:nvPr/>
          </p:nvSpPr>
          <p:spPr bwMode="auto">
            <a:xfrm>
              <a:off x="2880" y="1480"/>
              <a:ext cx="499" cy="90"/>
            </a:xfrm>
            <a:prstGeom prst="rightArrow">
              <a:avLst>
                <a:gd name="adj1" fmla="val 50000"/>
                <a:gd name="adj2" fmla="val 138611"/>
              </a:avLst>
            </a:prstGeom>
            <a:solidFill>
              <a:schemeClr val="accent1"/>
            </a:solidFill>
            <a:ln w="12700">
              <a:solidFill>
                <a:schemeClr val="tx1"/>
              </a:solidFill>
              <a:miter lim="800000"/>
              <a:headEnd type="none" w="sm" len="sm"/>
              <a:tailEnd type="none" w="sm" len="sm"/>
            </a:ln>
          </p:spPr>
          <p:txBody>
            <a:bodyPr wrap="none" anchor="ct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GB" altLang="en-US" sz="2400">
                <a:solidFill>
                  <a:schemeClr val="tx1"/>
                </a:solidFill>
                <a:latin typeface="Arial" panose="020B0604020202020204" pitchFamily="34" charset="0"/>
              </a:endParaRPr>
            </a:p>
          </p:txBody>
        </p:sp>
        <p:sp>
          <p:nvSpPr>
            <p:cNvPr id="28683" name="AutoShape 7"/>
            <p:cNvSpPr>
              <a:spLocks noChangeArrowheads="1"/>
            </p:cNvSpPr>
            <p:nvPr/>
          </p:nvSpPr>
          <p:spPr bwMode="auto">
            <a:xfrm flipH="1">
              <a:off x="2880" y="3748"/>
              <a:ext cx="499" cy="90"/>
            </a:xfrm>
            <a:prstGeom prst="rightArrow">
              <a:avLst>
                <a:gd name="adj1" fmla="val 50000"/>
                <a:gd name="adj2" fmla="val 138611"/>
              </a:avLst>
            </a:prstGeom>
            <a:solidFill>
              <a:schemeClr val="accent1"/>
            </a:solidFill>
            <a:ln w="12700">
              <a:solidFill>
                <a:schemeClr val="tx1"/>
              </a:solidFill>
              <a:miter lim="800000"/>
              <a:headEnd type="none" w="sm" len="sm"/>
              <a:tailEnd type="none" w="sm" len="sm"/>
            </a:ln>
          </p:spPr>
          <p:txBody>
            <a:bodyPr wrap="none" anchor="ct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GB" altLang="en-US" sz="2400">
                <a:solidFill>
                  <a:schemeClr val="tx1"/>
                </a:solidFill>
                <a:latin typeface="Arial" panose="020B0604020202020204" pitchFamily="34" charset="0"/>
              </a:endParaRPr>
            </a:p>
          </p:txBody>
        </p:sp>
        <p:sp>
          <p:nvSpPr>
            <p:cNvPr id="28684" name="AutoShape 8"/>
            <p:cNvSpPr>
              <a:spLocks noChangeArrowheads="1"/>
            </p:cNvSpPr>
            <p:nvPr/>
          </p:nvSpPr>
          <p:spPr bwMode="auto">
            <a:xfrm rot="5400000" flipH="1">
              <a:off x="1768" y="2592"/>
              <a:ext cx="499" cy="90"/>
            </a:xfrm>
            <a:prstGeom prst="rightArrow">
              <a:avLst>
                <a:gd name="adj1" fmla="val 50000"/>
                <a:gd name="adj2" fmla="val 138611"/>
              </a:avLst>
            </a:prstGeom>
            <a:solidFill>
              <a:schemeClr val="accent1"/>
            </a:solidFill>
            <a:ln w="12700">
              <a:solidFill>
                <a:schemeClr val="tx1"/>
              </a:solidFill>
              <a:miter lim="800000"/>
              <a:headEnd type="none" w="sm" len="sm"/>
              <a:tailEnd type="none" w="sm" len="sm"/>
            </a:ln>
          </p:spPr>
          <p:txBody>
            <a:bodyPr wrap="none" anchor="ct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GB" altLang="en-US" sz="2400">
                <a:solidFill>
                  <a:schemeClr val="tx1"/>
                </a:solidFill>
                <a:latin typeface="Arial" panose="020B0604020202020204" pitchFamily="34" charset="0"/>
              </a:endParaRPr>
            </a:p>
          </p:txBody>
        </p:sp>
        <p:sp>
          <p:nvSpPr>
            <p:cNvPr id="28685" name="AutoShape 9"/>
            <p:cNvSpPr>
              <a:spLocks noChangeArrowheads="1"/>
            </p:cNvSpPr>
            <p:nvPr/>
          </p:nvSpPr>
          <p:spPr bwMode="auto">
            <a:xfrm rot="-5400000" flipH="1" flipV="1">
              <a:off x="3945" y="2592"/>
              <a:ext cx="499" cy="90"/>
            </a:xfrm>
            <a:prstGeom prst="rightArrow">
              <a:avLst>
                <a:gd name="adj1" fmla="val 50000"/>
                <a:gd name="adj2" fmla="val 138611"/>
              </a:avLst>
            </a:prstGeom>
            <a:solidFill>
              <a:schemeClr val="accent1"/>
            </a:solidFill>
            <a:ln w="12700">
              <a:solidFill>
                <a:schemeClr val="tx1"/>
              </a:solidFill>
              <a:miter lim="800000"/>
              <a:headEnd type="none" w="sm" len="sm"/>
              <a:tailEnd type="none" w="sm" len="sm"/>
            </a:ln>
          </p:spPr>
          <p:txBody>
            <a:bodyPr wrap="none" anchor="ct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GB" altLang="en-US" sz="2400">
                <a:solidFill>
                  <a:schemeClr val="tx1"/>
                </a:solidFill>
                <a:latin typeface="Arial" panose="020B0604020202020204" pitchFamily="34" charset="0"/>
              </a:endParaRPr>
            </a:p>
          </p:txBody>
        </p:sp>
        <p:sp>
          <p:nvSpPr>
            <p:cNvPr id="28686" name="Text Box 10"/>
            <p:cNvSpPr txBox="1">
              <a:spLocks noChangeArrowheads="1"/>
            </p:cNvSpPr>
            <p:nvPr/>
          </p:nvSpPr>
          <p:spPr bwMode="auto">
            <a:xfrm>
              <a:off x="2926" y="1707"/>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sz="3200" b="1">
                  <a:solidFill>
                    <a:schemeClr val="tx1"/>
                  </a:solidFill>
                  <a:latin typeface="Arial" panose="020B0604020202020204" pitchFamily="34" charset="0"/>
                </a:rPr>
                <a:t>P</a:t>
              </a:r>
            </a:p>
          </p:txBody>
        </p:sp>
        <p:sp>
          <p:nvSpPr>
            <p:cNvPr id="28687" name="Text Box 11"/>
            <p:cNvSpPr txBox="1">
              <a:spLocks noChangeArrowheads="1"/>
            </p:cNvSpPr>
            <p:nvPr/>
          </p:nvSpPr>
          <p:spPr bwMode="auto">
            <a:xfrm>
              <a:off x="3651" y="2614"/>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sz="3200" b="1">
                  <a:solidFill>
                    <a:schemeClr val="tx1"/>
                  </a:solidFill>
                  <a:latin typeface="Arial" panose="020B0604020202020204" pitchFamily="34" charset="0"/>
                </a:rPr>
                <a:t>D</a:t>
              </a:r>
            </a:p>
          </p:txBody>
        </p:sp>
        <p:sp>
          <p:nvSpPr>
            <p:cNvPr id="28688" name="Text Box 12"/>
            <p:cNvSpPr txBox="1">
              <a:spLocks noChangeArrowheads="1"/>
            </p:cNvSpPr>
            <p:nvPr/>
          </p:nvSpPr>
          <p:spPr bwMode="auto">
            <a:xfrm>
              <a:off x="3107" y="3249"/>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sz="3200" b="1">
                  <a:solidFill>
                    <a:schemeClr val="tx1"/>
                  </a:solidFill>
                  <a:latin typeface="Arial" panose="020B0604020202020204" pitchFamily="34" charset="0"/>
                </a:rPr>
                <a:t>I</a:t>
              </a:r>
            </a:p>
          </p:txBody>
        </p:sp>
        <p:sp>
          <p:nvSpPr>
            <p:cNvPr id="28689" name="Text Box 13"/>
            <p:cNvSpPr txBox="1">
              <a:spLocks noChangeArrowheads="1"/>
            </p:cNvSpPr>
            <p:nvPr/>
          </p:nvSpPr>
          <p:spPr bwMode="auto">
            <a:xfrm>
              <a:off x="2290" y="2931"/>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sz="3200" b="1">
                  <a:solidFill>
                    <a:schemeClr val="tx1"/>
                  </a:solidFill>
                  <a:latin typeface="Arial" panose="020B0604020202020204" pitchFamily="34" charset="0"/>
                </a:rPr>
                <a:t>O</a:t>
              </a:r>
            </a:p>
          </p:txBody>
        </p:sp>
        <p:sp>
          <p:nvSpPr>
            <p:cNvPr id="28690" name="Text Box 14"/>
            <p:cNvSpPr txBox="1">
              <a:spLocks noChangeArrowheads="1"/>
            </p:cNvSpPr>
            <p:nvPr/>
          </p:nvSpPr>
          <p:spPr bwMode="auto">
            <a:xfrm>
              <a:off x="2336" y="2115"/>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sz="3200" b="1">
                  <a:solidFill>
                    <a:schemeClr val="tx1"/>
                  </a:solidFill>
                  <a:latin typeface="Arial" panose="020B0604020202020204" pitchFamily="34" charset="0"/>
                </a:rPr>
                <a:t>O</a:t>
              </a:r>
            </a:p>
          </p:txBody>
        </p:sp>
        <p:sp>
          <p:nvSpPr>
            <p:cNvPr id="28691" name="Line 15"/>
            <p:cNvSpPr>
              <a:spLocks noChangeShapeType="1"/>
            </p:cNvSpPr>
            <p:nvPr/>
          </p:nvSpPr>
          <p:spPr bwMode="auto">
            <a:xfrm>
              <a:off x="2637" y="1732"/>
              <a:ext cx="243" cy="47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GB"/>
            </a:p>
          </p:txBody>
        </p:sp>
        <p:sp>
          <p:nvSpPr>
            <p:cNvPr id="28692" name="Line 16"/>
            <p:cNvSpPr>
              <a:spLocks noChangeShapeType="1"/>
            </p:cNvSpPr>
            <p:nvPr/>
          </p:nvSpPr>
          <p:spPr bwMode="auto">
            <a:xfrm flipV="1">
              <a:off x="3288" y="1707"/>
              <a:ext cx="272" cy="45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GB"/>
            </a:p>
          </p:txBody>
        </p:sp>
        <p:sp>
          <p:nvSpPr>
            <p:cNvPr id="28693" name="Line 17"/>
            <p:cNvSpPr>
              <a:spLocks noChangeShapeType="1"/>
            </p:cNvSpPr>
            <p:nvPr/>
          </p:nvSpPr>
          <p:spPr bwMode="auto">
            <a:xfrm>
              <a:off x="3391" y="3079"/>
              <a:ext cx="317" cy="40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GB"/>
            </a:p>
          </p:txBody>
        </p:sp>
        <p:sp>
          <p:nvSpPr>
            <p:cNvPr id="28694" name="Line 18"/>
            <p:cNvSpPr>
              <a:spLocks noChangeShapeType="1"/>
            </p:cNvSpPr>
            <p:nvPr/>
          </p:nvSpPr>
          <p:spPr bwMode="auto">
            <a:xfrm flipH="1">
              <a:off x="2608" y="3122"/>
              <a:ext cx="264" cy="4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GB"/>
            </a:p>
          </p:txBody>
        </p:sp>
        <p:sp>
          <p:nvSpPr>
            <p:cNvPr id="28695" name="Line 19"/>
            <p:cNvSpPr>
              <a:spLocks noChangeShapeType="1"/>
            </p:cNvSpPr>
            <p:nvPr/>
          </p:nvSpPr>
          <p:spPr bwMode="auto">
            <a:xfrm>
              <a:off x="2064" y="2704"/>
              <a:ext cx="635"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GB"/>
            </a:p>
          </p:txBody>
        </p:sp>
        <p:sp>
          <p:nvSpPr>
            <p:cNvPr id="28696" name="AutoShape 20"/>
            <p:cNvSpPr>
              <a:spLocks noChangeArrowheads="1"/>
            </p:cNvSpPr>
            <p:nvPr/>
          </p:nvSpPr>
          <p:spPr bwMode="auto">
            <a:xfrm>
              <a:off x="2608" y="2592"/>
              <a:ext cx="508" cy="196"/>
            </a:xfrm>
            <a:prstGeom prst="rightArrow">
              <a:avLst>
                <a:gd name="adj1" fmla="val 50000"/>
                <a:gd name="adj2" fmla="val 64796"/>
              </a:avLst>
            </a:prstGeom>
            <a:solidFill>
              <a:schemeClr val="accent1"/>
            </a:solidFill>
            <a:ln w="12700">
              <a:solidFill>
                <a:schemeClr val="tx1"/>
              </a:solidFill>
              <a:miter lim="800000"/>
              <a:headEnd type="none" w="sm" len="sm"/>
              <a:tailEnd type="none" w="sm" len="sm"/>
            </a:ln>
          </p:spPr>
          <p:txBody>
            <a:bodyPr wrap="none" anchor="ct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GB" altLang="en-US" sz="2400">
                <a:solidFill>
                  <a:schemeClr val="tx1"/>
                </a:solidFill>
                <a:latin typeface="Arial" panose="020B0604020202020204" pitchFamily="34" charset="0"/>
              </a:endParaRPr>
            </a:p>
          </p:txBody>
        </p:sp>
        <p:sp>
          <p:nvSpPr>
            <p:cNvPr id="28697" name="Text Box 21"/>
            <p:cNvSpPr txBox="1">
              <a:spLocks noChangeArrowheads="1"/>
            </p:cNvSpPr>
            <p:nvPr/>
          </p:nvSpPr>
          <p:spPr bwMode="auto">
            <a:xfrm>
              <a:off x="3134" y="2523"/>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sz="3200" b="1">
                  <a:solidFill>
                    <a:schemeClr val="tx1"/>
                  </a:solidFill>
                  <a:latin typeface="Arial" panose="020B0604020202020204" pitchFamily="34" charset="0"/>
                </a:rPr>
                <a:t>R</a:t>
              </a:r>
            </a:p>
          </p:txBody>
        </p:sp>
      </p:grpSp>
      <p:sp>
        <p:nvSpPr>
          <p:cNvPr id="28677"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A5DC8AA7-38FE-4FFF-93CE-99C6C21BF08D}" type="slidenum">
              <a:rPr lang="en-US" altLang="en-US" sz="1400">
                <a:solidFill>
                  <a:schemeClr val="tx1"/>
                </a:solidFill>
                <a:latin typeface="Arial" panose="020B0604020202020204" pitchFamily="34" charset="0"/>
              </a:rPr>
              <a:pPr algn="r" eaLnBrk="1" hangingPunct="1">
                <a:spcBef>
                  <a:spcPct val="0"/>
                </a:spcBef>
                <a:buClrTx/>
                <a:buSzTx/>
                <a:buFontTx/>
                <a:buNone/>
              </a:pPr>
              <a:t>10</a:t>
            </a:fld>
            <a:endParaRPr lang="en-US" altLang="en-US" sz="1400">
              <a:solidFill>
                <a:schemeClr val="tx1"/>
              </a:solidFill>
              <a:latin typeface="Arial" panose="020B0604020202020204" pitchFamily="34" charset="0"/>
            </a:endParaRPr>
          </a:p>
        </p:txBody>
      </p:sp>
      <p:sp>
        <p:nvSpPr>
          <p:cNvPr id="28679" name="Line 16"/>
          <p:cNvSpPr>
            <a:spLocks noChangeShapeType="1"/>
          </p:cNvSpPr>
          <p:nvPr/>
        </p:nvSpPr>
        <p:spPr bwMode="auto">
          <a:xfrm flipV="1">
            <a:off x="7092950" y="3357563"/>
            <a:ext cx="720725" cy="431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GB"/>
          </a:p>
        </p:txBody>
      </p:sp>
      <p:sp>
        <p:nvSpPr>
          <p:cNvPr id="28680" name="Text Box 10"/>
          <p:cNvSpPr txBox="1">
            <a:spLocks noChangeArrowheads="1"/>
          </p:cNvSpPr>
          <p:nvPr/>
        </p:nvSpPr>
        <p:spPr bwMode="auto">
          <a:xfrm>
            <a:off x="6948488" y="2852738"/>
            <a:ext cx="455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sz="3200" b="1">
                <a:solidFill>
                  <a:schemeClr val="tx1"/>
                </a:solidFill>
                <a:latin typeface="Arial" panose="020B0604020202020204" pitchFamily="34" charset="0"/>
              </a:rPr>
              <a:t>P</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GB" altLang="en-US" smtClean="0"/>
              <a:t>Network Prototype </a:t>
            </a:r>
          </a:p>
        </p:txBody>
      </p:sp>
      <p:sp>
        <p:nvSpPr>
          <p:cNvPr id="44035" name="Rectangle 3"/>
          <p:cNvSpPr>
            <a:spLocks noGrp="1" noChangeArrowheads="1"/>
          </p:cNvSpPr>
          <p:nvPr>
            <p:ph idx="1"/>
          </p:nvPr>
        </p:nvSpPr>
        <p:spPr/>
        <p:txBody>
          <a:bodyPr/>
          <a:lstStyle/>
          <a:p>
            <a:pPr eaLnBrk="1" hangingPunct="1"/>
            <a:r>
              <a:rPr lang="en-GB" altLang="en-US" b="1" smtClean="0"/>
              <a:t>Can provide “trial run” at minimal cost</a:t>
            </a:r>
          </a:p>
        </p:txBody>
      </p:sp>
      <p:pic>
        <p:nvPicPr>
          <p:cNvPr id="440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1916113"/>
            <a:ext cx="9037638" cy="277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4037"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E12803C9-133F-40A5-B6C8-916CCD07C54B}" type="slidenum">
              <a:rPr lang="en-US" altLang="en-US" sz="1400">
                <a:solidFill>
                  <a:schemeClr val="tx1"/>
                </a:solidFill>
                <a:latin typeface="Arial" panose="020B0604020202020204" pitchFamily="34" charset="0"/>
              </a:rPr>
              <a:pPr algn="r" eaLnBrk="1" hangingPunct="1">
                <a:spcBef>
                  <a:spcPct val="0"/>
                </a:spcBef>
                <a:buClrTx/>
                <a:buSzTx/>
                <a:buFontTx/>
                <a:buNone/>
              </a:pPr>
              <a:t>11</a:t>
            </a:fld>
            <a:endParaRPr lang="en-US" altLang="en-US" sz="1400">
              <a:solidFill>
                <a:schemeClr val="tx1"/>
              </a:solidFill>
              <a:latin typeface="Arial" panose="020B0604020202020204" pitchFamily="34" charset="0"/>
            </a:endParaRPr>
          </a:p>
        </p:txBody>
      </p:sp>
      <p:sp>
        <p:nvSpPr>
          <p:cNvPr id="44038" name="Rectangle 5"/>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CC6BF2D7-B0C9-4CD3-ABA9-29CC40735D31}"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GB" altLang="en-US" smtClean="0"/>
              <a:t>Step 1: Reviewing the Requirements </a:t>
            </a:r>
          </a:p>
        </p:txBody>
      </p:sp>
      <p:sp>
        <p:nvSpPr>
          <p:cNvPr id="45059" name="Rectangle 3"/>
          <p:cNvSpPr>
            <a:spLocks noGrp="1" noChangeArrowheads="1"/>
          </p:cNvSpPr>
          <p:nvPr>
            <p:ph idx="1"/>
          </p:nvPr>
        </p:nvSpPr>
        <p:spPr>
          <a:xfrm>
            <a:off x="471488" y="1916113"/>
            <a:ext cx="6446837" cy="3881437"/>
          </a:xfrm>
        </p:spPr>
        <p:txBody>
          <a:bodyPr/>
          <a:lstStyle/>
          <a:p>
            <a:pPr eaLnBrk="1" hangingPunct="1"/>
            <a:r>
              <a:rPr lang="en-GB" altLang="en-US" sz="2400" smtClean="0"/>
              <a:t>List major goals</a:t>
            </a:r>
          </a:p>
          <a:p>
            <a:pPr eaLnBrk="1" hangingPunct="1"/>
            <a:r>
              <a:rPr lang="en-GB" altLang="en-US" sz="2400" smtClean="0"/>
              <a:t>Identify requirements for performance, scalability, security, capacity</a:t>
            </a:r>
          </a:p>
          <a:p>
            <a:pPr eaLnBrk="1" hangingPunct="1"/>
            <a:r>
              <a:rPr lang="en-GB" altLang="en-US" sz="2400" smtClean="0"/>
              <a:t>Consider ROI, management, equipment reuse, cost of prototype</a:t>
            </a:r>
          </a:p>
          <a:p>
            <a:pPr eaLnBrk="1" hangingPunct="1"/>
            <a:endParaRPr lang="en-GB" altLang="en-US" smtClean="0"/>
          </a:p>
        </p:txBody>
      </p:sp>
      <p:sp>
        <p:nvSpPr>
          <p:cNvPr id="45060"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2362DE66-823F-4DB5-A9E4-C54768E59EDC}" type="slidenum">
              <a:rPr lang="en-US" altLang="en-US" sz="1400">
                <a:solidFill>
                  <a:schemeClr val="tx1"/>
                </a:solidFill>
                <a:latin typeface="Arial" panose="020B0604020202020204" pitchFamily="34" charset="0"/>
              </a:rPr>
              <a:pPr algn="r" eaLnBrk="1" hangingPunct="1">
                <a:spcBef>
                  <a:spcPct val="0"/>
                </a:spcBef>
                <a:buClrTx/>
                <a:buSzTx/>
                <a:buFontTx/>
                <a:buNone/>
              </a:pPr>
              <a:t>12</a:t>
            </a:fld>
            <a:endParaRPr lang="en-US" altLang="en-US" sz="1400">
              <a:solidFill>
                <a:schemeClr val="tx1"/>
              </a:solidFill>
              <a:latin typeface="Arial" panose="020B0604020202020204" pitchFamily="34" charset="0"/>
            </a:endParaRPr>
          </a:p>
        </p:txBody>
      </p:sp>
      <p:sp>
        <p:nvSpPr>
          <p:cNvPr id="45061"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FFDA0C5D-FD9C-4404-AD46-AF46FBEE24C4}"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GB" altLang="en-US" smtClean="0"/>
              <a:t>Step 2: Determining the Extent of the Prototype </a:t>
            </a:r>
          </a:p>
        </p:txBody>
      </p:sp>
      <p:sp>
        <p:nvSpPr>
          <p:cNvPr id="46083" name="Rectangle 3"/>
          <p:cNvSpPr>
            <a:spLocks noGrp="1" noChangeArrowheads="1"/>
          </p:cNvSpPr>
          <p:nvPr>
            <p:ph idx="1"/>
          </p:nvPr>
        </p:nvSpPr>
        <p:spPr>
          <a:xfrm>
            <a:off x="501650" y="1916113"/>
            <a:ext cx="6446838" cy="3881437"/>
          </a:xfrm>
        </p:spPr>
        <p:txBody>
          <a:bodyPr/>
          <a:lstStyle/>
          <a:p>
            <a:pPr eaLnBrk="1" hangingPunct="1"/>
            <a:r>
              <a:rPr lang="en-GB" altLang="en-US" sz="2400" smtClean="0"/>
              <a:t>Creating the right-size prototype is critical</a:t>
            </a:r>
          </a:p>
          <a:p>
            <a:pPr eaLnBrk="1" hangingPunct="1"/>
            <a:r>
              <a:rPr lang="en-GB" altLang="en-US" sz="2400" smtClean="0"/>
              <a:t>Cost and purpose can determine the size of the demonstration</a:t>
            </a:r>
          </a:p>
          <a:p>
            <a:pPr eaLnBrk="1" hangingPunct="1"/>
            <a:r>
              <a:rPr lang="en-GB" altLang="en-US" sz="2400" smtClean="0"/>
              <a:t>Possibly roll out full prototype in one location</a:t>
            </a:r>
          </a:p>
          <a:p>
            <a:pPr eaLnBrk="1" hangingPunct="1"/>
            <a:r>
              <a:rPr lang="en-GB" altLang="en-US" sz="2400" smtClean="0"/>
              <a:t>Can make use of simulations</a:t>
            </a:r>
          </a:p>
        </p:txBody>
      </p:sp>
      <p:sp>
        <p:nvSpPr>
          <p:cNvPr id="46084"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5FD94AA0-5FBF-43A1-A12B-5064355315C3}" type="slidenum">
              <a:rPr lang="en-US" altLang="en-US" sz="1400">
                <a:solidFill>
                  <a:schemeClr val="tx1"/>
                </a:solidFill>
                <a:latin typeface="Arial" panose="020B0604020202020204" pitchFamily="34" charset="0"/>
              </a:rPr>
              <a:pPr algn="r" eaLnBrk="1" hangingPunct="1">
                <a:spcBef>
                  <a:spcPct val="0"/>
                </a:spcBef>
                <a:buClrTx/>
                <a:buSzTx/>
                <a:buFontTx/>
                <a:buNone/>
              </a:pPr>
              <a:t>13</a:t>
            </a:fld>
            <a:endParaRPr lang="en-US" altLang="en-US" sz="1400">
              <a:solidFill>
                <a:schemeClr val="tx1"/>
              </a:solidFill>
              <a:latin typeface="Arial" panose="020B0604020202020204" pitchFamily="34" charset="0"/>
            </a:endParaRPr>
          </a:p>
        </p:txBody>
      </p:sp>
      <p:sp>
        <p:nvSpPr>
          <p:cNvPr id="46085"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39F619AA-5AA1-4215-B073-878DF6B29455}"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GB" altLang="en-US" smtClean="0"/>
              <a:t>Step 3: Understanding Alternative Proposals </a:t>
            </a:r>
          </a:p>
        </p:txBody>
      </p:sp>
      <p:sp>
        <p:nvSpPr>
          <p:cNvPr id="47107" name="Rectangle 3"/>
          <p:cNvSpPr>
            <a:spLocks noGrp="1" noChangeArrowheads="1"/>
          </p:cNvSpPr>
          <p:nvPr>
            <p:ph idx="1"/>
          </p:nvPr>
        </p:nvSpPr>
        <p:spPr>
          <a:xfrm>
            <a:off x="501650" y="1916113"/>
            <a:ext cx="6446838" cy="3881437"/>
          </a:xfrm>
        </p:spPr>
        <p:txBody>
          <a:bodyPr/>
          <a:lstStyle/>
          <a:p>
            <a:pPr eaLnBrk="1" hangingPunct="1"/>
            <a:r>
              <a:rPr lang="en-GB" altLang="en-US" sz="2400" smtClean="0"/>
              <a:t>Probably several competing design alternatives</a:t>
            </a:r>
          </a:p>
          <a:p>
            <a:pPr eaLnBrk="1" hangingPunct="1"/>
            <a:r>
              <a:rPr lang="en-GB" altLang="en-US" sz="2400" smtClean="0"/>
              <a:t>Plan prototype to highlight advantages of your solution</a:t>
            </a:r>
          </a:p>
          <a:p>
            <a:pPr eaLnBrk="1" hangingPunct="1"/>
            <a:r>
              <a:rPr lang="en-GB" altLang="en-US" sz="2400" smtClean="0"/>
              <a:t>Gather information on other proposals, or make assumptions if this is not possible</a:t>
            </a:r>
          </a:p>
          <a:p>
            <a:pPr eaLnBrk="1" hangingPunct="1"/>
            <a:endParaRPr lang="en-GB" altLang="en-US" smtClean="0"/>
          </a:p>
        </p:txBody>
      </p:sp>
      <p:sp>
        <p:nvSpPr>
          <p:cNvPr id="47108"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1DAB8987-FD88-47F1-B359-7A719EE87BD7}" type="slidenum">
              <a:rPr lang="en-US" altLang="en-US" sz="1400">
                <a:solidFill>
                  <a:schemeClr val="tx1"/>
                </a:solidFill>
                <a:latin typeface="Arial" panose="020B0604020202020204" pitchFamily="34" charset="0"/>
              </a:rPr>
              <a:pPr algn="r" eaLnBrk="1" hangingPunct="1">
                <a:spcBef>
                  <a:spcPct val="0"/>
                </a:spcBef>
                <a:buClrTx/>
                <a:buSzTx/>
                <a:buFontTx/>
                <a:buNone/>
              </a:pPr>
              <a:t>14</a:t>
            </a:fld>
            <a:endParaRPr lang="en-US" altLang="en-US" sz="1400">
              <a:solidFill>
                <a:schemeClr val="tx1"/>
              </a:solidFill>
              <a:latin typeface="Arial" panose="020B0604020202020204" pitchFamily="34" charset="0"/>
            </a:endParaRPr>
          </a:p>
        </p:txBody>
      </p:sp>
      <p:sp>
        <p:nvSpPr>
          <p:cNvPr id="47109"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3056805F-62CA-4BB8-8708-71E592AB6CA9}"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GB" altLang="en-US" smtClean="0"/>
              <a:t>Step 4: Developing a Test Plan </a:t>
            </a:r>
          </a:p>
        </p:txBody>
      </p:sp>
      <p:sp>
        <p:nvSpPr>
          <p:cNvPr id="54275" name="Rectangle 3"/>
          <p:cNvSpPr>
            <a:spLocks noGrp="1" noChangeArrowheads="1"/>
          </p:cNvSpPr>
          <p:nvPr>
            <p:ph idx="1"/>
          </p:nvPr>
        </p:nvSpPr>
        <p:spPr>
          <a:xfrm>
            <a:off x="456009" y="1623577"/>
            <a:ext cx="8229600" cy="4824412"/>
          </a:xfrm>
        </p:spPr>
        <p:txBody>
          <a:bodyPr rtlCol="0">
            <a:normAutofit/>
          </a:bodyPr>
          <a:lstStyle/>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Need prototype topology map</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List and plan tests you will perform on prototype</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Test plan should reflect goals</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Demonstration may involve many people</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Map out roles and responsibilities in a script </a:t>
            </a:r>
          </a:p>
        </p:txBody>
      </p:sp>
      <p:sp>
        <p:nvSpPr>
          <p:cNvPr id="48132"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08FD93B9-A940-4318-848F-D4C307107AE8}" type="slidenum">
              <a:rPr lang="en-US" altLang="en-US" sz="1400">
                <a:solidFill>
                  <a:schemeClr val="tx1"/>
                </a:solidFill>
                <a:latin typeface="Arial" panose="020B0604020202020204" pitchFamily="34" charset="0"/>
              </a:rPr>
              <a:pPr algn="r" eaLnBrk="1" hangingPunct="1">
                <a:spcBef>
                  <a:spcPct val="0"/>
                </a:spcBef>
                <a:buClrTx/>
                <a:buSzTx/>
                <a:buFontTx/>
                <a:buNone/>
              </a:pPr>
              <a:t>15</a:t>
            </a:fld>
            <a:endParaRPr lang="en-US" altLang="en-US" sz="1400">
              <a:solidFill>
                <a:schemeClr val="tx1"/>
              </a:solidFill>
              <a:latin typeface="Arial" panose="020B0604020202020204" pitchFamily="34" charset="0"/>
            </a:endParaRPr>
          </a:p>
        </p:txBody>
      </p:sp>
      <p:sp>
        <p:nvSpPr>
          <p:cNvPr id="48133"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AE96824-0C4B-4F60-92B6-749C84B3F310}"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GB" altLang="en-US" smtClean="0"/>
              <a:t>Step 5. Purchasing and preparing equipment</a:t>
            </a:r>
          </a:p>
        </p:txBody>
      </p:sp>
      <p:sp>
        <p:nvSpPr>
          <p:cNvPr id="49155" name="Rectangle 3"/>
          <p:cNvSpPr>
            <a:spLocks noGrp="1" noChangeArrowheads="1"/>
          </p:cNvSpPr>
          <p:nvPr>
            <p:ph idx="1"/>
          </p:nvPr>
        </p:nvSpPr>
        <p:spPr>
          <a:xfrm>
            <a:off x="468313" y="1989138"/>
            <a:ext cx="8229600" cy="3844925"/>
          </a:xfrm>
        </p:spPr>
        <p:txBody>
          <a:bodyPr/>
          <a:lstStyle/>
          <a:p>
            <a:pPr eaLnBrk="1" hangingPunct="1"/>
            <a:r>
              <a:rPr lang="en-GB" altLang="en-US" sz="2400" smtClean="0"/>
              <a:t>Network simulation tools</a:t>
            </a:r>
          </a:p>
          <a:p>
            <a:pPr eaLnBrk="1" hangingPunct="1"/>
            <a:r>
              <a:rPr lang="en-GB" altLang="en-US" sz="2400" smtClean="0"/>
              <a:t>Network hardware and software</a:t>
            </a:r>
          </a:p>
          <a:p>
            <a:pPr eaLnBrk="1" hangingPunct="1"/>
            <a:r>
              <a:rPr lang="en-GB" altLang="en-US" sz="2400" smtClean="0"/>
              <a:t>End-system hardware and software</a:t>
            </a:r>
          </a:p>
        </p:txBody>
      </p:sp>
      <p:sp>
        <p:nvSpPr>
          <p:cNvPr id="49156"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3D6AA97C-7CD8-4929-A9C4-E39C9387AB7F}" type="slidenum">
              <a:rPr lang="en-US" altLang="en-US" sz="1400">
                <a:solidFill>
                  <a:schemeClr val="tx1"/>
                </a:solidFill>
                <a:latin typeface="Arial" panose="020B0604020202020204" pitchFamily="34" charset="0"/>
              </a:rPr>
              <a:pPr algn="r" eaLnBrk="1" hangingPunct="1">
                <a:spcBef>
                  <a:spcPct val="0"/>
                </a:spcBef>
                <a:buClrTx/>
                <a:buSzTx/>
                <a:buFontTx/>
                <a:buNone/>
              </a:pPr>
              <a:t>16</a:t>
            </a:fld>
            <a:endParaRPr lang="en-US" altLang="en-US" sz="1400">
              <a:solidFill>
                <a:schemeClr val="tx1"/>
              </a:solidFill>
              <a:latin typeface="Arial" panose="020B0604020202020204" pitchFamily="34" charset="0"/>
            </a:endParaRPr>
          </a:p>
        </p:txBody>
      </p:sp>
      <p:sp>
        <p:nvSpPr>
          <p:cNvPr id="49157"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0C19121F-D249-46F8-A41C-CF1E5F935F47}"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GB" altLang="en-US" smtClean="0"/>
              <a:t>Step 6. Practicing</a:t>
            </a:r>
          </a:p>
        </p:txBody>
      </p:sp>
      <p:sp>
        <p:nvSpPr>
          <p:cNvPr id="50179" name="Rectangle 3"/>
          <p:cNvSpPr>
            <a:spLocks noGrp="1" noChangeArrowheads="1"/>
          </p:cNvSpPr>
          <p:nvPr>
            <p:ph idx="1"/>
          </p:nvPr>
        </p:nvSpPr>
        <p:spPr>
          <a:xfrm>
            <a:off x="501650" y="1557338"/>
            <a:ext cx="6446838" cy="3879850"/>
          </a:xfrm>
        </p:spPr>
        <p:txBody>
          <a:bodyPr/>
          <a:lstStyle/>
          <a:p>
            <a:pPr eaLnBrk="1" hangingPunct="1"/>
            <a:r>
              <a:rPr lang="en-GB" altLang="en-US" sz="2400" smtClean="0"/>
              <a:t>Practice to coordinate demonstration</a:t>
            </a:r>
          </a:p>
          <a:p>
            <a:pPr eaLnBrk="1" hangingPunct="1"/>
            <a:r>
              <a:rPr lang="en-GB" altLang="en-US" sz="2400" smtClean="0"/>
              <a:t>Practice with members of team</a:t>
            </a:r>
          </a:p>
          <a:p>
            <a:pPr eaLnBrk="1" hangingPunct="1"/>
            <a:r>
              <a:rPr lang="en-GB" altLang="en-US" sz="2400" smtClean="0"/>
              <a:t>Don’t want surprises</a:t>
            </a:r>
          </a:p>
          <a:p>
            <a:pPr eaLnBrk="1" hangingPunct="1"/>
            <a:endParaRPr lang="en-GB" altLang="en-US" smtClean="0"/>
          </a:p>
        </p:txBody>
      </p:sp>
      <p:sp>
        <p:nvSpPr>
          <p:cNvPr id="50180"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5E2E1A0C-9D5B-47C9-B852-322D566DDA1F}" type="slidenum">
              <a:rPr lang="en-US" altLang="en-US" sz="1400">
                <a:solidFill>
                  <a:schemeClr val="tx1"/>
                </a:solidFill>
                <a:latin typeface="Arial" panose="020B0604020202020204" pitchFamily="34" charset="0"/>
              </a:rPr>
              <a:pPr algn="r" eaLnBrk="1" hangingPunct="1">
                <a:spcBef>
                  <a:spcPct val="0"/>
                </a:spcBef>
                <a:buClrTx/>
                <a:buSzTx/>
                <a:buFontTx/>
                <a:buNone/>
              </a:pPr>
              <a:t>17</a:t>
            </a:fld>
            <a:endParaRPr lang="en-US" altLang="en-US" sz="1400">
              <a:solidFill>
                <a:schemeClr val="tx1"/>
              </a:solidFill>
              <a:latin typeface="Arial" panose="020B0604020202020204" pitchFamily="34" charset="0"/>
            </a:endParaRPr>
          </a:p>
        </p:txBody>
      </p:sp>
      <p:sp>
        <p:nvSpPr>
          <p:cNvPr id="50181"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0483C67E-4FC7-4B21-9484-AB52CFD2E946}"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GB" altLang="en-US" smtClean="0"/>
              <a:t>Step 7.Conduct final test and demonstration</a:t>
            </a:r>
          </a:p>
        </p:txBody>
      </p:sp>
      <p:sp>
        <p:nvSpPr>
          <p:cNvPr id="51203" name="Rectangle 3"/>
          <p:cNvSpPr>
            <a:spLocks noGrp="1" noChangeArrowheads="1"/>
          </p:cNvSpPr>
          <p:nvPr>
            <p:ph idx="1"/>
          </p:nvPr>
        </p:nvSpPr>
        <p:spPr/>
        <p:txBody>
          <a:bodyPr/>
          <a:lstStyle/>
          <a:p>
            <a:pPr eaLnBrk="1" hangingPunct="1"/>
            <a:r>
              <a:rPr lang="en-GB" altLang="en-US" sz="2400" smtClean="0"/>
              <a:t>Pre</a:t>
            </a:r>
            <a:r>
              <a:rPr lang="en-GB" altLang="en-US" sz="2800" smtClean="0"/>
              <a:t>sent prototype for usability testing</a:t>
            </a:r>
          </a:p>
        </p:txBody>
      </p:sp>
      <p:sp>
        <p:nvSpPr>
          <p:cNvPr id="51204" name="Slide Number Placeholder 5"/>
          <p:cNvSpPr txBox="1">
            <a:spLocks noGrp="1"/>
          </p:cNvSpPr>
          <p:nvPr/>
        </p:nvSpPr>
        <p:spPr bwMode="auto">
          <a:xfrm>
            <a:off x="7092950" y="62372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D0B5410D-7F51-4407-A617-AB4921CBD748}" type="slidenum">
              <a:rPr lang="en-US" altLang="en-US" sz="1400">
                <a:solidFill>
                  <a:schemeClr val="tx1"/>
                </a:solidFill>
                <a:latin typeface="Arial" panose="020B0604020202020204" pitchFamily="34" charset="0"/>
              </a:rPr>
              <a:pPr algn="r" eaLnBrk="1" hangingPunct="1">
                <a:spcBef>
                  <a:spcPct val="0"/>
                </a:spcBef>
                <a:buClrTx/>
                <a:buSzTx/>
                <a:buFontTx/>
                <a:buNone/>
              </a:pPr>
              <a:t>18</a:t>
            </a:fld>
            <a:endParaRPr lang="en-US" altLang="en-US" sz="1400">
              <a:solidFill>
                <a:schemeClr val="tx1"/>
              </a:solidFill>
              <a:latin typeface="Arial" panose="020B0604020202020204" pitchFamily="34" charset="0"/>
            </a:endParaRPr>
          </a:p>
        </p:txBody>
      </p:sp>
      <p:sp>
        <p:nvSpPr>
          <p:cNvPr id="51205"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8353E6BB-C05E-48FF-9203-A68A949030D2}"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274638"/>
            <a:ext cx="8229600" cy="777875"/>
          </a:xfrm>
        </p:spPr>
        <p:txBody>
          <a:bodyPr/>
          <a:lstStyle/>
          <a:p>
            <a:pPr eaLnBrk="1" hangingPunct="1"/>
            <a:r>
              <a:rPr lang="en-GB" altLang="en-US" smtClean="0"/>
              <a:t>Summary</a:t>
            </a:r>
          </a:p>
        </p:txBody>
      </p:sp>
      <p:sp>
        <p:nvSpPr>
          <p:cNvPr id="52227" name="Rectangle 3"/>
          <p:cNvSpPr>
            <a:spLocks noGrp="1" noChangeArrowheads="1"/>
          </p:cNvSpPr>
          <p:nvPr>
            <p:ph idx="1"/>
          </p:nvPr>
        </p:nvSpPr>
        <p:spPr>
          <a:xfrm>
            <a:off x="468313" y="1052513"/>
            <a:ext cx="7007225" cy="5184775"/>
          </a:xfrm>
        </p:spPr>
        <p:txBody>
          <a:bodyPr/>
          <a:lstStyle/>
          <a:p>
            <a:pPr eaLnBrk="1" hangingPunct="1"/>
            <a:r>
              <a:rPr lang="en-GB" altLang="en-US" sz="2800" dirty="0" smtClean="0"/>
              <a:t>PPDIOO process</a:t>
            </a:r>
          </a:p>
          <a:p>
            <a:pPr lvl="1" eaLnBrk="1" hangingPunct="1"/>
            <a:r>
              <a:rPr lang="en-GB" altLang="en-US" sz="2400" b="1" dirty="0" smtClean="0"/>
              <a:t>P</a:t>
            </a:r>
            <a:r>
              <a:rPr lang="en-GB" altLang="en-US" sz="2400" dirty="0" smtClean="0"/>
              <a:t>repare, </a:t>
            </a:r>
            <a:r>
              <a:rPr lang="en-GB" altLang="en-US" sz="2400" b="1" dirty="0" smtClean="0"/>
              <a:t>P</a:t>
            </a:r>
            <a:r>
              <a:rPr lang="en-GB" altLang="en-US" sz="2400" dirty="0" smtClean="0"/>
              <a:t>lan, </a:t>
            </a:r>
            <a:r>
              <a:rPr lang="en-GB" altLang="en-US" sz="2400" b="1" dirty="0" smtClean="0"/>
              <a:t>d</a:t>
            </a:r>
            <a:r>
              <a:rPr lang="en-GB" altLang="en-US" sz="2400" dirty="0" smtClean="0"/>
              <a:t>esign, </a:t>
            </a:r>
            <a:r>
              <a:rPr lang="en-GB" altLang="en-US" sz="2400" b="1" dirty="0" smtClean="0"/>
              <a:t>i</a:t>
            </a:r>
            <a:r>
              <a:rPr lang="en-GB" altLang="en-US" sz="2400" dirty="0" smtClean="0"/>
              <a:t>mplement, </a:t>
            </a:r>
            <a:r>
              <a:rPr lang="en-GB" altLang="en-US" sz="2400" b="1" dirty="0" smtClean="0"/>
              <a:t>o</a:t>
            </a:r>
            <a:r>
              <a:rPr lang="en-GB" altLang="en-US" sz="2400" dirty="0" smtClean="0"/>
              <a:t>perate and </a:t>
            </a:r>
            <a:r>
              <a:rPr lang="en-GB" altLang="en-US" sz="2400" b="1" dirty="0" smtClean="0"/>
              <a:t>o</a:t>
            </a:r>
            <a:r>
              <a:rPr lang="en-GB" altLang="en-US" sz="2400" dirty="0" smtClean="0"/>
              <a:t>ptimise</a:t>
            </a:r>
          </a:p>
          <a:p>
            <a:pPr eaLnBrk="1" hangingPunct="1"/>
            <a:r>
              <a:rPr lang="en-GB" altLang="en-US" sz="2800" dirty="0" smtClean="0"/>
              <a:t>Network documentation</a:t>
            </a:r>
          </a:p>
          <a:p>
            <a:pPr lvl="1" eaLnBrk="1" hangingPunct="1"/>
            <a:r>
              <a:rPr lang="en-GB" altLang="en-US" sz="2400" dirty="0" smtClean="0"/>
              <a:t>Management summary, proposed solution, installation and support, summary and appendices</a:t>
            </a:r>
          </a:p>
          <a:p>
            <a:pPr eaLnBrk="1" hangingPunct="1"/>
            <a:r>
              <a:rPr lang="en-GB" altLang="en-US" sz="2800" dirty="0" smtClean="0"/>
              <a:t>Steps for prototyping</a:t>
            </a:r>
          </a:p>
          <a:p>
            <a:pPr lvl="1" eaLnBrk="1" hangingPunct="1"/>
            <a:r>
              <a:rPr lang="en-GB" altLang="en-US" sz="2400" dirty="0" smtClean="0"/>
              <a:t>Review, determine extent, alternatives, test plan, equipment, practice, demonstration</a:t>
            </a:r>
          </a:p>
        </p:txBody>
      </p:sp>
      <p:sp>
        <p:nvSpPr>
          <p:cNvPr id="52228" name="Slide Number Placeholder 5"/>
          <p:cNvSpPr txBox="1">
            <a:spLocks noGrp="1"/>
          </p:cNvSpPr>
          <p:nvPr/>
        </p:nvSpPr>
        <p:spPr bwMode="auto">
          <a:xfrm>
            <a:off x="8459788" y="6237288"/>
            <a:ext cx="538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fld id="{6050D9CE-D8FE-466C-85C2-1D8DF34C1D5B}" type="slidenum">
              <a:rPr lang="en-US" altLang="en-US" sz="1400">
                <a:solidFill>
                  <a:schemeClr val="tx1"/>
                </a:solidFill>
                <a:latin typeface="Arial" panose="020B0604020202020204" pitchFamily="34" charset="0"/>
              </a:rPr>
              <a:pPr algn="r" eaLnBrk="1" hangingPunct="1">
                <a:spcBef>
                  <a:spcPct val="0"/>
                </a:spcBef>
                <a:buClrTx/>
                <a:buSzTx/>
                <a:buFontTx/>
                <a:buNone/>
              </a:pPr>
              <a:t>19</a:t>
            </a:fld>
            <a:endParaRPr lang="en-US" altLang="en-US" sz="1400">
              <a:solidFill>
                <a:schemeClr val="tx1"/>
              </a:solidFill>
              <a:latin typeface="Arial" panose="020B0604020202020204" pitchFamily="34" charset="0"/>
            </a:endParaRPr>
          </a:p>
        </p:txBody>
      </p:sp>
      <p:sp>
        <p:nvSpPr>
          <p:cNvPr id="52229" name="Rectangle 4"/>
          <p:cNvSpPr>
            <a:spLocks noChangeArrowheads="1"/>
          </p:cNvSpPr>
          <p:nvPr/>
        </p:nvSpPr>
        <p:spPr bwMode="auto">
          <a:xfrm>
            <a:off x="6948488" y="6550025"/>
            <a:ext cx="105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35D0B70-A2F9-4B82-8C55-05EF9B090716}" type="datetime1">
              <a:rPr lang="en-GB" altLang="en-US" sz="1400">
                <a:solidFill>
                  <a:srgbClr val="474747"/>
                </a:solidFill>
                <a:latin typeface="Calibri" panose="020F0502020204030204" pitchFamily="34" charset="0"/>
                <a:cs typeface="Times New Roman" panose="02020603050405020304" pitchFamily="18" charset="0"/>
              </a:rPr>
              <a:pPr eaLnBrk="1" hangingPunct="1">
                <a:spcBef>
                  <a:spcPct val="0"/>
                </a:spcBef>
                <a:buClrTx/>
                <a:buSzTx/>
                <a:buFontTx/>
                <a:buNone/>
              </a:pPr>
              <a:t>25/11/2019</a:t>
            </a:fld>
            <a:endParaRPr lang="en-GB" altLang="en-US" sz="14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8100"/>
            <a:ext cx="7658100" cy="742950"/>
          </a:xfrm>
        </p:spPr>
        <p:txBody>
          <a:bodyPr rtlCol="0">
            <a:normAutofit fontScale="90000"/>
          </a:bodyPr>
          <a:lstStyle/>
          <a:p>
            <a:pPr eaLnBrk="1" fontAlgn="auto" hangingPunct="1">
              <a:spcAft>
                <a:spcPts val="0"/>
              </a:spcAft>
              <a:defRPr/>
            </a:pPr>
            <a:r>
              <a:rPr lang="en-US" dirty="0" smtClean="0"/>
              <a:t>Figure 2-2. Waterfall and Spiral Life Cycle Models</a:t>
            </a:r>
            <a:endParaRPr lang="en-US" dirty="0"/>
          </a:p>
        </p:txBody>
      </p:sp>
      <p:sp>
        <p:nvSpPr>
          <p:cNvPr id="25603" name="Footer Placeholder 3"/>
          <p:cNvSpPr>
            <a:spLocks noGrp="1"/>
          </p:cNvSpPr>
          <p:nvPr>
            <p:ph type="ftr" sz="quarter" idx="11"/>
          </p:nvPr>
        </p:nvSpPr>
        <p:spPr bwMode="auto">
          <a:xfrm>
            <a:off x="6473825" y="6362700"/>
            <a:ext cx="267017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algn="r" fontAlgn="base">
              <a:spcBef>
                <a:spcPct val="0"/>
              </a:spcBef>
              <a:spcAft>
                <a:spcPct val="0"/>
              </a:spcAft>
              <a:defRPr/>
            </a:pPr>
            <a:r>
              <a:rPr lang="en-US" altLang="en-US" dirty="0" smtClean="0">
                <a:solidFill>
                  <a:srgbClr val="898989"/>
                </a:solidFill>
              </a:rPr>
              <a:t>Information Technology Project Management, Eighth Edition</a:t>
            </a:r>
          </a:p>
        </p:txBody>
      </p:sp>
      <p:sp>
        <p:nvSpPr>
          <p:cNvPr id="25604"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C61A7EE1-6F90-422F-9C3E-F15A12334AAD}" type="slidenum">
              <a:rPr lang="en-US" altLang="en-US">
                <a:solidFill>
                  <a:srgbClr val="898989"/>
                </a:solidFill>
              </a:rPr>
              <a:pPr algn="l" eaLnBrk="1" hangingPunct="1">
                <a:spcBef>
                  <a:spcPct val="0"/>
                </a:spcBef>
                <a:buClrTx/>
                <a:buSzTx/>
                <a:buFontTx/>
                <a:buNone/>
              </a:pPr>
              <a:t>20</a:t>
            </a:fld>
            <a:endParaRPr lang="en-US" altLang="en-US">
              <a:solidFill>
                <a:srgbClr val="898989"/>
              </a:solidFill>
            </a:endParaRPr>
          </a:p>
        </p:txBody>
      </p:sp>
      <p:pic>
        <p:nvPicPr>
          <p:cNvPr id="53253"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031901"/>
            <a:ext cx="6818312" cy="527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a:xfrm>
            <a:off x="1835696" y="312244"/>
            <a:ext cx="8229600" cy="954087"/>
          </a:xfrm>
        </p:spPr>
        <p:txBody>
          <a:bodyPr/>
          <a:lstStyle/>
          <a:p>
            <a:pPr eaLnBrk="1" hangingPunct="1"/>
            <a:r>
              <a:rPr lang="en-GB" altLang="en-US" dirty="0" smtClean="0"/>
              <a:t>Waterfall Approach</a:t>
            </a:r>
          </a:p>
        </p:txBody>
      </p:sp>
      <p:sp>
        <p:nvSpPr>
          <p:cNvPr id="76804" name="Rectangle 3"/>
          <p:cNvSpPr>
            <a:spLocks noGrp="1" noChangeArrowheads="1"/>
          </p:cNvSpPr>
          <p:nvPr>
            <p:ph idx="1"/>
          </p:nvPr>
        </p:nvSpPr>
        <p:spPr>
          <a:xfrm>
            <a:off x="899717" y="1581053"/>
            <a:ext cx="7560071" cy="4609182"/>
          </a:xfrm>
        </p:spPr>
        <p:txBody>
          <a:bodyPr/>
          <a:lstStyle/>
          <a:p>
            <a:pPr eaLnBrk="1" hangingPunct="1">
              <a:lnSpc>
                <a:spcPct val="90000"/>
              </a:lnSpc>
            </a:pPr>
            <a:r>
              <a:rPr lang="en-GB" altLang="en-US" sz="2800" dirty="0" smtClean="0"/>
              <a:t>First life cycle used by software developers</a:t>
            </a:r>
          </a:p>
          <a:p>
            <a:pPr eaLnBrk="1" hangingPunct="1">
              <a:lnSpc>
                <a:spcPct val="90000"/>
              </a:lnSpc>
            </a:pPr>
            <a:r>
              <a:rPr lang="en-GB" altLang="en-US" sz="2800" dirty="0" smtClean="0">
                <a:solidFill>
                  <a:srgbClr val="0070C0"/>
                </a:solidFill>
              </a:rPr>
              <a:t>Suggests a systematic sequential approach to software development</a:t>
            </a:r>
          </a:p>
          <a:p>
            <a:pPr eaLnBrk="1" hangingPunct="1">
              <a:lnSpc>
                <a:spcPct val="90000"/>
              </a:lnSpc>
            </a:pPr>
            <a:r>
              <a:rPr lang="en-GB" altLang="en-US" sz="2800" dirty="0" smtClean="0"/>
              <a:t>The </a:t>
            </a:r>
            <a:r>
              <a:rPr lang="en-GB" altLang="en-US" sz="2800" i="1" dirty="0" smtClean="0"/>
              <a:t>Waterfall </a:t>
            </a:r>
            <a:r>
              <a:rPr lang="en-GB" altLang="en-US" sz="2800" dirty="0" smtClean="0"/>
              <a:t>approach assumes all requirements are written down before producing them</a:t>
            </a:r>
          </a:p>
          <a:p>
            <a:pPr eaLnBrk="1" hangingPunct="1">
              <a:lnSpc>
                <a:spcPct val="90000"/>
              </a:lnSpc>
            </a:pPr>
            <a:r>
              <a:rPr lang="en-GB" altLang="en-US" sz="2800" dirty="0" smtClean="0">
                <a:solidFill>
                  <a:srgbClr val="0070C0"/>
                </a:solidFill>
              </a:rPr>
              <a:t>Each definition is ‘signed off’ by the user before starting work</a:t>
            </a:r>
          </a:p>
        </p:txBody>
      </p:sp>
      <p:sp>
        <p:nvSpPr>
          <p:cNvPr id="76802" name="Slide Number Placeholder 5"/>
          <p:cNvSpPr>
            <a:spLocks noGrp="1"/>
          </p:cNvSpPr>
          <p:nvPr>
            <p:ph type="sldNum" sz="quarter" idx="12"/>
          </p:nvPr>
        </p:nvSpPr>
        <p:spPr bwMode="auto">
          <a:xfrm>
            <a:off x="8675688" y="6165850"/>
            <a:ext cx="468312"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2D7C2089-D716-415B-916B-9A4BC39AB7FC}"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21</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76805" name="Rectangle 4"/>
          <p:cNvSpPr>
            <a:spLocks noChangeArrowheads="1"/>
          </p:cNvSpPr>
          <p:nvPr/>
        </p:nvSpPr>
        <p:spPr bwMode="auto">
          <a:xfrm>
            <a:off x="7164388"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201E1FCC-3959-4585-BB67-36400B8FFB23}"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448480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1150937" y="404664"/>
            <a:ext cx="7993063" cy="1022350"/>
          </a:xfrm>
        </p:spPr>
        <p:txBody>
          <a:bodyPr/>
          <a:lstStyle/>
          <a:p>
            <a:pPr eaLnBrk="1" hangingPunct="1"/>
            <a:r>
              <a:rPr lang="en-GB" altLang="en-US" dirty="0" smtClean="0"/>
              <a:t>Waterfall Approach: Advantages</a:t>
            </a:r>
          </a:p>
        </p:txBody>
      </p:sp>
      <p:sp>
        <p:nvSpPr>
          <p:cNvPr id="433155" name="Rectangle 3"/>
          <p:cNvSpPr>
            <a:spLocks noGrp="1" noChangeArrowheads="1"/>
          </p:cNvSpPr>
          <p:nvPr>
            <p:ph idx="1"/>
          </p:nvPr>
        </p:nvSpPr>
        <p:spPr>
          <a:xfrm>
            <a:off x="1293080" y="1459937"/>
            <a:ext cx="6985000" cy="3879850"/>
          </a:xfrm>
        </p:spPr>
        <p:txBody>
          <a:bodyPr/>
          <a:lstStyle/>
          <a:p>
            <a:pPr eaLnBrk="1" hangingPunct="1">
              <a:lnSpc>
                <a:spcPct val="90000"/>
              </a:lnSpc>
            </a:pPr>
            <a:r>
              <a:rPr lang="en-GB" altLang="en-US" sz="2400" dirty="0" smtClean="0"/>
              <a:t>Simple to understand</a:t>
            </a:r>
          </a:p>
          <a:p>
            <a:pPr eaLnBrk="1" hangingPunct="1">
              <a:lnSpc>
                <a:spcPct val="90000"/>
              </a:lnSpc>
            </a:pPr>
            <a:r>
              <a:rPr lang="en-GB" altLang="en-US" sz="2400" dirty="0" smtClean="0"/>
              <a:t>Clearly breaks up the process of software development giving a clear framework for management</a:t>
            </a:r>
          </a:p>
          <a:p>
            <a:pPr eaLnBrk="1" hangingPunct="1">
              <a:lnSpc>
                <a:spcPct val="90000"/>
              </a:lnSpc>
            </a:pPr>
            <a:r>
              <a:rPr lang="en-GB" altLang="en-US" sz="2400" dirty="0" smtClean="0"/>
              <a:t>Milestones/deliverables are easily identified</a:t>
            </a:r>
          </a:p>
          <a:p>
            <a:pPr eaLnBrk="1" hangingPunct="1">
              <a:lnSpc>
                <a:spcPct val="90000"/>
              </a:lnSpc>
            </a:pPr>
            <a:r>
              <a:rPr lang="en-GB" altLang="en-US" sz="2400" dirty="0" smtClean="0"/>
              <a:t>Each stage should produce documentation (useful for maintenance/quality assurance)</a:t>
            </a:r>
          </a:p>
          <a:p>
            <a:pPr eaLnBrk="1" hangingPunct="1">
              <a:lnSpc>
                <a:spcPct val="90000"/>
              </a:lnSpc>
            </a:pPr>
            <a:r>
              <a:rPr lang="en-GB" altLang="en-US" sz="2400" dirty="0" smtClean="0"/>
              <a:t>Cost estimations can be applied</a:t>
            </a:r>
          </a:p>
        </p:txBody>
      </p:sp>
      <p:sp>
        <p:nvSpPr>
          <p:cNvPr id="78850" name="Slide Number Placeholder 5"/>
          <p:cNvSpPr>
            <a:spLocks noGrp="1"/>
          </p:cNvSpPr>
          <p:nvPr>
            <p:ph type="sldNum" sz="quarter" idx="12"/>
          </p:nvPr>
        </p:nvSpPr>
        <p:spPr bwMode="auto">
          <a:xfrm>
            <a:off x="8748713" y="6165850"/>
            <a:ext cx="395287"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75CEB431-FE59-4E0A-8DA2-AAFE88F9F8AA}"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22</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78853" name="Rectangle 4"/>
          <p:cNvSpPr>
            <a:spLocks noChangeArrowheads="1"/>
          </p:cNvSpPr>
          <p:nvPr/>
        </p:nvSpPr>
        <p:spPr bwMode="auto">
          <a:xfrm>
            <a:off x="7164388"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B959600A-5951-478A-A235-935BCF3A8AE3}"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9869088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33155">
                                            <p:txEl>
                                              <p:pRg st="0" end="0"/>
                                            </p:txEl>
                                          </p:spTgt>
                                        </p:tgtEl>
                                        <p:attrNameLst>
                                          <p:attrName>style.visibility</p:attrName>
                                        </p:attrNameLst>
                                      </p:cBhvr>
                                      <p:to>
                                        <p:strVal val="visible"/>
                                      </p:to>
                                    </p:set>
                                    <p:anim calcmode="lin" valueType="num">
                                      <p:cBhvr additive="base">
                                        <p:cTn id="7" dur="500" fill="hold"/>
                                        <p:tgtEl>
                                          <p:spTgt spid="4331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31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33155">
                                            <p:txEl>
                                              <p:pRg st="1" end="1"/>
                                            </p:txEl>
                                          </p:spTgt>
                                        </p:tgtEl>
                                        <p:attrNameLst>
                                          <p:attrName>style.visibility</p:attrName>
                                        </p:attrNameLst>
                                      </p:cBhvr>
                                      <p:to>
                                        <p:strVal val="visible"/>
                                      </p:to>
                                    </p:set>
                                    <p:anim calcmode="lin" valueType="num">
                                      <p:cBhvr additive="base">
                                        <p:cTn id="13" dur="500" fill="hold"/>
                                        <p:tgtEl>
                                          <p:spTgt spid="4331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31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33155">
                                            <p:txEl>
                                              <p:pRg st="2" end="2"/>
                                            </p:txEl>
                                          </p:spTgt>
                                        </p:tgtEl>
                                        <p:attrNameLst>
                                          <p:attrName>style.visibility</p:attrName>
                                        </p:attrNameLst>
                                      </p:cBhvr>
                                      <p:to>
                                        <p:strVal val="visible"/>
                                      </p:to>
                                    </p:set>
                                    <p:anim calcmode="lin" valueType="num">
                                      <p:cBhvr additive="base">
                                        <p:cTn id="19" dur="500" fill="hold"/>
                                        <p:tgtEl>
                                          <p:spTgt spid="4331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331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33155">
                                            <p:txEl>
                                              <p:pRg st="3" end="3"/>
                                            </p:txEl>
                                          </p:spTgt>
                                        </p:tgtEl>
                                        <p:attrNameLst>
                                          <p:attrName>style.visibility</p:attrName>
                                        </p:attrNameLst>
                                      </p:cBhvr>
                                      <p:to>
                                        <p:strVal val="visible"/>
                                      </p:to>
                                    </p:set>
                                    <p:anim calcmode="lin" valueType="num">
                                      <p:cBhvr additive="base">
                                        <p:cTn id="25" dur="500" fill="hold"/>
                                        <p:tgtEl>
                                          <p:spTgt spid="4331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331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33155">
                                            <p:txEl>
                                              <p:pRg st="4" end="4"/>
                                            </p:txEl>
                                          </p:spTgt>
                                        </p:tgtEl>
                                        <p:attrNameLst>
                                          <p:attrName>style.visibility</p:attrName>
                                        </p:attrNameLst>
                                      </p:cBhvr>
                                      <p:to>
                                        <p:strVal val="visible"/>
                                      </p:to>
                                    </p:set>
                                    <p:anim calcmode="lin" valueType="num">
                                      <p:cBhvr additive="base">
                                        <p:cTn id="31" dur="500" fill="hold"/>
                                        <p:tgtEl>
                                          <p:spTgt spid="4331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3315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Waterfall Development </a:t>
            </a:r>
            <a:r>
              <a:rPr lang="en-US" altLang="en-US" dirty="0" smtClean="0"/>
              <a:t>Lifecycle: disadvantages</a:t>
            </a:r>
            <a:endParaRPr lang="en-GB" dirty="0"/>
          </a:p>
        </p:txBody>
      </p:sp>
      <p:sp>
        <p:nvSpPr>
          <p:cNvPr id="3" name="Content Placeholder 2"/>
          <p:cNvSpPr>
            <a:spLocks noGrp="1"/>
          </p:cNvSpPr>
          <p:nvPr>
            <p:ph idx="1"/>
          </p:nvPr>
        </p:nvSpPr>
        <p:spPr/>
        <p:txBody>
          <a:bodyPr/>
          <a:lstStyle/>
          <a:p>
            <a:pPr eaLnBrk="1" hangingPunct="1"/>
            <a:r>
              <a:rPr lang="en-US" altLang="en-US" sz="1800" dirty="0" smtClean="0"/>
              <a:t>Late discovery of issues</a:t>
            </a:r>
          </a:p>
          <a:p>
            <a:pPr eaLnBrk="1" hangingPunct="1"/>
            <a:r>
              <a:rPr lang="en-US" altLang="en-US" sz="1800" dirty="0" smtClean="0"/>
              <a:t>Subjective and error-prone measure of progress</a:t>
            </a:r>
          </a:p>
          <a:p>
            <a:pPr eaLnBrk="1" hangingPunct="1"/>
            <a:r>
              <a:rPr lang="en-US" altLang="en-US" sz="1800" dirty="0" smtClean="0"/>
              <a:t>Late integration and testing</a:t>
            </a:r>
          </a:p>
          <a:p>
            <a:pPr eaLnBrk="1" hangingPunct="1"/>
            <a:r>
              <a:rPr lang="en-US" altLang="en-US" sz="1800" dirty="0" smtClean="0"/>
              <a:t>Precludes early deployment</a:t>
            </a:r>
          </a:p>
          <a:p>
            <a:pPr eaLnBrk="1" hangingPunct="1"/>
            <a:r>
              <a:rPr lang="en-US" altLang="en-US" sz="1800" dirty="0" smtClean="0"/>
              <a:t>Frequently results in major unplanned iterations</a:t>
            </a:r>
            <a:endParaRPr lang="en-US" altLang="en-US" dirty="0" smtClean="0">
              <a:solidFill>
                <a:schemeClr val="bg1"/>
              </a:solidFill>
            </a:endParaRPr>
          </a:p>
          <a:p>
            <a:endParaRPr lang="en-GB" dirty="0"/>
          </a:p>
        </p:txBody>
      </p:sp>
    </p:spTree>
    <p:extLst>
      <p:ext uri="{BB962C8B-B14F-4D97-AF65-F5344CB8AC3E}">
        <p14:creationId xmlns:p14="http://schemas.microsoft.com/office/powerpoint/2010/main" val="3637047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5612" y="142081"/>
            <a:ext cx="6446838" cy="1320800"/>
          </a:xfrm>
        </p:spPr>
        <p:txBody>
          <a:bodyPr/>
          <a:lstStyle/>
          <a:p>
            <a:pPr eaLnBrk="1" hangingPunct="1"/>
            <a:r>
              <a:rPr lang="en-US" altLang="en-US" dirty="0" smtClean="0"/>
              <a:t>What Happens in Practice</a:t>
            </a:r>
          </a:p>
        </p:txBody>
      </p:sp>
      <p:sp>
        <p:nvSpPr>
          <p:cNvPr id="8195" name="Rectangle 3"/>
          <p:cNvSpPr>
            <a:spLocks noChangeArrowheads="1"/>
          </p:cNvSpPr>
          <p:nvPr/>
        </p:nvSpPr>
        <p:spPr bwMode="auto">
          <a:xfrm>
            <a:off x="0" y="1323975"/>
            <a:ext cx="9144000"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lstStyle>
            <a:lvl1pPr marL="346075" indent="-346075"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eaLnBrk="1" hangingPunct="1">
              <a:lnSpc>
                <a:spcPct val="87000"/>
              </a:lnSpc>
              <a:spcBef>
                <a:spcPct val="30000"/>
              </a:spcBef>
              <a:buClr>
                <a:schemeClr val="accent2"/>
              </a:buClr>
              <a:buFont typeface="Wingdings" panose="05000000000000000000" pitchFamily="2" charset="2"/>
              <a:buNone/>
            </a:pPr>
            <a:r>
              <a:rPr lang="en-US" altLang="en-US" sz="2800" dirty="0">
                <a:solidFill>
                  <a:schemeClr val="hlink"/>
                </a:solidFill>
                <a:latin typeface="Arial Narrow" panose="020B0606020202030204" pitchFamily="34" charset="0"/>
              </a:rPr>
              <a:t>Sequential activities:</a:t>
            </a:r>
          </a:p>
          <a:p>
            <a:pPr algn="l" eaLnBrk="1" hangingPunct="1">
              <a:lnSpc>
                <a:spcPct val="87000"/>
              </a:lnSpc>
              <a:spcBef>
                <a:spcPct val="30000"/>
              </a:spcBef>
              <a:buClr>
                <a:schemeClr val="accent2"/>
              </a:buClr>
              <a:buFont typeface="Wingdings" panose="05000000000000000000" pitchFamily="2" charset="2"/>
              <a:buNone/>
            </a:pPr>
            <a:r>
              <a:rPr lang="en-US" altLang="en-US" sz="2800" dirty="0">
                <a:solidFill>
                  <a:schemeClr val="accent2"/>
                </a:solidFill>
                <a:latin typeface="Arial Narrow" panose="020B0606020202030204" pitchFamily="34" charset="0"/>
              </a:rPr>
              <a:t>Requirements        Design        Code        Integration       </a:t>
            </a:r>
            <a:r>
              <a:rPr lang="en-US" altLang="en-US" sz="2800" dirty="0">
                <a:latin typeface="Arial Narrow" panose="020B0606020202030204" pitchFamily="34" charset="0"/>
              </a:rPr>
              <a:t>Test</a:t>
            </a:r>
          </a:p>
        </p:txBody>
      </p:sp>
      <p:sp>
        <p:nvSpPr>
          <p:cNvPr id="2037764" name="AutoShape 4"/>
          <p:cNvSpPr>
            <a:spLocks noChangeArrowheads="1"/>
          </p:cNvSpPr>
          <p:nvPr/>
        </p:nvSpPr>
        <p:spPr bwMode="auto">
          <a:xfrm>
            <a:off x="7265193" y="1901824"/>
            <a:ext cx="525463" cy="388938"/>
          </a:xfrm>
          <a:prstGeom prst="rightArrow">
            <a:avLst>
              <a:gd name="adj1" fmla="val 49676"/>
              <a:gd name="adj2" fmla="val 51839"/>
            </a:avLst>
          </a:prstGeom>
          <a:gradFill rotWithShape="0">
            <a:gsLst>
              <a:gs pos="0">
                <a:schemeClr val="accent2">
                  <a:gamma/>
                  <a:shade val="0"/>
                  <a:invGamma/>
                </a:schemeClr>
              </a:gs>
              <a:gs pos="100000">
                <a:schemeClr val="accent2"/>
              </a:gs>
            </a:gsLst>
            <a:lin ang="0" scaled="1"/>
          </a:gradFill>
          <a:ln w="12700">
            <a:noFill/>
            <a:miter lim="800000"/>
            <a:headEnd/>
            <a:tailEnd/>
          </a:ln>
          <a:effectLst/>
        </p:spPr>
        <p:txBody>
          <a:bodyPr wrap="none" anchor="ctr"/>
          <a:lstStyle/>
          <a:p>
            <a:pPr eaLnBrk="0" hangingPunct="0">
              <a:lnSpc>
                <a:spcPct val="90000"/>
              </a:lnSpc>
              <a:spcBef>
                <a:spcPct val="40000"/>
              </a:spcBef>
              <a:defRPr/>
            </a:pPr>
            <a:endParaRPr lang="en-US" sz="1200">
              <a:solidFill>
                <a:schemeClr val="accent2"/>
              </a:solidFill>
              <a:latin typeface="Arial Narrow" pitchFamily="34" charset="0"/>
            </a:endParaRPr>
          </a:p>
        </p:txBody>
      </p:sp>
      <p:sp>
        <p:nvSpPr>
          <p:cNvPr id="2037765" name="AutoShape 5"/>
          <p:cNvSpPr>
            <a:spLocks noChangeArrowheads="1"/>
          </p:cNvSpPr>
          <p:nvPr/>
        </p:nvSpPr>
        <p:spPr bwMode="auto">
          <a:xfrm>
            <a:off x="5069114" y="1859530"/>
            <a:ext cx="525462" cy="388937"/>
          </a:xfrm>
          <a:prstGeom prst="rightArrow">
            <a:avLst>
              <a:gd name="adj1" fmla="val 49676"/>
              <a:gd name="adj2" fmla="val 51839"/>
            </a:avLst>
          </a:prstGeom>
          <a:gradFill rotWithShape="0">
            <a:gsLst>
              <a:gs pos="0">
                <a:schemeClr val="accent2">
                  <a:gamma/>
                  <a:shade val="0"/>
                  <a:invGamma/>
                </a:schemeClr>
              </a:gs>
              <a:gs pos="100000">
                <a:schemeClr val="accent2"/>
              </a:gs>
            </a:gsLst>
            <a:lin ang="0" scaled="1"/>
          </a:gradFill>
          <a:ln w="12700">
            <a:noFill/>
            <a:miter lim="800000"/>
            <a:headEnd/>
            <a:tailEnd/>
          </a:ln>
          <a:effectLst/>
        </p:spPr>
        <p:txBody>
          <a:bodyPr wrap="none" anchor="ctr"/>
          <a:lstStyle/>
          <a:p>
            <a:pPr eaLnBrk="0" hangingPunct="0">
              <a:lnSpc>
                <a:spcPct val="90000"/>
              </a:lnSpc>
              <a:spcBef>
                <a:spcPct val="40000"/>
              </a:spcBef>
              <a:defRPr/>
            </a:pPr>
            <a:endParaRPr lang="en-US" sz="1200">
              <a:solidFill>
                <a:schemeClr val="accent2"/>
              </a:solidFill>
              <a:latin typeface="Arial Narrow" pitchFamily="34" charset="0"/>
            </a:endParaRPr>
          </a:p>
        </p:txBody>
      </p:sp>
      <p:sp>
        <p:nvSpPr>
          <p:cNvPr id="2037766" name="AutoShape 6"/>
          <p:cNvSpPr>
            <a:spLocks noChangeArrowheads="1"/>
          </p:cNvSpPr>
          <p:nvPr/>
        </p:nvSpPr>
        <p:spPr bwMode="auto">
          <a:xfrm>
            <a:off x="3731803" y="1898650"/>
            <a:ext cx="525463" cy="388937"/>
          </a:xfrm>
          <a:prstGeom prst="rightArrow">
            <a:avLst>
              <a:gd name="adj1" fmla="val 49676"/>
              <a:gd name="adj2" fmla="val 51839"/>
            </a:avLst>
          </a:prstGeom>
          <a:gradFill rotWithShape="0">
            <a:gsLst>
              <a:gs pos="0">
                <a:schemeClr val="accent2">
                  <a:gamma/>
                  <a:shade val="0"/>
                  <a:invGamma/>
                </a:schemeClr>
              </a:gs>
              <a:gs pos="100000">
                <a:schemeClr val="accent2"/>
              </a:gs>
            </a:gsLst>
            <a:lin ang="0" scaled="1"/>
          </a:gradFill>
          <a:ln w="12700">
            <a:noFill/>
            <a:miter lim="800000"/>
            <a:headEnd/>
            <a:tailEnd/>
          </a:ln>
          <a:effectLst/>
        </p:spPr>
        <p:txBody>
          <a:bodyPr wrap="none" anchor="ctr"/>
          <a:lstStyle/>
          <a:p>
            <a:pPr eaLnBrk="0" hangingPunct="0">
              <a:lnSpc>
                <a:spcPct val="90000"/>
              </a:lnSpc>
              <a:spcBef>
                <a:spcPct val="40000"/>
              </a:spcBef>
              <a:defRPr/>
            </a:pPr>
            <a:endParaRPr lang="en-US" sz="1200">
              <a:solidFill>
                <a:schemeClr val="accent2"/>
              </a:solidFill>
              <a:latin typeface="Arial Narrow" pitchFamily="34" charset="0"/>
            </a:endParaRPr>
          </a:p>
        </p:txBody>
      </p:sp>
      <p:sp>
        <p:nvSpPr>
          <p:cNvPr id="2037767" name="AutoShape 7"/>
          <p:cNvSpPr>
            <a:spLocks noChangeArrowheads="1"/>
          </p:cNvSpPr>
          <p:nvPr/>
        </p:nvSpPr>
        <p:spPr bwMode="auto">
          <a:xfrm>
            <a:off x="2106612" y="1871662"/>
            <a:ext cx="525463" cy="388937"/>
          </a:xfrm>
          <a:prstGeom prst="rightArrow">
            <a:avLst>
              <a:gd name="adj1" fmla="val 49676"/>
              <a:gd name="adj2" fmla="val 51839"/>
            </a:avLst>
          </a:prstGeom>
          <a:gradFill rotWithShape="0">
            <a:gsLst>
              <a:gs pos="0">
                <a:schemeClr val="accent2">
                  <a:gamma/>
                  <a:shade val="0"/>
                  <a:invGamma/>
                </a:schemeClr>
              </a:gs>
              <a:gs pos="100000">
                <a:schemeClr val="accent2"/>
              </a:gs>
            </a:gsLst>
            <a:lin ang="0" scaled="1"/>
          </a:gradFill>
          <a:ln w="12700">
            <a:noFill/>
            <a:miter lim="800000"/>
            <a:headEnd/>
            <a:tailEnd/>
          </a:ln>
          <a:effectLst/>
        </p:spPr>
        <p:txBody>
          <a:bodyPr wrap="none" anchor="ctr"/>
          <a:lstStyle/>
          <a:p>
            <a:pPr eaLnBrk="0" hangingPunct="0">
              <a:lnSpc>
                <a:spcPct val="90000"/>
              </a:lnSpc>
              <a:spcBef>
                <a:spcPct val="40000"/>
              </a:spcBef>
              <a:defRPr/>
            </a:pPr>
            <a:endParaRPr lang="en-US" sz="1200">
              <a:solidFill>
                <a:schemeClr val="accent2"/>
              </a:solidFill>
              <a:latin typeface="Arial Narrow" pitchFamily="34" charset="0"/>
            </a:endParaRPr>
          </a:p>
        </p:txBody>
      </p:sp>
      <p:grpSp>
        <p:nvGrpSpPr>
          <p:cNvPr id="8200" name="Group 8"/>
          <p:cNvGrpSpPr>
            <a:grpSpLocks/>
          </p:cNvGrpSpPr>
          <p:nvPr/>
        </p:nvGrpSpPr>
        <p:grpSpPr bwMode="auto">
          <a:xfrm>
            <a:off x="5470525" y="2411413"/>
            <a:ext cx="2863850" cy="2166937"/>
            <a:chOff x="3446" y="1519"/>
            <a:chExt cx="1804" cy="1365"/>
          </a:xfrm>
        </p:grpSpPr>
        <p:sp>
          <p:nvSpPr>
            <p:cNvPr id="8217" name="Oval 9"/>
            <p:cNvSpPr>
              <a:spLocks noChangeArrowheads="1"/>
            </p:cNvSpPr>
            <p:nvPr/>
          </p:nvSpPr>
          <p:spPr bwMode="invGray">
            <a:xfrm rot="-1096425">
              <a:off x="3446" y="1519"/>
              <a:ext cx="1804" cy="1365"/>
            </a:xfrm>
            <a:prstGeom prst="ellipse">
              <a:avLst/>
            </a:prstGeom>
            <a:gradFill rotWithShape="0">
              <a:gsLst>
                <a:gs pos="0">
                  <a:srgbClr val="800000"/>
                </a:gs>
                <a:gs pos="100000">
                  <a:srgbClr val="000000"/>
                </a:gs>
              </a:gsLst>
              <a:path path="shape">
                <a:fillToRect l="50000" t="50000" r="50000" b="50000"/>
              </a:path>
            </a:gradFill>
            <a:ln>
              <a:noFill/>
            </a:ln>
            <a:extLst>
              <a:ext uri="{91240B29-F687-4F45-9708-019B960494DF}">
                <a14:hiddenLine xmlns:a14="http://schemas.microsoft.com/office/drawing/2010/main" w="25400">
                  <a:solidFill>
                    <a:srgbClr val="000000"/>
                  </a:solidFill>
                  <a:round/>
                  <a:headEnd/>
                  <a:tailEnd/>
                </a14:hiddenLine>
              </a:ext>
            </a:extLst>
          </p:spPr>
          <p:txBody>
            <a:bodyPr wrap="none" tIns="91440" bIns="9144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18" name="Text Box 10"/>
            <p:cNvSpPr txBox="1">
              <a:spLocks noChangeArrowheads="1"/>
            </p:cNvSpPr>
            <p:nvPr/>
          </p:nvSpPr>
          <p:spPr bwMode="invGray">
            <a:xfrm>
              <a:off x="4271" y="2218"/>
              <a:ext cx="786"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tIns="91440" bIns="9144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90000"/>
                </a:lnSpc>
                <a:spcBef>
                  <a:spcPct val="50000"/>
                </a:spcBef>
              </a:pPr>
              <a:r>
                <a:rPr lang="en-US" altLang="en-US">
                  <a:solidFill>
                    <a:schemeClr val="hlink"/>
                  </a:solidFill>
                  <a:latin typeface="Arial Narrow" panose="020B0606020202030204" pitchFamily="34" charset="0"/>
                </a:rPr>
                <a:t>Late Design</a:t>
              </a:r>
              <a:br>
                <a:rPr lang="en-US" altLang="en-US">
                  <a:solidFill>
                    <a:schemeClr val="hlink"/>
                  </a:solidFill>
                  <a:latin typeface="Arial Narrow" panose="020B0606020202030204" pitchFamily="34" charset="0"/>
                </a:rPr>
              </a:br>
              <a:r>
                <a:rPr lang="en-US" altLang="en-US">
                  <a:solidFill>
                    <a:schemeClr val="hlink"/>
                  </a:solidFill>
                  <a:latin typeface="Arial Narrow" panose="020B0606020202030204" pitchFamily="34" charset="0"/>
                </a:rPr>
                <a:t>Breakage</a:t>
              </a:r>
            </a:p>
          </p:txBody>
        </p:sp>
      </p:grpSp>
      <p:sp>
        <p:nvSpPr>
          <p:cNvPr id="2037771" name="AutoShape 11"/>
          <p:cNvSpPr>
            <a:spLocks noChangeArrowheads="1"/>
          </p:cNvSpPr>
          <p:nvPr/>
        </p:nvSpPr>
        <p:spPr bwMode="invGray">
          <a:xfrm>
            <a:off x="5391150" y="2870200"/>
            <a:ext cx="450850" cy="396875"/>
          </a:xfrm>
          <a:prstGeom prst="irregularSeal2">
            <a:avLst/>
          </a:prstGeom>
          <a:gradFill rotWithShape="0">
            <a:gsLst>
              <a:gs pos="0">
                <a:schemeClr val="accent2"/>
              </a:gs>
              <a:gs pos="100000">
                <a:schemeClr val="accent2">
                  <a:gamma/>
                  <a:shade val="36078"/>
                  <a:invGamma/>
                </a:schemeClr>
              </a:gs>
            </a:gsLst>
            <a:path path="shape">
              <a:fillToRect l="50000" t="50000" r="50000" b="50000"/>
            </a:path>
          </a:gradFill>
          <a:ln w="38100">
            <a:noFill/>
            <a:miter lim="800000"/>
            <a:headEnd/>
            <a:tailEnd/>
          </a:ln>
          <a:effectLst>
            <a:outerShdw dist="53882" dir="2700000" algn="ctr" rotWithShape="0">
              <a:schemeClr val="bg2"/>
            </a:outerShdw>
          </a:effectLst>
        </p:spPr>
        <p:txBody>
          <a:bodyPr wrap="none" tIns="91440" bIns="91440" anchor="ctr"/>
          <a:lstStyle/>
          <a:p>
            <a:pPr>
              <a:defRPr/>
            </a:pPr>
            <a:endParaRPr lang="en-US"/>
          </a:p>
        </p:txBody>
      </p:sp>
      <p:sp>
        <p:nvSpPr>
          <p:cNvPr id="8202" name="Freeform 12"/>
          <p:cNvSpPr>
            <a:spLocks/>
          </p:cNvSpPr>
          <p:nvPr/>
        </p:nvSpPr>
        <p:spPr bwMode="auto">
          <a:xfrm>
            <a:off x="2752725" y="5816600"/>
            <a:ext cx="260350" cy="322263"/>
          </a:xfrm>
          <a:custGeom>
            <a:avLst/>
            <a:gdLst>
              <a:gd name="T0" fmla="*/ 413305570 w 164"/>
              <a:gd name="T1" fmla="*/ 614517420 h 169"/>
              <a:gd name="T2" fmla="*/ 206652785 w 164"/>
              <a:gd name="T3" fmla="*/ 0 h 169"/>
              <a:gd name="T4" fmla="*/ 0 w 164"/>
              <a:gd name="T5" fmla="*/ 614517420 h 169"/>
              <a:gd name="T6" fmla="*/ 413305570 w 164"/>
              <a:gd name="T7" fmla="*/ 614517420 h 169"/>
              <a:gd name="T8" fmla="*/ 0 60000 65536"/>
              <a:gd name="T9" fmla="*/ 0 60000 65536"/>
              <a:gd name="T10" fmla="*/ 0 60000 65536"/>
              <a:gd name="T11" fmla="*/ 0 60000 65536"/>
              <a:gd name="T12" fmla="*/ 0 w 164"/>
              <a:gd name="T13" fmla="*/ 0 h 169"/>
              <a:gd name="T14" fmla="*/ 164 w 164"/>
              <a:gd name="T15" fmla="*/ 169 h 169"/>
            </a:gdLst>
            <a:ahLst/>
            <a:cxnLst>
              <a:cxn ang="T8">
                <a:pos x="T0" y="T1"/>
              </a:cxn>
              <a:cxn ang="T9">
                <a:pos x="T2" y="T3"/>
              </a:cxn>
              <a:cxn ang="T10">
                <a:pos x="T4" y="T5"/>
              </a:cxn>
              <a:cxn ang="T11">
                <a:pos x="T6" y="T7"/>
              </a:cxn>
            </a:cxnLst>
            <a:rect l="T12" t="T13" r="T14" b="T15"/>
            <a:pathLst>
              <a:path w="164" h="169">
                <a:moveTo>
                  <a:pt x="164" y="169"/>
                </a:moveTo>
                <a:lnTo>
                  <a:pt x="82" y="0"/>
                </a:lnTo>
                <a:lnTo>
                  <a:pt x="0" y="169"/>
                </a:lnTo>
                <a:lnTo>
                  <a:pt x="164" y="169"/>
                </a:lnTo>
                <a:close/>
              </a:path>
            </a:pathLst>
          </a:custGeom>
          <a:solidFill>
            <a:srgbClr val="000000"/>
          </a:solidFill>
          <a:ln w="7938">
            <a:solidFill>
              <a:srgbClr val="5F5F5F"/>
            </a:solidFill>
            <a:round/>
            <a:headEnd/>
            <a:tailEnd/>
          </a:ln>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03" name="Freeform 13"/>
          <p:cNvSpPr>
            <a:spLocks/>
          </p:cNvSpPr>
          <p:nvPr/>
        </p:nvSpPr>
        <p:spPr bwMode="auto">
          <a:xfrm>
            <a:off x="5351463" y="5816600"/>
            <a:ext cx="257175" cy="322263"/>
          </a:xfrm>
          <a:custGeom>
            <a:avLst/>
            <a:gdLst>
              <a:gd name="T0" fmla="*/ 408265258 w 162"/>
              <a:gd name="T1" fmla="*/ 614517420 h 169"/>
              <a:gd name="T2" fmla="*/ 206652784 w 162"/>
              <a:gd name="T3" fmla="*/ 0 h 169"/>
              <a:gd name="T4" fmla="*/ 0 w 162"/>
              <a:gd name="T5" fmla="*/ 614517420 h 169"/>
              <a:gd name="T6" fmla="*/ 408265258 w 162"/>
              <a:gd name="T7" fmla="*/ 614517420 h 169"/>
              <a:gd name="T8" fmla="*/ 0 60000 65536"/>
              <a:gd name="T9" fmla="*/ 0 60000 65536"/>
              <a:gd name="T10" fmla="*/ 0 60000 65536"/>
              <a:gd name="T11" fmla="*/ 0 60000 65536"/>
              <a:gd name="T12" fmla="*/ 0 w 162"/>
              <a:gd name="T13" fmla="*/ 0 h 169"/>
              <a:gd name="T14" fmla="*/ 162 w 162"/>
              <a:gd name="T15" fmla="*/ 169 h 169"/>
            </a:gdLst>
            <a:ahLst/>
            <a:cxnLst>
              <a:cxn ang="T8">
                <a:pos x="T0" y="T1"/>
              </a:cxn>
              <a:cxn ang="T9">
                <a:pos x="T2" y="T3"/>
              </a:cxn>
              <a:cxn ang="T10">
                <a:pos x="T4" y="T5"/>
              </a:cxn>
              <a:cxn ang="T11">
                <a:pos x="T6" y="T7"/>
              </a:cxn>
            </a:cxnLst>
            <a:rect l="T12" t="T13" r="T14" b="T15"/>
            <a:pathLst>
              <a:path w="162" h="169">
                <a:moveTo>
                  <a:pt x="162" y="169"/>
                </a:moveTo>
                <a:lnTo>
                  <a:pt x="82" y="0"/>
                </a:lnTo>
                <a:lnTo>
                  <a:pt x="0" y="169"/>
                </a:lnTo>
                <a:lnTo>
                  <a:pt x="162" y="169"/>
                </a:lnTo>
                <a:close/>
              </a:path>
            </a:pathLst>
          </a:custGeom>
          <a:solidFill>
            <a:srgbClr val="000000"/>
          </a:solidFill>
          <a:ln w="7938">
            <a:solidFill>
              <a:srgbClr val="5F5F5F"/>
            </a:solidFill>
            <a:round/>
            <a:headEnd/>
            <a:tailEnd/>
          </a:ln>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04" name="Freeform 14"/>
          <p:cNvSpPr>
            <a:spLocks/>
          </p:cNvSpPr>
          <p:nvPr/>
        </p:nvSpPr>
        <p:spPr bwMode="auto">
          <a:xfrm>
            <a:off x="8355013" y="5816600"/>
            <a:ext cx="258762" cy="322263"/>
          </a:xfrm>
          <a:custGeom>
            <a:avLst/>
            <a:gdLst>
              <a:gd name="T0" fmla="*/ 410783827 w 163"/>
              <a:gd name="T1" fmla="*/ 614517420 h 169"/>
              <a:gd name="T2" fmla="*/ 204131441 w 163"/>
              <a:gd name="T3" fmla="*/ 0 h 169"/>
              <a:gd name="T4" fmla="*/ 0 w 163"/>
              <a:gd name="T5" fmla="*/ 614517420 h 169"/>
              <a:gd name="T6" fmla="*/ 410783827 w 163"/>
              <a:gd name="T7" fmla="*/ 614517420 h 169"/>
              <a:gd name="T8" fmla="*/ 0 60000 65536"/>
              <a:gd name="T9" fmla="*/ 0 60000 65536"/>
              <a:gd name="T10" fmla="*/ 0 60000 65536"/>
              <a:gd name="T11" fmla="*/ 0 60000 65536"/>
              <a:gd name="T12" fmla="*/ 0 w 163"/>
              <a:gd name="T13" fmla="*/ 0 h 169"/>
              <a:gd name="T14" fmla="*/ 163 w 163"/>
              <a:gd name="T15" fmla="*/ 169 h 169"/>
            </a:gdLst>
            <a:ahLst/>
            <a:cxnLst>
              <a:cxn ang="T8">
                <a:pos x="T0" y="T1"/>
              </a:cxn>
              <a:cxn ang="T9">
                <a:pos x="T2" y="T3"/>
              </a:cxn>
              <a:cxn ang="T10">
                <a:pos x="T4" y="T5"/>
              </a:cxn>
              <a:cxn ang="T11">
                <a:pos x="T6" y="T7"/>
              </a:cxn>
            </a:cxnLst>
            <a:rect l="T12" t="T13" r="T14" b="T15"/>
            <a:pathLst>
              <a:path w="163" h="169">
                <a:moveTo>
                  <a:pt x="163" y="169"/>
                </a:moveTo>
                <a:lnTo>
                  <a:pt x="81" y="0"/>
                </a:lnTo>
                <a:lnTo>
                  <a:pt x="0" y="169"/>
                </a:lnTo>
                <a:lnTo>
                  <a:pt x="163" y="169"/>
                </a:lnTo>
                <a:close/>
              </a:path>
            </a:pathLst>
          </a:custGeom>
          <a:solidFill>
            <a:srgbClr val="000000"/>
          </a:solidFill>
          <a:ln w="7938">
            <a:solidFill>
              <a:srgbClr val="5F5F5F"/>
            </a:solidFill>
            <a:round/>
            <a:headEnd/>
            <a:tailEnd/>
          </a:ln>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05" name="Rectangle 15"/>
          <p:cNvSpPr>
            <a:spLocks noChangeArrowheads="1"/>
          </p:cNvSpPr>
          <p:nvPr/>
        </p:nvSpPr>
        <p:spPr bwMode="auto">
          <a:xfrm>
            <a:off x="628650" y="2565400"/>
            <a:ext cx="400050"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eaLnBrk="1" hangingPunct="1">
              <a:lnSpc>
                <a:spcPct val="90000"/>
              </a:lnSpc>
              <a:spcBef>
                <a:spcPct val="50000"/>
              </a:spcBef>
            </a:pPr>
            <a:r>
              <a:rPr lang="en-US" altLang="en-US" sz="1500">
                <a:solidFill>
                  <a:srgbClr val="C0C0C0"/>
                </a:solidFill>
                <a:latin typeface="Arial Narrow" panose="020B0606020202030204" pitchFamily="34" charset="0"/>
              </a:rPr>
              <a:t>100%</a:t>
            </a:r>
            <a:endParaRPr lang="en-US" altLang="en-US" sz="2000">
              <a:solidFill>
                <a:schemeClr val="tx1"/>
              </a:solidFill>
              <a:latin typeface="Arial Narrow" panose="020B0606020202030204" pitchFamily="34" charset="0"/>
            </a:endParaRPr>
          </a:p>
        </p:txBody>
      </p:sp>
      <p:sp>
        <p:nvSpPr>
          <p:cNvPr id="2037776" name="Freeform 16"/>
          <p:cNvSpPr>
            <a:spLocks/>
          </p:cNvSpPr>
          <p:nvPr/>
        </p:nvSpPr>
        <p:spPr bwMode="auto">
          <a:xfrm>
            <a:off x="2879725" y="2662238"/>
            <a:ext cx="5800725" cy="3471862"/>
          </a:xfrm>
          <a:custGeom>
            <a:avLst/>
            <a:gdLst>
              <a:gd name="T0" fmla="*/ 0 w 3654"/>
              <a:gd name="T1" fmla="*/ 2147483647 h 1827"/>
              <a:gd name="T2" fmla="*/ 738406576 w 3654"/>
              <a:gd name="T3" fmla="*/ 2147483647 h 1827"/>
              <a:gd name="T4" fmla="*/ 1413808469 w 3654"/>
              <a:gd name="T5" fmla="*/ 2147483647 h 1827"/>
              <a:gd name="T6" fmla="*/ 2147483647 w 3654"/>
              <a:gd name="T7" fmla="*/ 736678989 h 1827"/>
              <a:gd name="T8" fmla="*/ 2147483647 w 3654"/>
              <a:gd name="T9" fmla="*/ 2147483647 h 1827"/>
              <a:gd name="T10" fmla="*/ 2147483647 w 3654"/>
              <a:gd name="T11" fmla="*/ 1950031011 h 1827"/>
              <a:gd name="T12" fmla="*/ 2147483647 w 3654"/>
              <a:gd name="T13" fmla="*/ 2147483647 h 1827"/>
              <a:gd name="T14" fmla="*/ 2147483647 w 3654"/>
              <a:gd name="T15" fmla="*/ 1639471423 h 1827"/>
              <a:gd name="T16" fmla="*/ 2147483647 w 3654"/>
              <a:gd name="T17" fmla="*/ 2147483647 h 1827"/>
              <a:gd name="T18" fmla="*/ 2147483647 w 3654"/>
              <a:gd name="T19" fmla="*/ 1610581054 h 1827"/>
              <a:gd name="T20" fmla="*/ 2147483647 w 3654"/>
              <a:gd name="T21" fmla="*/ 2147483647 h 1827"/>
              <a:gd name="T22" fmla="*/ 2147483647 w 3654"/>
              <a:gd name="T23" fmla="*/ 1350577236 h 1827"/>
              <a:gd name="T24" fmla="*/ 2147483647 w 3654"/>
              <a:gd name="T25" fmla="*/ 1560025284 h 1827"/>
              <a:gd name="T26" fmla="*/ 2147483647 w 3654"/>
              <a:gd name="T27" fmla="*/ 0 h 1827"/>
              <a:gd name="T28" fmla="*/ 2147483647 w 3654"/>
              <a:gd name="T29" fmla="*/ 473062568 h 1827"/>
              <a:gd name="T30" fmla="*/ 2147483647 w 3654"/>
              <a:gd name="T31" fmla="*/ 0 h 1827"/>
              <a:gd name="T32" fmla="*/ 2147483647 w 3654"/>
              <a:gd name="T33" fmla="*/ 252782770 h 1827"/>
              <a:gd name="T34" fmla="*/ 2147483647 w 3654"/>
              <a:gd name="T35" fmla="*/ 0 h 1827"/>
              <a:gd name="T36" fmla="*/ 2147483647 w 3654"/>
              <a:gd name="T37" fmla="*/ 357504894 h 1827"/>
              <a:gd name="T38" fmla="*/ 2147483647 w 3654"/>
              <a:gd name="T39" fmla="*/ 0 h 1827"/>
              <a:gd name="T40" fmla="*/ 2147483647 w 3654"/>
              <a:gd name="T41" fmla="*/ 0 h 18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54"/>
              <a:gd name="T64" fmla="*/ 0 h 1827"/>
              <a:gd name="T65" fmla="*/ 3654 w 3654"/>
              <a:gd name="T66" fmla="*/ 1827 h 18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54" h="1827">
                <a:moveTo>
                  <a:pt x="0" y="1827"/>
                </a:moveTo>
                <a:lnTo>
                  <a:pt x="293" y="1674"/>
                </a:lnTo>
                <a:lnTo>
                  <a:pt x="561" y="1539"/>
                </a:lnTo>
                <a:lnTo>
                  <a:pt x="1705" y="204"/>
                </a:lnTo>
                <a:lnTo>
                  <a:pt x="1930" y="712"/>
                </a:lnTo>
                <a:lnTo>
                  <a:pt x="2003" y="540"/>
                </a:lnTo>
                <a:lnTo>
                  <a:pt x="2104" y="855"/>
                </a:lnTo>
                <a:lnTo>
                  <a:pt x="2201" y="454"/>
                </a:lnTo>
                <a:lnTo>
                  <a:pt x="2295" y="615"/>
                </a:lnTo>
                <a:lnTo>
                  <a:pt x="2295" y="446"/>
                </a:lnTo>
                <a:lnTo>
                  <a:pt x="2387" y="606"/>
                </a:lnTo>
                <a:lnTo>
                  <a:pt x="2387" y="374"/>
                </a:lnTo>
                <a:lnTo>
                  <a:pt x="2474" y="432"/>
                </a:lnTo>
                <a:lnTo>
                  <a:pt x="2829" y="0"/>
                </a:lnTo>
                <a:lnTo>
                  <a:pt x="2994" y="131"/>
                </a:lnTo>
                <a:lnTo>
                  <a:pt x="3048" y="0"/>
                </a:lnTo>
                <a:lnTo>
                  <a:pt x="3120" y="70"/>
                </a:lnTo>
                <a:lnTo>
                  <a:pt x="3160" y="0"/>
                </a:lnTo>
                <a:lnTo>
                  <a:pt x="3229" y="99"/>
                </a:lnTo>
                <a:lnTo>
                  <a:pt x="3269" y="0"/>
                </a:lnTo>
                <a:lnTo>
                  <a:pt x="3654" y="0"/>
                </a:lnTo>
              </a:path>
            </a:pathLst>
          </a:custGeom>
          <a:noFill/>
          <a:ln w="38100">
            <a:solidFill>
              <a:srgbClr val="C0C0C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07" name="Freeform 17"/>
          <p:cNvSpPr>
            <a:spLocks/>
          </p:cNvSpPr>
          <p:nvPr/>
        </p:nvSpPr>
        <p:spPr bwMode="auto">
          <a:xfrm>
            <a:off x="1223963" y="2662238"/>
            <a:ext cx="7456487" cy="3471862"/>
          </a:xfrm>
          <a:custGeom>
            <a:avLst/>
            <a:gdLst>
              <a:gd name="T0" fmla="*/ 0 w 4697"/>
              <a:gd name="T1" fmla="*/ 0 h 1827"/>
              <a:gd name="T2" fmla="*/ 0 w 4697"/>
              <a:gd name="T3" fmla="*/ 2147483647 h 1827"/>
              <a:gd name="T4" fmla="*/ 2147483647 w 4697"/>
              <a:gd name="T5" fmla="*/ 2147483647 h 1827"/>
              <a:gd name="T6" fmla="*/ 0 60000 65536"/>
              <a:gd name="T7" fmla="*/ 0 60000 65536"/>
              <a:gd name="T8" fmla="*/ 0 60000 65536"/>
              <a:gd name="T9" fmla="*/ 0 w 4697"/>
              <a:gd name="T10" fmla="*/ 0 h 1827"/>
              <a:gd name="T11" fmla="*/ 4697 w 4697"/>
              <a:gd name="T12" fmla="*/ 1827 h 1827"/>
            </a:gdLst>
            <a:ahLst/>
            <a:cxnLst>
              <a:cxn ang="T6">
                <a:pos x="T0" y="T1"/>
              </a:cxn>
              <a:cxn ang="T7">
                <a:pos x="T2" y="T3"/>
              </a:cxn>
              <a:cxn ang="T8">
                <a:pos x="T4" y="T5"/>
              </a:cxn>
            </a:cxnLst>
            <a:rect l="T9" t="T10" r="T11" b="T12"/>
            <a:pathLst>
              <a:path w="4697" h="1827">
                <a:moveTo>
                  <a:pt x="0" y="0"/>
                </a:moveTo>
                <a:lnTo>
                  <a:pt x="0" y="1827"/>
                </a:lnTo>
                <a:lnTo>
                  <a:pt x="4697" y="1827"/>
                </a:lnTo>
              </a:path>
            </a:pathLst>
          </a:custGeom>
          <a:noFill/>
          <a:ln w="38100">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08" name="Rectangle 18"/>
          <p:cNvSpPr>
            <a:spLocks noChangeArrowheads="1"/>
          </p:cNvSpPr>
          <p:nvPr/>
        </p:nvSpPr>
        <p:spPr bwMode="auto">
          <a:xfrm>
            <a:off x="4081463" y="6153150"/>
            <a:ext cx="1524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90000"/>
              </a:lnSpc>
              <a:spcBef>
                <a:spcPct val="50000"/>
              </a:spcBef>
            </a:pPr>
            <a:r>
              <a:rPr lang="en-US" altLang="en-US">
                <a:solidFill>
                  <a:schemeClr val="accent2"/>
                </a:solidFill>
                <a:latin typeface="Arial Narrow" panose="020B0606020202030204" pitchFamily="34" charset="0"/>
              </a:rPr>
              <a:t>Project Schedule</a:t>
            </a:r>
          </a:p>
        </p:txBody>
      </p:sp>
      <p:sp>
        <p:nvSpPr>
          <p:cNvPr id="8209" name="Line 19"/>
          <p:cNvSpPr>
            <a:spLocks noChangeShapeType="1"/>
          </p:cNvSpPr>
          <p:nvPr/>
        </p:nvSpPr>
        <p:spPr bwMode="auto">
          <a:xfrm flipH="1">
            <a:off x="1135063" y="2676525"/>
            <a:ext cx="103187" cy="1588"/>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210" name="Rectangle 20"/>
          <p:cNvSpPr>
            <a:spLocks noChangeArrowheads="1"/>
          </p:cNvSpPr>
          <p:nvPr/>
        </p:nvSpPr>
        <p:spPr bwMode="auto">
          <a:xfrm rot="-5400000">
            <a:off x="-141287" y="4090988"/>
            <a:ext cx="20447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90000"/>
              </a:lnSpc>
              <a:spcBef>
                <a:spcPct val="50000"/>
              </a:spcBef>
            </a:pPr>
            <a:r>
              <a:rPr lang="en-US" altLang="en-US">
                <a:solidFill>
                  <a:schemeClr val="accent2"/>
                </a:solidFill>
                <a:latin typeface="Arial Narrow" panose="020B0606020202030204" pitchFamily="34" charset="0"/>
              </a:rPr>
              <a:t>Development Progress</a:t>
            </a:r>
            <a:br>
              <a:rPr lang="en-US" altLang="en-US">
                <a:solidFill>
                  <a:schemeClr val="accent2"/>
                </a:solidFill>
                <a:latin typeface="Arial Narrow" panose="020B0606020202030204" pitchFamily="34" charset="0"/>
              </a:rPr>
            </a:br>
            <a:r>
              <a:rPr lang="en-US" altLang="en-US">
                <a:solidFill>
                  <a:schemeClr val="accent2"/>
                </a:solidFill>
                <a:latin typeface="Arial Narrow" panose="020B0606020202030204" pitchFamily="34" charset="0"/>
              </a:rPr>
              <a:t>(% coded)</a:t>
            </a:r>
          </a:p>
        </p:txBody>
      </p:sp>
      <p:sp>
        <p:nvSpPr>
          <p:cNvPr id="8211" name="Freeform 21"/>
          <p:cNvSpPr>
            <a:spLocks/>
          </p:cNvSpPr>
          <p:nvPr/>
        </p:nvSpPr>
        <p:spPr bwMode="auto">
          <a:xfrm>
            <a:off x="6989763" y="5807075"/>
            <a:ext cx="260350" cy="322263"/>
          </a:xfrm>
          <a:custGeom>
            <a:avLst/>
            <a:gdLst>
              <a:gd name="T0" fmla="*/ 413305570 w 164"/>
              <a:gd name="T1" fmla="*/ 614517420 h 169"/>
              <a:gd name="T2" fmla="*/ 206652785 w 164"/>
              <a:gd name="T3" fmla="*/ 0 h 169"/>
              <a:gd name="T4" fmla="*/ 0 w 164"/>
              <a:gd name="T5" fmla="*/ 614517420 h 169"/>
              <a:gd name="T6" fmla="*/ 413305570 w 164"/>
              <a:gd name="T7" fmla="*/ 614517420 h 169"/>
              <a:gd name="T8" fmla="*/ 0 60000 65536"/>
              <a:gd name="T9" fmla="*/ 0 60000 65536"/>
              <a:gd name="T10" fmla="*/ 0 60000 65536"/>
              <a:gd name="T11" fmla="*/ 0 60000 65536"/>
              <a:gd name="T12" fmla="*/ 0 w 164"/>
              <a:gd name="T13" fmla="*/ 0 h 169"/>
              <a:gd name="T14" fmla="*/ 164 w 164"/>
              <a:gd name="T15" fmla="*/ 169 h 169"/>
            </a:gdLst>
            <a:ahLst/>
            <a:cxnLst>
              <a:cxn ang="T8">
                <a:pos x="T0" y="T1"/>
              </a:cxn>
              <a:cxn ang="T9">
                <a:pos x="T2" y="T3"/>
              </a:cxn>
              <a:cxn ang="T10">
                <a:pos x="T4" y="T5"/>
              </a:cxn>
              <a:cxn ang="T11">
                <a:pos x="T6" y="T7"/>
              </a:cxn>
            </a:cxnLst>
            <a:rect l="T12" t="T13" r="T14" b="T15"/>
            <a:pathLst>
              <a:path w="164" h="169">
                <a:moveTo>
                  <a:pt x="164" y="169"/>
                </a:moveTo>
                <a:lnTo>
                  <a:pt x="82" y="0"/>
                </a:lnTo>
                <a:lnTo>
                  <a:pt x="0" y="169"/>
                </a:lnTo>
                <a:lnTo>
                  <a:pt x="164" y="1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12" name="Rectangle 22"/>
          <p:cNvSpPr>
            <a:spLocks noChangeArrowheads="1"/>
          </p:cNvSpPr>
          <p:nvPr/>
        </p:nvSpPr>
        <p:spPr bwMode="auto">
          <a:xfrm>
            <a:off x="6667500" y="5291138"/>
            <a:ext cx="8604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85000"/>
              </a:lnSpc>
            </a:pPr>
            <a:r>
              <a:rPr lang="en-US" altLang="en-US" sz="1500">
                <a:solidFill>
                  <a:schemeClr val="accent2"/>
                </a:solidFill>
                <a:latin typeface="Arial Narrow" panose="020B0606020202030204" pitchFamily="34" charset="0"/>
              </a:rPr>
              <a:t>Original</a:t>
            </a:r>
          </a:p>
          <a:p>
            <a:pPr eaLnBrk="1" hangingPunct="1">
              <a:lnSpc>
                <a:spcPct val="85000"/>
              </a:lnSpc>
            </a:pPr>
            <a:r>
              <a:rPr lang="en-US" altLang="en-US" sz="1500">
                <a:solidFill>
                  <a:schemeClr val="accent2"/>
                </a:solidFill>
                <a:latin typeface="Arial Narrow" panose="020B0606020202030204" pitchFamily="34" charset="0"/>
              </a:rPr>
              <a:t>Target Date</a:t>
            </a:r>
            <a:endParaRPr lang="en-US" altLang="en-US" sz="2000">
              <a:solidFill>
                <a:schemeClr val="accent2"/>
              </a:solidFill>
              <a:latin typeface="Arial Narrow" panose="020B0606020202030204" pitchFamily="34" charset="0"/>
            </a:endParaRPr>
          </a:p>
        </p:txBody>
      </p:sp>
      <p:sp>
        <p:nvSpPr>
          <p:cNvPr id="2037783" name="Freeform 23"/>
          <p:cNvSpPr>
            <a:spLocks/>
          </p:cNvSpPr>
          <p:nvPr/>
        </p:nvSpPr>
        <p:spPr bwMode="invGray">
          <a:xfrm>
            <a:off x="5592763" y="2641600"/>
            <a:ext cx="2484437" cy="1641475"/>
          </a:xfrm>
          <a:custGeom>
            <a:avLst/>
            <a:gdLst>
              <a:gd name="T0" fmla="*/ 0 w 1565"/>
              <a:gd name="T1" fmla="*/ 622477704 h 1034"/>
              <a:gd name="T2" fmla="*/ 534273049 w 1565"/>
              <a:gd name="T3" fmla="*/ 2147483647 h 1034"/>
              <a:gd name="T4" fmla="*/ 733364497 w 1565"/>
              <a:gd name="T5" fmla="*/ 1713706234 h 1034"/>
              <a:gd name="T6" fmla="*/ 975299571 w 1565"/>
              <a:gd name="T7" fmla="*/ 2147483647 h 1034"/>
              <a:gd name="T8" fmla="*/ 1237395687 w 1565"/>
              <a:gd name="T9" fmla="*/ 1423887212 h 1034"/>
              <a:gd name="T10" fmla="*/ 1459169323 w 1565"/>
              <a:gd name="T11" fmla="*/ 1920358949 h 1034"/>
              <a:gd name="T12" fmla="*/ 1479330563 w 1565"/>
              <a:gd name="T13" fmla="*/ 1343242250 h 1034"/>
              <a:gd name="T14" fmla="*/ 1701104596 w 1565"/>
              <a:gd name="T15" fmla="*/ 1897676760 h 1034"/>
              <a:gd name="T16" fmla="*/ 1701104596 w 1565"/>
              <a:gd name="T17" fmla="*/ 1134070174 h 1034"/>
              <a:gd name="T18" fmla="*/ 1920358871 w 1565"/>
              <a:gd name="T19" fmla="*/ 1335682579 h 1034"/>
              <a:gd name="T20" fmla="*/ 2147483647 w 1565"/>
              <a:gd name="T21" fmla="*/ 40322493 h 1034"/>
              <a:gd name="T22" fmla="*/ 2147483647 w 1565"/>
              <a:gd name="T23" fmla="*/ 423386249 h 1034"/>
              <a:gd name="T24" fmla="*/ 2147483647 w 1565"/>
              <a:gd name="T25" fmla="*/ 0 h 1034"/>
              <a:gd name="T26" fmla="*/ 2147483647 w 1565"/>
              <a:gd name="T27" fmla="*/ 239414036 h 1034"/>
              <a:gd name="T28" fmla="*/ 2147483647 w 1565"/>
              <a:gd name="T29" fmla="*/ 27720924 h 1034"/>
              <a:gd name="T30" fmla="*/ 2147483647 w 1565"/>
              <a:gd name="T31" fmla="*/ 342741187 h 1034"/>
              <a:gd name="T32" fmla="*/ 2147483647 w 1565"/>
              <a:gd name="T33" fmla="*/ 0 h 10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65"/>
              <a:gd name="T52" fmla="*/ 0 h 1034"/>
              <a:gd name="T53" fmla="*/ 1565 w 1565"/>
              <a:gd name="T54" fmla="*/ 1034 h 10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65" h="1034">
                <a:moveTo>
                  <a:pt x="0" y="247"/>
                </a:moveTo>
                <a:lnTo>
                  <a:pt x="212" y="868"/>
                </a:lnTo>
                <a:lnTo>
                  <a:pt x="291" y="680"/>
                </a:lnTo>
                <a:lnTo>
                  <a:pt x="387" y="1034"/>
                </a:lnTo>
                <a:lnTo>
                  <a:pt x="491" y="565"/>
                </a:lnTo>
                <a:lnTo>
                  <a:pt x="579" y="762"/>
                </a:lnTo>
                <a:lnTo>
                  <a:pt x="587" y="533"/>
                </a:lnTo>
                <a:lnTo>
                  <a:pt x="675" y="753"/>
                </a:lnTo>
                <a:lnTo>
                  <a:pt x="675" y="450"/>
                </a:lnTo>
                <a:lnTo>
                  <a:pt x="762" y="530"/>
                </a:lnTo>
                <a:lnTo>
                  <a:pt x="1123" y="16"/>
                </a:lnTo>
                <a:lnTo>
                  <a:pt x="1277" y="168"/>
                </a:lnTo>
                <a:lnTo>
                  <a:pt x="1338" y="0"/>
                </a:lnTo>
                <a:lnTo>
                  <a:pt x="1416" y="95"/>
                </a:lnTo>
                <a:lnTo>
                  <a:pt x="1451" y="11"/>
                </a:lnTo>
                <a:lnTo>
                  <a:pt x="1504" y="136"/>
                </a:lnTo>
                <a:lnTo>
                  <a:pt x="1565" y="0"/>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tIns="91440" bIns="9144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3" name="Group 24"/>
          <p:cNvGrpSpPr>
            <a:grpSpLocks/>
          </p:cNvGrpSpPr>
          <p:nvPr/>
        </p:nvGrpSpPr>
        <p:grpSpPr bwMode="auto">
          <a:xfrm>
            <a:off x="3414713" y="2486025"/>
            <a:ext cx="2063750" cy="582613"/>
            <a:chOff x="2151" y="1566"/>
            <a:chExt cx="1300" cy="367"/>
          </a:xfrm>
        </p:grpSpPr>
        <p:sp>
          <p:nvSpPr>
            <p:cNvPr id="8215" name="Rectangle 25"/>
            <p:cNvSpPr>
              <a:spLocks noChangeArrowheads="1"/>
            </p:cNvSpPr>
            <p:nvPr/>
          </p:nvSpPr>
          <p:spPr bwMode="auto">
            <a:xfrm>
              <a:off x="2151" y="1566"/>
              <a:ext cx="6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90000"/>
                </a:lnSpc>
                <a:spcBef>
                  <a:spcPct val="50000"/>
                </a:spcBef>
              </a:pPr>
              <a:r>
                <a:rPr lang="en-US" altLang="en-US">
                  <a:solidFill>
                    <a:schemeClr val="tx2"/>
                  </a:solidFill>
                  <a:latin typeface="Arial Narrow" panose="020B0606020202030204" pitchFamily="34" charset="0"/>
                </a:rPr>
                <a:t>Integration</a:t>
              </a:r>
              <a:br>
                <a:rPr lang="en-US" altLang="en-US">
                  <a:solidFill>
                    <a:schemeClr val="tx2"/>
                  </a:solidFill>
                  <a:latin typeface="Arial Narrow" panose="020B0606020202030204" pitchFamily="34" charset="0"/>
                </a:rPr>
              </a:br>
              <a:r>
                <a:rPr lang="en-US" altLang="en-US">
                  <a:solidFill>
                    <a:schemeClr val="tx2"/>
                  </a:solidFill>
                  <a:latin typeface="Arial Narrow" panose="020B0606020202030204" pitchFamily="34" charset="0"/>
                </a:rPr>
                <a:t>Begins</a:t>
              </a:r>
            </a:p>
          </p:txBody>
        </p:sp>
        <p:sp>
          <p:nvSpPr>
            <p:cNvPr id="8216" name="Line 26"/>
            <p:cNvSpPr>
              <a:spLocks noChangeShapeType="1"/>
            </p:cNvSpPr>
            <p:nvPr/>
          </p:nvSpPr>
          <p:spPr bwMode="invGray">
            <a:xfrm>
              <a:off x="2703" y="1736"/>
              <a:ext cx="748" cy="197"/>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tIns="91440" bIns="91440" anchor="ctr"/>
            <a:lstStyle/>
            <a:p>
              <a:endParaRPr lang="en-GB"/>
            </a:p>
          </p:txBody>
        </p:sp>
      </p:grpSp>
    </p:spTree>
    <p:extLst>
      <p:ext uri="{BB962C8B-B14F-4D97-AF65-F5344CB8AC3E}">
        <p14:creationId xmlns:p14="http://schemas.microsoft.com/office/powerpoint/2010/main" val="982783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37776"/>
                                        </p:tgtEl>
                                        <p:attrNameLst>
                                          <p:attrName>style.visibility</p:attrName>
                                        </p:attrNameLst>
                                      </p:cBhvr>
                                      <p:to>
                                        <p:strVal val="visible"/>
                                      </p:to>
                                    </p:set>
                                    <p:animEffect transition="in" filter="wipe(left)">
                                      <p:cBhvr>
                                        <p:cTn id="7" dur="500"/>
                                        <p:tgtEl>
                                          <p:spTgt spid="203777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nodeType="afterGroup">
                            <p:stCondLst>
                              <p:cond delay="1000"/>
                            </p:stCondLst>
                            <p:childTnLst>
                              <p:par>
                                <p:cTn id="13" presetID="11" presetClass="entr" presetSubtype="0" fill="hold" grpId="0" nodeType="afterEffect">
                                  <p:stCondLst>
                                    <p:cond delay="0"/>
                                  </p:stCondLst>
                                  <p:childTnLst>
                                    <p:set>
                                      <p:cBhvr>
                                        <p:cTn id="14" dur="500">
                                          <p:stCondLst>
                                            <p:cond delay="0"/>
                                          </p:stCondLst>
                                        </p:cTn>
                                        <p:tgtEl>
                                          <p:spTgt spid="2037771"/>
                                        </p:tgtEl>
                                        <p:attrNameLst>
                                          <p:attrName>style.visibility</p:attrName>
                                        </p:attrNameLst>
                                      </p:cBhvr>
                                      <p:to>
                                        <p:strVal val="visible"/>
                                      </p:to>
                                    </p:set>
                                  </p:childTnLst>
                                  <p:subTnLst>
                                    <p:set>
                                      <p:cBhvr override="childStyle">
                                        <p:cTn dur="1" fill="hold" display="0" masterRel="sameClick" afterEffect="1">
                                          <p:stCondLst>
                                            <p:cond evt="end" delay="0">
                                              <p:tn val="13"/>
                                            </p:cond>
                                          </p:stCondLst>
                                        </p:cTn>
                                        <p:tgtEl>
                                          <p:spTgt spid="2037771"/>
                                        </p:tgtEl>
                                        <p:attrNameLst>
                                          <p:attrName>style.visibility</p:attrName>
                                        </p:attrNameLst>
                                      </p:cBhvr>
                                      <p:to>
                                        <p:strVal val="hidden"/>
                                      </p:to>
                                    </p:set>
                                  </p:subTnLst>
                                </p:cTn>
                              </p:par>
                            </p:childTnLst>
                          </p:cTn>
                        </p:par>
                        <p:par>
                          <p:cTn id="15" fill="hold" nodeType="afterGroup">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2037783"/>
                                        </p:tgtEl>
                                        <p:attrNameLst>
                                          <p:attrName>style.visibility</p:attrName>
                                        </p:attrNameLst>
                                      </p:cBhvr>
                                      <p:to>
                                        <p:strVal val="visible"/>
                                      </p:to>
                                    </p:set>
                                    <p:animEffect transition="in" filter="wipe(left)">
                                      <p:cBhvr>
                                        <p:cTn id="18" dur="500"/>
                                        <p:tgtEl>
                                          <p:spTgt spid="2037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71" grpId="0" animBg="1"/>
      <p:bldP spid="2037776" grpId="0" animBg="1"/>
      <p:bldP spid="203778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t>Waterfall: Hard to Scale up</a:t>
            </a:r>
          </a:p>
        </p:txBody>
      </p:sp>
      <p:sp>
        <p:nvSpPr>
          <p:cNvPr id="9219" name="Rectangle 3"/>
          <p:cNvSpPr>
            <a:spLocks noGrp="1" noChangeArrowheads="1"/>
          </p:cNvSpPr>
          <p:nvPr>
            <p:ph idx="1"/>
          </p:nvPr>
        </p:nvSpPr>
        <p:spPr>
          <a:xfrm>
            <a:off x="611560" y="1484784"/>
            <a:ext cx="6446838" cy="3881437"/>
          </a:xfrm>
        </p:spPr>
        <p:txBody>
          <a:bodyPr>
            <a:normAutofit lnSpcReduction="10000"/>
          </a:bodyPr>
          <a:lstStyle/>
          <a:p>
            <a:pPr eaLnBrk="1" hangingPunct="1"/>
            <a:r>
              <a:rPr lang="en-US" altLang="en-US" sz="2000" dirty="0" smtClean="0"/>
              <a:t>A waterfall approach can not properly handle the growing complexity associated with</a:t>
            </a:r>
          </a:p>
          <a:p>
            <a:pPr lvl="1" eaLnBrk="1" hangingPunct="1"/>
            <a:r>
              <a:rPr lang="en-US" altLang="en-US" sz="1800" dirty="0" smtClean="0"/>
              <a:t>Increased duration</a:t>
            </a:r>
          </a:p>
          <a:p>
            <a:pPr lvl="1" eaLnBrk="1" hangingPunct="1"/>
            <a:r>
              <a:rPr lang="en-US" altLang="en-US" sz="1800" dirty="0" smtClean="0">
                <a:solidFill>
                  <a:srgbClr val="0070C0"/>
                </a:solidFill>
              </a:rPr>
              <a:t>Increased application size</a:t>
            </a:r>
          </a:p>
          <a:p>
            <a:pPr lvl="1" eaLnBrk="1" hangingPunct="1"/>
            <a:r>
              <a:rPr lang="en-US" altLang="en-US" sz="1800" dirty="0" smtClean="0"/>
              <a:t>Larger and/or distributed team</a:t>
            </a:r>
          </a:p>
          <a:p>
            <a:pPr lvl="1" eaLnBrk="1" hangingPunct="1"/>
            <a:r>
              <a:rPr lang="en-US" altLang="en-US" sz="1800" dirty="0" smtClean="0">
                <a:solidFill>
                  <a:srgbClr val="0070C0"/>
                </a:solidFill>
              </a:rPr>
              <a:t>Increased technical complexity</a:t>
            </a:r>
          </a:p>
          <a:p>
            <a:pPr lvl="1" eaLnBrk="1" hangingPunct="1"/>
            <a:r>
              <a:rPr lang="en-US" altLang="en-US" sz="1800" dirty="0" smtClean="0"/>
              <a:t>Novelty of technology</a:t>
            </a:r>
          </a:p>
          <a:p>
            <a:pPr eaLnBrk="1" hangingPunct="1"/>
            <a:r>
              <a:rPr lang="en-US" altLang="en-US" sz="2000" dirty="0" smtClean="0"/>
              <a:t>The root cause of the problem with the waterfall lifecycle is that it </a:t>
            </a:r>
            <a:r>
              <a:rPr lang="en-US" altLang="en-US" sz="2000" dirty="0" smtClean="0">
                <a:solidFill>
                  <a:srgbClr val="0070C0"/>
                </a:solidFill>
              </a:rPr>
              <a:t>does not </a:t>
            </a:r>
            <a:r>
              <a:rPr lang="en-US" altLang="en-US" sz="2000" dirty="0" smtClean="0"/>
              <a:t>allow us to identify and mitigate risks early enough</a:t>
            </a:r>
          </a:p>
        </p:txBody>
      </p:sp>
    </p:spTree>
    <p:extLst>
      <p:ext uri="{BB962C8B-B14F-4D97-AF65-F5344CB8AC3E}">
        <p14:creationId xmlns:p14="http://schemas.microsoft.com/office/powerpoint/2010/main" val="2082542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 calcmode="lin" valueType="num">
                                      <p:cBhvr additive="base">
                                        <p:cTn id="11" dur="500" fill="hold"/>
                                        <p:tgtEl>
                                          <p:spTgt spid="921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921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anim calcmode="lin" valueType="num">
                                      <p:cBhvr additive="base">
                                        <p:cTn id="15" dur="500" fill="hold"/>
                                        <p:tgtEl>
                                          <p:spTgt spid="921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921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anim calcmode="lin" valueType="num">
                                      <p:cBhvr additive="base">
                                        <p:cTn id="19" dur="500" fill="hold"/>
                                        <p:tgtEl>
                                          <p:spTgt spid="921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anim calcmode="lin" valueType="num">
                                      <p:cBhvr additive="base">
                                        <p:cTn id="23" dur="500" fill="hold"/>
                                        <p:tgtEl>
                                          <p:spTgt spid="921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9219">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anim calcmode="lin" valueType="num">
                                      <p:cBhvr additive="base">
                                        <p:cTn id="27" dur="500" fill="hold"/>
                                        <p:tgtEl>
                                          <p:spTgt spid="921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92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9219">
                                            <p:txEl>
                                              <p:pRg st="6" end="6"/>
                                            </p:txEl>
                                          </p:spTgt>
                                        </p:tgtEl>
                                        <p:attrNameLst>
                                          <p:attrName>style.visibility</p:attrName>
                                        </p:attrNameLst>
                                      </p:cBhvr>
                                      <p:to>
                                        <p:strVal val="visible"/>
                                      </p:to>
                                    </p:set>
                                    <p:anim calcmode="lin" valueType="num">
                                      <p:cBhvr additive="base">
                                        <p:cTn id="33" dur="500" fill="hold"/>
                                        <p:tgtEl>
                                          <p:spTgt spid="9219">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921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itle 2"/>
          <p:cNvSpPr>
            <a:spLocks noGrp="1"/>
          </p:cNvSpPr>
          <p:nvPr>
            <p:ph type="title"/>
          </p:nvPr>
        </p:nvSpPr>
        <p:spPr/>
        <p:txBody>
          <a:bodyPr/>
          <a:lstStyle/>
          <a:p>
            <a:pPr eaLnBrk="1" hangingPunct="1"/>
            <a:r>
              <a:rPr lang="en-US" altLang="en-US" smtClean="0"/>
              <a:t>Agile Software Development</a:t>
            </a:r>
          </a:p>
        </p:txBody>
      </p:sp>
      <p:sp>
        <p:nvSpPr>
          <p:cNvPr id="54274" name="Content Placeholder 1"/>
          <p:cNvSpPr>
            <a:spLocks noGrp="1"/>
          </p:cNvSpPr>
          <p:nvPr>
            <p:ph idx="1"/>
          </p:nvPr>
        </p:nvSpPr>
        <p:spPr>
          <a:xfrm>
            <a:off x="360363" y="1614488"/>
            <a:ext cx="6985000" cy="4384675"/>
          </a:xfrm>
        </p:spPr>
        <p:txBody>
          <a:bodyPr/>
          <a:lstStyle/>
          <a:p>
            <a:pPr eaLnBrk="1" hangingPunct="1"/>
            <a:r>
              <a:rPr lang="en-US" altLang="en-US" sz="2800" dirty="0" smtClean="0"/>
              <a:t>Agile software development has become popular to describe new approaches that focus on </a:t>
            </a:r>
            <a:r>
              <a:rPr lang="en-US" altLang="en-US" sz="2800" dirty="0" smtClean="0">
                <a:solidFill>
                  <a:srgbClr val="FF0000"/>
                </a:solidFill>
              </a:rPr>
              <a:t>close collaboration </a:t>
            </a:r>
            <a:r>
              <a:rPr lang="en-US" altLang="en-US" sz="2800" dirty="0" smtClean="0"/>
              <a:t>between programming teams and business experts.</a:t>
            </a:r>
          </a:p>
          <a:p>
            <a:pPr marL="0" indent="0" eaLnBrk="1" hangingPunct="1">
              <a:buNone/>
            </a:pPr>
            <a:endParaRPr lang="en-US" altLang="en-US" dirty="0" smtClean="0"/>
          </a:p>
          <a:p>
            <a:pPr eaLnBrk="1" hangingPunct="1"/>
            <a:endParaRPr lang="en-US" altLang="en-US" dirty="0" smtClean="0"/>
          </a:p>
        </p:txBody>
      </p:sp>
      <p:sp>
        <p:nvSpPr>
          <p:cNvPr id="26629"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428B514A-31E8-49A9-89A8-035EC79A6EEE}" type="slidenum">
              <a:rPr lang="en-US" altLang="en-US">
                <a:solidFill>
                  <a:srgbClr val="898989"/>
                </a:solidFill>
              </a:rPr>
              <a:pPr algn="l" eaLnBrk="1" hangingPunct="1">
                <a:spcBef>
                  <a:spcPct val="0"/>
                </a:spcBef>
                <a:buClrTx/>
                <a:buSzTx/>
                <a:buFontTx/>
                <a:buNone/>
              </a:pPr>
              <a:t>26</a:t>
            </a:fld>
            <a:endParaRPr lang="en-US" altLang="en-US">
              <a:solidFill>
                <a:srgbClr val="898989"/>
              </a:solidFill>
            </a:endParaRPr>
          </a:p>
        </p:txBody>
      </p:sp>
    </p:spTree>
    <p:extLst>
      <p:ext uri="{BB962C8B-B14F-4D97-AF65-F5344CB8AC3E}">
        <p14:creationId xmlns:p14="http://schemas.microsoft.com/office/powerpoint/2010/main" val="392646758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53988" y="762000"/>
            <a:ext cx="8245475" cy="498475"/>
          </a:xfrm>
        </p:spPr>
        <p:txBody>
          <a:bodyPr>
            <a:normAutofit fontScale="90000"/>
          </a:bodyPr>
          <a:lstStyle/>
          <a:p>
            <a:pPr eaLnBrk="1" hangingPunct="1"/>
            <a:r>
              <a:rPr lang="en-US" altLang="en-US" smtClean="0"/>
              <a:t>Better Progress Profile</a:t>
            </a:r>
          </a:p>
        </p:txBody>
      </p:sp>
      <p:sp>
        <p:nvSpPr>
          <p:cNvPr id="11267" name="Rectangle 3"/>
          <p:cNvSpPr>
            <a:spLocks noChangeArrowheads="1"/>
          </p:cNvSpPr>
          <p:nvPr/>
        </p:nvSpPr>
        <p:spPr bwMode="auto">
          <a:xfrm>
            <a:off x="180975" y="2165350"/>
            <a:ext cx="400050"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eaLnBrk="1" hangingPunct="1">
              <a:lnSpc>
                <a:spcPct val="90000"/>
              </a:lnSpc>
              <a:spcBef>
                <a:spcPct val="50000"/>
              </a:spcBef>
            </a:pPr>
            <a:r>
              <a:rPr lang="en-US" altLang="en-US" sz="1500">
                <a:solidFill>
                  <a:srgbClr val="C0C0C0"/>
                </a:solidFill>
                <a:latin typeface="Arial Narrow" panose="020B0606020202030204" pitchFamily="34" charset="0"/>
              </a:rPr>
              <a:t>100%</a:t>
            </a:r>
            <a:endParaRPr lang="en-US" altLang="en-US" sz="2000">
              <a:solidFill>
                <a:schemeClr val="tx1"/>
              </a:solidFill>
              <a:latin typeface="Arial Narrow" panose="020B0606020202030204" pitchFamily="34" charset="0"/>
            </a:endParaRPr>
          </a:p>
        </p:txBody>
      </p:sp>
      <p:sp>
        <p:nvSpPr>
          <p:cNvPr id="11268" name="Rectangle 4"/>
          <p:cNvSpPr>
            <a:spLocks noChangeArrowheads="1"/>
          </p:cNvSpPr>
          <p:nvPr/>
        </p:nvSpPr>
        <p:spPr bwMode="auto">
          <a:xfrm>
            <a:off x="1011238" y="6172200"/>
            <a:ext cx="77914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90000"/>
              </a:lnSpc>
              <a:spcBef>
                <a:spcPct val="50000"/>
              </a:spcBef>
            </a:pPr>
            <a:r>
              <a:rPr lang="en-US" altLang="en-US">
                <a:solidFill>
                  <a:schemeClr val="accent2"/>
                </a:solidFill>
                <a:latin typeface="Arial Narrow" panose="020B0606020202030204" pitchFamily="34" charset="0"/>
              </a:rPr>
              <a:t>Project Schedule</a:t>
            </a:r>
          </a:p>
        </p:txBody>
      </p:sp>
      <p:sp>
        <p:nvSpPr>
          <p:cNvPr id="11269" name="Freeform 5"/>
          <p:cNvSpPr>
            <a:spLocks/>
          </p:cNvSpPr>
          <p:nvPr/>
        </p:nvSpPr>
        <p:spPr bwMode="invGray">
          <a:xfrm>
            <a:off x="3025775" y="2360613"/>
            <a:ext cx="5776913" cy="3763962"/>
          </a:xfrm>
          <a:custGeom>
            <a:avLst/>
            <a:gdLst>
              <a:gd name="T0" fmla="*/ 0 w 3831"/>
              <a:gd name="T1" fmla="*/ 2147483647 h 1892"/>
              <a:gd name="T2" fmla="*/ 1489391010 w 3831"/>
              <a:gd name="T3" fmla="*/ 2147483647 h 1892"/>
              <a:gd name="T4" fmla="*/ 2147483647 w 3831"/>
              <a:gd name="T5" fmla="*/ 878620558 h 1892"/>
              <a:gd name="T6" fmla="*/ 2147483647 w 3831"/>
              <a:gd name="T7" fmla="*/ 2147483647 h 1892"/>
              <a:gd name="T8" fmla="*/ 2147483647 w 3831"/>
              <a:gd name="T9" fmla="*/ 2147483647 h 1892"/>
              <a:gd name="T10" fmla="*/ 2147483647 w 3831"/>
              <a:gd name="T11" fmla="*/ 2147483647 h 1892"/>
              <a:gd name="T12" fmla="*/ 2147483647 w 3831"/>
              <a:gd name="T13" fmla="*/ 2010536594 h 1892"/>
              <a:gd name="T14" fmla="*/ 2147483647 w 3831"/>
              <a:gd name="T15" fmla="*/ 2147483647 h 1892"/>
              <a:gd name="T16" fmla="*/ 2147483647 w 3831"/>
              <a:gd name="T17" fmla="*/ 1864100207 h 1892"/>
              <a:gd name="T18" fmla="*/ 2147483647 w 3831"/>
              <a:gd name="T19" fmla="*/ 2147483647 h 1892"/>
              <a:gd name="T20" fmla="*/ 2147483647 w 3831"/>
              <a:gd name="T21" fmla="*/ 1606845805 h 1892"/>
              <a:gd name="T22" fmla="*/ 2147483647 w 3831"/>
              <a:gd name="T23" fmla="*/ 1828479847 h 1892"/>
              <a:gd name="T24" fmla="*/ 2147483647 w 3831"/>
              <a:gd name="T25" fmla="*/ 110816057 h 1892"/>
              <a:gd name="T26" fmla="*/ 2147483647 w 3831"/>
              <a:gd name="T27" fmla="*/ 656986516 h 1892"/>
              <a:gd name="T28" fmla="*/ 2147483647 w 3831"/>
              <a:gd name="T29" fmla="*/ 0 h 1892"/>
              <a:gd name="T30" fmla="*/ 2147483647 w 3831"/>
              <a:gd name="T31" fmla="*/ 328493258 h 1892"/>
              <a:gd name="T32" fmla="*/ 2147483647 w 3831"/>
              <a:gd name="T33" fmla="*/ 146436449 h 1892"/>
              <a:gd name="T34" fmla="*/ 2147483647 w 3831"/>
              <a:gd name="T35" fmla="*/ 474929645 h 1892"/>
              <a:gd name="T36" fmla="*/ 2147483647 w 3831"/>
              <a:gd name="T37" fmla="*/ 110816057 h 1892"/>
              <a:gd name="T38" fmla="*/ 2147483647 w 3831"/>
              <a:gd name="T39" fmla="*/ 0 h 189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31"/>
              <a:gd name="T61" fmla="*/ 0 h 1892"/>
              <a:gd name="T62" fmla="*/ 3831 w 3831"/>
              <a:gd name="T63" fmla="*/ 1892 h 189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31" h="1892">
                <a:moveTo>
                  <a:pt x="0" y="1892"/>
                </a:moveTo>
                <a:lnTo>
                  <a:pt x="655" y="1579"/>
                </a:lnTo>
                <a:lnTo>
                  <a:pt x="1809" y="222"/>
                </a:lnTo>
                <a:lnTo>
                  <a:pt x="2049" y="729"/>
                </a:lnTo>
                <a:lnTo>
                  <a:pt x="2123" y="600"/>
                </a:lnTo>
                <a:lnTo>
                  <a:pt x="2234" y="859"/>
                </a:lnTo>
                <a:lnTo>
                  <a:pt x="2308" y="508"/>
                </a:lnTo>
                <a:lnTo>
                  <a:pt x="2382" y="646"/>
                </a:lnTo>
                <a:lnTo>
                  <a:pt x="2409" y="471"/>
                </a:lnTo>
                <a:lnTo>
                  <a:pt x="2492" y="656"/>
                </a:lnTo>
                <a:lnTo>
                  <a:pt x="2520" y="406"/>
                </a:lnTo>
                <a:lnTo>
                  <a:pt x="2594" y="462"/>
                </a:lnTo>
                <a:lnTo>
                  <a:pt x="2982" y="28"/>
                </a:lnTo>
                <a:lnTo>
                  <a:pt x="3120" y="166"/>
                </a:lnTo>
                <a:lnTo>
                  <a:pt x="3212" y="0"/>
                </a:lnTo>
                <a:lnTo>
                  <a:pt x="3259" y="83"/>
                </a:lnTo>
                <a:lnTo>
                  <a:pt x="3314" y="37"/>
                </a:lnTo>
                <a:lnTo>
                  <a:pt x="3379" y="120"/>
                </a:lnTo>
                <a:lnTo>
                  <a:pt x="3462" y="28"/>
                </a:lnTo>
                <a:lnTo>
                  <a:pt x="3831" y="0"/>
                </a:lnTo>
              </a:path>
            </a:pathLst>
          </a:cu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tIns="91440" bIns="9144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70" name="Rectangle 6"/>
          <p:cNvSpPr>
            <a:spLocks noChangeArrowheads="1"/>
          </p:cNvSpPr>
          <p:nvPr/>
        </p:nvSpPr>
        <p:spPr bwMode="auto">
          <a:xfrm>
            <a:off x="4895850" y="4294188"/>
            <a:ext cx="12731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eaLnBrk="1" hangingPunct="1">
              <a:lnSpc>
                <a:spcPct val="90000"/>
              </a:lnSpc>
              <a:spcBef>
                <a:spcPct val="50000"/>
              </a:spcBef>
            </a:pPr>
            <a:r>
              <a:rPr lang="en-US" altLang="en-US">
                <a:solidFill>
                  <a:schemeClr val="accent1"/>
                </a:solidFill>
                <a:latin typeface="Arial Narrow" panose="020B0606020202030204" pitchFamily="34" charset="0"/>
              </a:rPr>
              <a:t>Waterfall</a:t>
            </a:r>
            <a:br>
              <a:rPr lang="en-US" altLang="en-US">
                <a:solidFill>
                  <a:schemeClr val="accent1"/>
                </a:solidFill>
                <a:latin typeface="Arial Narrow" panose="020B0606020202030204" pitchFamily="34" charset="0"/>
              </a:rPr>
            </a:br>
            <a:r>
              <a:rPr lang="en-US" altLang="en-US">
                <a:solidFill>
                  <a:schemeClr val="accent1"/>
                </a:solidFill>
                <a:latin typeface="Arial Narrow" panose="020B0606020202030204" pitchFamily="34" charset="0"/>
              </a:rPr>
              <a:t>Project Profile</a:t>
            </a:r>
            <a:endParaRPr lang="en-US" altLang="en-US" sz="2000">
              <a:solidFill>
                <a:schemeClr val="accent1"/>
              </a:solidFill>
              <a:latin typeface="Arial Narrow" panose="020B0606020202030204" pitchFamily="34" charset="0"/>
            </a:endParaRPr>
          </a:p>
        </p:txBody>
      </p:sp>
      <p:sp>
        <p:nvSpPr>
          <p:cNvPr id="11271" name="Freeform 7"/>
          <p:cNvSpPr>
            <a:spLocks/>
          </p:cNvSpPr>
          <p:nvPr/>
        </p:nvSpPr>
        <p:spPr bwMode="auto">
          <a:xfrm>
            <a:off x="1058863" y="2435225"/>
            <a:ext cx="5705475" cy="3173413"/>
          </a:xfrm>
          <a:custGeom>
            <a:avLst/>
            <a:gdLst>
              <a:gd name="T0" fmla="*/ 0 w 3784"/>
              <a:gd name="T1" fmla="*/ 2147483647 h 1595"/>
              <a:gd name="T2" fmla="*/ 1204918282 w 3784"/>
              <a:gd name="T3" fmla="*/ 2147483647 h 1595"/>
              <a:gd name="T4" fmla="*/ 1298128290 w 3784"/>
              <a:gd name="T5" fmla="*/ 2147483647 h 1595"/>
              <a:gd name="T6" fmla="*/ 1573212328 w 3784"/>
              <a:gd name="T7" fmla="*/ 2147483647 h 1595"/>
              <a:gd name="T8" fmla="*/ 2147483647 w 3784"/>
              <a:gd name="T9" fmla="*/ 2147483647 h 1595"/>
              <a:gd name="T10" fmla="*/ 2147483647 w 3784"/>
              <a:gd name="T11" fmla="*/ 2147483647 h 1595"/>
              <a:gd name="T12" fmla="*/ 2147483647 w 3784"/>
              <a:gd name="T13" fmla="*/ 2147483647 h 1595"/>
              <a:gd name="T14" fmla="*/ 2147483647 w 3784"/>
              <a:gd name="T15" fmla="*/ 2147483647 h 1595"/>
              <a:gd name="T16" fmla="*/ 2147483647 w 3784"/>
              <a:gd name="T17" fmla="*/ 2147483647 h 1595"/>
              <a:gd name="T18" fmla="*/ 2147483647 w 3784"/>
              <a:gd name="T19" fmla="*/ 2147483647 h 1595"/>
              <a:gd name="T20" fmla="*/ 2147483647 w 3784"/>
              <a:gd name="T21" fmla="*/ 720448342 h 1595"/>
              <a:gd name="T22" fmla="*/ 2147483647 w 3784"/>
              <a:gd name="T23" fmla="*/ 1080673633 h 1595"/>
              <a:gd name="T24" fmla="*/ 2147483647 w 3784"/>
              <a:gd name="T25" fmla="*/ 720448342 h 1595"/>
              <a:gd name="T26" fmla="*/ 2147483647 w 3784"/>
              <a:gd name="T27" fmla="*/ 0 h 1595"/>
              <a:gd name="T28" fmla="*/ 2147483647 w 3784"/>
              <a:gd name="T29" fmla="*/ 356265862 h 1595"/>
              <a:gd name="T30" fmla="*/ 2147483647 w 3784"/>
              <a:gd name="T31" fmla="*/ 0 h 1595"/>
              <a:gd name="T32" fmla="*/ 2147483647 w 3784"/>
              <a:gd name="T33" fmla="*/ 0 h 1595"/>
              <a:gd name="T34" fmla="*/ 2147483647 w 3784"/>
              <a:gd name="T35" fmla="*/ 182092235 h 1595"/>
              <a:gd name="T36" fmla="*/ 2147483647 w 3784"/>
              <a:gd name="T37" fmla="*/ 0 h 1595"/>
              <a:gd name="T38" fmla="*/ 2147483647 w 3784"/>
              <a:gd name="T39" fmla="*/ 0 h 1595"/>
              <a:gd name="T40" fmla="*/ 2147483647 w 3784"/>
              <a:gd name="T41" fmla="*/ 182092235 h 1595"/>
              <a:gd name="T42" fmla="*/ 2147483647 w 3784"/>
              <a:gd name="T43" fmla="*/ 0 h 1595"/>
              <a:gd name="T44" fmla="*/ 2147483647 w 3784"/>
              <a:gd name="T45" fmla="*/ 0 h 159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84"/>
              <a:gd name="T70" fmla="*/ 0 h 1595"/>
              <a:gd name="T71" fmla="*/ 3784 w 3784"/>
              <a:gd name="T72" fmla="*/ 1595 h 159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84" h="1595">
                <a:moveTo>
                  <a:pt x="0" y="1595"/>
                </a:moveTo>
                <a:lnTo>
                  <a:pt x="530" y="1322"/>
                </a:lnTo>
                <a:lnTo>
                  <a:pt x="571" y="1572"/>
                </a:lnTo>
                <a:lnTo>
                  <a:pt x="692" y="1276"/>
                </a:lnTo>
                <a:lnTo>
                  <a:pt x="957" y="911"/>
                </a:lnTo>
                <a:lnTo>
                  <a:pt x="1018" y="1093"/>
                </a:lnTo>
                <a:lnTo>
                  <a:pt x="1344" y="728"/>
                </a:lnTo>
                <a:lnTo>
                  <a:pt x="1404" y="911"/>
                </a:lnTo>
                <a:lnTo>
                  <a:pt x="1507" y="728"/>
                </a:lnTo>
                <a:lnTo>
                  <a:pt x="1568" y="615"/>
                </a:lnTo>
                <a:lnTo>
                  <a:pt x="1995" y="182"/>
                </a:lnTo>
                <a:lnTo>
                  <a:pt x="2056" y="273"/>
                </a:lnTo>
                <a:lnTo>
                  <a:pt x="2157" y="182"/>
                </a:lnTo>
                <a:lnTo>
                  <a:pt x="2523" y="0"/>
                </a:lnTo>
                <a:lnTo>
                  <a:pt x="2544" y="90"/>
                </a:lnTo>
                <a:lnTo>
                  <a:pt x="2645" y="0"/>
                </a:lnTo>
                <a:lnTo>
                  <a:pt x="2971" y="0"/>
                </a:lnTo>
                <a:lnTo>
                  <a:pt x="3052" y="46"/>
                </a:lnTo>
                <a:lnTo>
                  <a:pt x="3133" y="0"/>
                </a:lnTo>
                <a:lnTo>
                  <a:pt x="3296" y="0"/>
                </a:lnTo>
                <a:lnTo>
                  <a:pt x="3418" y="46"/>
                </a:lnTo>
                <a:lnTo>
                  <a:pt x="3460" y="0"/>
                </a:lnTo>
                <a:lnTo>
                  <a:pt x="3784" y="0"/>
                </a:lnTo>
              </a:path>
            </a:pathLst>
          </a:cu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72" name="Rectangle 8"/>
          <p:cNvSpPr>
            <a:spLocks noChangeArrowheads="1"/>
          </p:cNvSpPr>
          <p:nvPr/>
        </p:nvSpPr>
        <p:spPr bwMode="auto">
          <a:xfrm>
            <a:off x="1533525" y="2867025"/>
            <a:ext cx="187166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r" eaLnBrk="1" hangingPunct="1">
              <a:lnSpc>
                <a:spcPct val="90000"/>
              </a:lnSpc>
              <a:spcBef>
                <a:spcPct val="50000"/>
              </a:spcBef>
            </a:pPr>
            <a:r>
              <a:rPr lang="en-US" altLang="en-US">
                <a:solidFill>
                  <a:schemeClr val="tx2"/>
                </a:solidFill>
                <a:latin typeface="Arial Narrow" panose="020B0606020202030204" pitchFamily="34" charset="0"/>
              </a:rPr>
              <a:t>Modern</a:t>
            </a:r>
            <a:br>
              <a:rPr lang="en-US" altLang="en-US">
                <a:solidFill>
                  <a:schemeClr val="tx2"/>
                </a:solidFill>
                <a:latin typeface="Arial Narrow" panose="020B0606020202030204" pitchFamily="34" charset="0"/>
              </a:rPr>
            </a:br>
            <a:r>
              <a:rPr lang="en-US" altLang="en-US">
                <a:solidFill>
                  <a:schemeClr val="tx2"/>
                </a:solidFill>
                <a:latin typeface="Arial Narrow" panose="020B0606020202030204" pitchFamily="34" charset="0"/>
              </a:rPr>
              <a:t>Project Profile</a:t>
            </a:r>
            <a:endParaRPr lang="en-US" altLang="en-US" sz="2000">
              <a:solidFill>
                <a:schemeClr val="tx2"/>
              </a:solidFill>
              <a:latin typeface="Arial Narrow" panose="020B0606020202030204" pitchFamily="34" charset="0"/>
            </a:endParaRPr>
          </a:p>
        </p:txBody>
      </p:sp>
      <p:sp>
        <p:nvSpPr>
          <p:cNvPr id="11273" name="Rectangle 9"/>
          <p:cNvSpPr>
            <a:spLocks noChangeArrowheads="1"/>
          </p:cNvSpPr>
          <p:nvPr/>
        </p:nvSpPr>
        <p:spPr bwMode="auto">
          <a:xfrm rot="-5400000">
            <a:off x="-725227" y="3637223"/>
            <a:ext cx="2783954"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90000"/>
              </a:lnSpc>
              <a:spcBef>
                <a:spcPct val="50000"/>
              </a:spcBef>
            </a:pPr>
            <a:r>
              <a:rPr lang="en-US" altLang="en-US" dirty="0">
                <a:solidFill>
                  <a:schemeClr val="accent2"/>
                </a:solidFill>
                <a:latin typeface="Arial Narrow" panose="020B0606020202030204" pitchFamily="34" charset="0"/>
              </a:rPr>
              <a:t>Development Progress</a:t>
            </a:r>
            <a:br>
              <a:rPr lang="en-US" altLang="en-US" dirty="0">
                <a:solidFill>
                  <a:schemeClr val="accent2"/>
                </a:solidFill>
                <a:latin typeface="Arial Narrow" panose="020B0606020202030204" pitchFamily="34" charset="0"/>
              </a:rPr>
            </a:br>
            <a:r>
              <a:rPr lang="en-US" altLang="en-US" dirty="0">
                <a:solidFill>
                  <a:schemeClr val="accent2"/>
                </a:solidFill>
                <a:latin typeface="Arial Narrow" panose="020B0606020202030204" pitchFamily="34" charset="0"/>
              </a:rPr>
              <a:t>(% Coded)</a:t>
            </a:r>
          </a:p>
        </p:txBody>
      </p:sp>
      <p:sp>
        <p:nvSpPr>
          <p:cNvPr id="11274" name="Freeform 10"/>
          <p:cNvSpPr>
            <a:spLocks/>
          </p:cNvSpPr>
          <p:nvPr/>
        </p:nvSpPr>
        <p:spPr bwMode="auto">
          <a:xfrm>
            <a:off x="1022350" y="2268538"/>
            <a:ext cx="7804150" cy="3863975"/>
          </a:xfrm>
          <a:custGeom>
            <a:avLst/>
            <a:gdLst>
              <a:gd name="T0" fmla="*/ 0 w 4697"/>
              <a:gd name="T1" fmla="*/ 0 h 1827"/>
              <a:gd name="T2" fmla="*/ 0 w 4697"/>
              <a:gd name="T3" fmla="*/ 2147483647 h 1827"/>
              <a:gd name="T4" fmla="*/ 2147483647 w 4697"/>
              <a:gd name="T5" fmla="*/ 2147483647 h 1827"/>
              <a:gd name="T6" fmla="*/ 0 60000 65536"/>
              <a:gd name="T7" fmla="*/ 0 60000 65536"/>
              <a:gd name="T8" fmla="*/ 0 60000 65536"/>
              <a:gd name="T9" fmla="*/ 0 w 4697"/>
              <a:gd name="T10" fmla="*/ 0 h 1827"/>
              <a:gd name="T11" fmla="*/ 4697 w 4697"/>
              <a:gd name="T12" fmla="*/ 1827 h 1827"/>
            </a:gdLst>
            <a:ahLst/>
            <a:cxnLst>
              <a:cxn ang="T6">
                <a:pos x="T0" y="T1"/>
              </a:cxn>
              <a:cxn ang="T7">
                <a:pos x="T2" y="T3"/>
              </a:cxn>
              <a:cxn ang="T8">
                <a:pos x="T4" y="T5"/>
              </a:cxn>
            </a:cxnLst>
            <a:rect l="T9" t="T10" r="T11" b="T12"/>
            <a:pathLst>
              <a:path w="4697" h="1827">
                <a:moveTo>
                  <a:pt x="0" y="0"/>
                </a:moveTo>
                <a:lnTo>
                  <a:pt x="0" y="1827"/>
                </a:lnTo>
                <a:lnTo>
                  <a:pt x="4697" y="1827"/>
                </a:lnTo>
              </a:path>
            </a:pathLst>
          </a:custGeom>
          <a:noFill/>
          <a:ln w="38100">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75" name="Line 11"/>
          <p:cNvSpPr>
            <a:spLocks noChangeShapeType="1"/>
          </p:cNvSpPr>
          <p:nvPr/>
        </p:nvSpPr>
        <p:spPr bwMode="invGray">
          <a:xfrm>
            <a:off x="731838" y="2284413"/>
            <a:ext cx="303212" cy="0"/>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wrap="none" tIns="91440" bIns="91440" anchor="ctr"/>
          <a:lstStyle/>
          <a:p>
            <a:endParaRPr lang="en-GB"/>
          </a:p>
        </p:txBody>
      </p:sp>
      <p:sp>
        <p:nvSpPr>
          <p:cNvPr id="2040844" name="AutoShape 12"/>
          <p:cNvSpPr>
            <a:spLocks noChangeArrowheads="1"/>
          </p:cNvSpPr>
          <p:nvPr/>
        </p:nvSpPr>
        <p:spPr bwMode="auto">
          <a:xfrm>
            <a:off x="6967538" y="1524000"/>
            <a:ext cx="525462" cy="388938"/>
          </a:xfrm>
          <a:prstGeom prst="rightArrow">
            <a:avLst>
              <a:gd name="adj1" fmla="val 49676"/>
              <a:gd name="adj2" fmla="val 51839"/>
            </a:avLst>
          </a:prstGeom>
          <a:gradFill rotWithShape="0">
            <a:gsLst>
              <a:gs pos="0">
                <a:schemeClr val="accent2">
                  <a:gamma/>
                  <a:shade val="0"/>
                  <a:invGamma/>
                </a:schemeClr>
              </a:gs>
              <a:gs pos="100000">
                <a:schemeClr val="accent2"/>
              </a:gs>
            </a:gsLst>
            <a:lin ang="0" scaled="1"/>
          </a:gradFill>
          <a:ln w="12700">
            <a:noFill/>
            <a:miter lim="800000"/>
            <a:headEnd/>
            <a:tailEnd/>
          </a:ln>
          <a:effectLst/>
        </p:spPr>
        <p:txBody>
          <a:bodyPr wrap="none" anchor="ctr"/>
          <a:lstStyle/>
          <a:p>
            <a:pPr eaLnBrk="0" hangingPunct="0">
              <a:lnSpc>
                <a:spcPct val="90000"/>
              </a:lnSpc>
              <a:spcBef>
                <a:spcPct val="40000"/>
              </a:spcBef>
              <a:defRPr/>
            </a:pPr>
            <a:endParaRPr lang="en-US" sz="1200">
              <a:solidFill>
                <a:schemeClr val="accent2"/>
              </a:solidFill>
              <a:latin typeface="Arial Narrow" pitchFamily="34" charset="0"/>
            </a:endParaRPr>
          </a:p>
        </p:txBody>
      </p:sp>
      <p:sp>
        <p:nvSpPr>
          <p:cNvPr id="2040845" name="AutoShape 13"/>
          <p:cNvSpPr>
            <a:spLocks noChangeArrowheads="1"/>
          </p:cNvSpPr>
          <p:nvPr/>
        </p:nvSpPr>
        <p:spPr bwMode="auto">
          <a:xfrm>
            <a:off x="4562475" y="1524000"/>
            <a:ext cx="525463" cy="388938"/>
          </a:xfrm>
          <a:prstGeom prst="rightArrow">
            <a:avLst>
              <a:gd name="adj1" fmla="val 49676"/>
              <a:gd name="adj2" fmla="val 51839"/>
            </a:avLst>
          </a:prstGeom>
          <a:gradFill rotWithShape="0">
            <a:gsLst>
              <a:gs pos="0">
                <a:schemeClr val="accent2">
                  <a:gamma/>
                  <a:shade val="0"/>
                  <a:invGamma/>
                </a:schemeClr>
              </a:gs>
              <a:gs pos="100000">
                <a:schemeClr val="accent2"/>
              </a:gs>
            </a:gsLst>
            <a:lin ang="0" scaled="1"/>
          </a:gradFill>
          <a:ln w="12700">
            <a:noFill/>
            <a:miter lim="800000"/>
            <a:headEnd/>
            <a:tailEnd/>
          </a:ln>
          <a:effectLst/>
        </p:spPr>
        <p:txBody>
          <a:bodyPr wrap="none" anchor="ctr"/>
          <a:lstStyle/>
          <a:p>
            <a:pPr eaLnBrk="0" hangingPunct="0">
              <a:lnSpc>
                <a:spcPct val="90000"/>
              </a:lnSpc>
              <a:spcBef>
                <a:spcPct val="40000"/>
              </a:spcBef>
              <a:defRPr/>
            </a:pPr>
            <a:endParaRPr lang="en-US" sz="1200">
              <a:solidFill>
                <a:schemeClr val="accent2"/>
              </a:solidFill>
              <a:latin typeface="Arial Narrow" pitchFamily="34" charset="0"/>
            </a:endParaRPr>
          </a:p>
        </p:txBody>
      </p:sp>
      <p:sp>
        <p:nvSpPr>
          <p:cNvPr id="2040846" name="AutoShape 14"/>
          <p:cNvSpPr>
            <a:spLocks noChangeArrowheads="1"/>
          </p:cNvSpPr>
          <p:nvPr/>
        </p:nvSpPr>
        <p:spPr bwMode="auto">
          <a:xfrm>
            <a:off x="1903413" y="1524000"/>
            <a:ext cx="525462" cy="388938"/>
          </a:xfrm>
          <a:prstGeom prst="rightArrow">
            <a:avLst>
              <a:gd name="adj1" fmla="val 49676"/>
              <a:gd name="adj2" fmla="val 51839"/>
            </a:avLst>
          </a:prstGeom>
          <a:gradFill rotWithShape="0">
            <a:gsLst>
              <a:gs pos="0">
                <a:schemeClr val="accent2">
                  <a:gamma/>
                  <a:shade val="0"/>
                  <a:invGamma/>
                </a:schemeClr>
              </a:gs>
              <a:gs pos="100000">
                <a:schemeClr val="accent2"/>
              </a:gs>
            </a:gsLst>
            <a:lin ang="0" scaled="1"/>
          </a:gradFill>
          <a:ln w="12700">
            <a:noFill/>
            <a:miter lim="800000"/>
            <a:headEnd/>
            <a:tailEnd/>
          </a:ln>
          <a:effectLst/>
        </p:spPr>
        <p:txBody>
          <a:bodyPr wrap="none" anchor="ctr"/>
          <a:lstStyle/>
          <a:p>
            <a:pPr eaLnBrk="0" hangingPunct="0">
              <a:lnSpc>
                <a:spcPct val="90000"/>
              </a:lnSpc>
              <a:spcBef>
                <a:spcPct val="40000"/>
              </a:spcBef>
              <a:defRPr/>
            </a:pPr>
            <a:endParaRPr lang="en-US" sz="1200">
              <a:solidFill>
                <a:schemeClr val="accent2"/>
              </a:solidFill>
              <a:latin typeface="Arial Narrow" pitchFamily="34" charset="0"/>
            </a:endParaRPr>
          </a:p>
        </p:txBody>
      </p:sp>
      <p:sp>
        <p:nvSpPr>
          <p:cNvPr id="11279" name="Text Box 15"/>
          <p:cNvSpPr txBox="1">
            <a:spLocks noChangeArrowheads="1"/>
          </p:cNvSpPr>
          <p:nvPr/>
        </p:nvSpPr>
        <p:spPr bwMode="auto">
          <a:xfrm>
            <a:off x="2843808" y="6457950"/>
            <a:ext cx="178117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90000"/>
              </a:lnSpc>
              <a:spcBef>
                <a:spcPct val="40000"/>
              </a:spcBef>
            </a:pPr>
            <a:r>
              <a:rPr lang="en-US" altLang="en-US" sz="1400" b="0" dirty="0">
                <a:latin typeface="굴림" charset="-127"/>
              </a:rPr>
              <a:t>Walker Royce, 1995</a:t>
            </a:r>
          </a:p>
        </p:txBody>
      </p:sp>
      <p:sp>
        <p:nvSpPr>
          <p:cNvPr id="11280" name="Rectangle 16"/>
          <p:cNvSpPr>
            <a:spLocks noChangeArrowheads="1"/>
          </p:cNvSpPr>
          <p:nvPr/>
        </p:nvSpPr>
        <p:spPr bwMode="auto">
          <a:xfrm>
            <a:off x="228600" y="11430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lstStyle>
            <a:lvl1pPr defTabSz="630238" eaLnBrk="0" hangingPunct="0">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1pPr>
            <a:lvl2pPr marL="742950" indent="-285750" defTabSz="630238" eaLnBrk="0" hangingPunct="0">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2pPr>
            <a:lvl3pPr marL="1143000" indent="-228600" defTabSz="630238" eaLnBrk="0" hangingPunct="0">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3pPr>
            <a:lvl4pPr marL="1600200" indent="-228600" defTabSz="630238" eaLnBrk="0" hangingPunct="0">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4pPr>
            <a:lvl5pPr marL="2057400" indent="-228600" defTabSz="630238" eaLnBrk="0" hangingPunct="0">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5pPr>
            <a:lvl6pPr marL="2514600" indent="-228600" algn="ctr" defTabSz="630238" eaLnBrk="0" fontAlgn="base" hangingPunct="0">
              <a:spcBef>
                <a:spcPct val="0"/>
              </a:spcBef>
              <a:spcAft>
                <a:spcPct val="0"/>
              </a:spcAft>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6pPr>
            <a:lvl7pPr marL="2971800" indent="-228600" algn="ctr" defTabSz="630238" eaLnBrk="0" fontAlgn="base" hangingPunct="0">
              <a:spcBef>
                <a:spcPct val="0"/>
              </a:spcBef>
              <a:spcAft>
                <a:spcPct val="0"/>
              </a:spcAft>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7pPr>
            <a:lvl8pPr marL="3429000" indent="-228600" algn="ctr" defTabSz="630238" eaLnBrk="0" fontAlgn="base" hangingPunct="0">
              <a:spcBef>
                <a:spcPct val="0"/>
              </a:spcBef>
              <a:spcAft>
                <a:spcPct val="0"/>
              </a:spcAft>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8pPr>
            <a:lvl9pPr marL="3886200" indent="-228600" algn="ctr" defTabSz="630238" eaLnBrk="0" fontAlgn="base" hangingPunct="0">
              <a:spcBef>
                <a:spcPct val="0"/>
              </a:spcBef>
              <a:spcAft>
                <a:spcPct val="0"/>
              </a:spcAft>
              <a:tabLst>
                <a:tab pos="2571750" algn="l"/>
                <a:tab pos="5143500" algn="l"/>
                <a:tab pos="7605713" algn="l"/>
              </a:tabLst>
              <a:defRPr b="1">
                <a:solidFill>
                  <a:schemeClr val="bg1"/>
                </a:solidFill>
                <a:latin typeface="Arial" panose="020B0604020202020204" pitchFamily="34" charset="0"/>
                <a:cs typeface="Arial" panose="020B0604020202020204" pitchFamily="34" charset="0"/>
              </a:defRPr>
            </a:lvl9pPr>
          </a:lstStyle>
          <a:p>
            <a:pPr algn="l"/>
            <a:r>
              <a:rPr lang="en-US" altLang="en-US" sz="2400" dirty="0">
                <a:latin typeface="Arial Narrow" panose="020B0606020202030204" pitchFamily="34" charset="0"/>
              </a:rPr>
              <a:t>Sequential phases, but iterative activities</a:t>
            </a:r>
            <a:r>
              <a:rPr lang="en-US" altLang="en-US" sz="2400" dirty="0">
                <a:solidFill>
                  <a:schemeClr val="tx1"/>
                </a:solidFill>
                <a:latin typeface="Arial Narrow" panose="020B0606020202030204" pitchFamily="34" charset="0"/>
              </a:rPr>
              <a:t>			</a:t>
            </a:r>
          </a:p>
          <a:p>
            <a:pPr algn="l"/>
            <a:r>
              <a:rPr lang="en-US" altLang="en-US" sz="2400" dirty="0">
                <a:solidFill>
                  <a:schemeClr val="accent2"/>
                </a:solidFill>
                <a:latin typeface="Arial Narrow" panose="020B0606020202030204" pitchFamily="34" charset="0"/>
              </a:rPr>
              <a:t>Prototypes	Architecture	Functional 	</a:t>
            </a:r>
            <a:r>
              <a:rPr lang="en-US" altLang="en-US" sz="2400" dirty="0">
                <a:latin typeface="Arial Narrow" panose="020B0606020202030204" pitchFamily="34" charset="0"/>
              </a:rPr>
              <a:t>Product </a:t>
            </a:r>
            <a:r>
              <a:rPr lang="en-US" altLang="en-US" sz="2400" dirty="0">
                <a:solidFill>
                  <a:schemeClr val="accent2"/>
                </a:solidFill>
                <a:latin typeface="Arial Narrow" panose="020B0606020202030204" pitchFamily="34" charset="0"/>
              </a:rPr>
              <a:t>			Releases	</a:t>
            </a:r>
            <a:r>
              <a:rPr lang="en-US" altLang="en-US" sz="2400" dirty="0">
                <a:latin typeface="Arial Narrow" panose="020B0606020202030204" pitchFamily="34" charset="0"/>
              </a:rPr>
              <a:t>Release</a:t>
            </a:r>
          </a:p>
        </p:txBody>
      </p:sp>
    </p:spTree>
    <p:extLst>
      <p:ext uri="{BB962C8B-B14F-4D97-AF65-F5344CB8AC3E}">
        <p14:creationId xmlns:p14="http://schemas.microsoft.com/office/powerpoint/2010/main" val="14516333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algn="ctr" eaLnBrk="1" hangingPunct="1"/>
            <a:r>
              <a:rPr lang="en-GB" altLang="en-US" smtClean="0"/>
              <a:t>Agile by attack</a:t>
            </a:r>
            <a:endParaRPr lang="en-US" altLang="en-US" smtClean="0"/>
          </a:p>
        </p:txBody>
      </p:sp>
      <p:sp>
        <p:nvSpPr>
          <p:cNvPr id="37892" name="Rectangle 3"/>
          <p:cNvSpPr>
            <a:spLocks noChangeArrowheads="1"/>
          </p:cNvSpPr>
          <p:nvPr/>
        </p:nvSpPr>
        <p:spPr bwMode="auto">
          <a:xfrm>
            <a:off x="1043608" y="1628800"/>
            <a:ext cx="7561262"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GB" altLang="en-US" sz="2800" b="0" dirty="0">
                <a:solidFill>
                  <a:schemeClr val="tx1"/>
                </a:solidFill>
              </a:rPr>
              <a:t>Some Project managers (PMs) associate “agile” with “uncontrolled”/”undisciplined” </a:t>
            </a:r>
            <a:r>
              <a:rPr lang="en-GB" altLang="en-US" sz="2800" b="0" dirty="0" err="1">
                <a:solidFill>
                  <a:schemeClr val="tx1"/>
                </a:solidFill>
              </a:rPr>
              <a:t>etc</a:t>
            </a:r>
            <a:endParaRPr lang="en-GB" altLang="en-US" sz="2800" b="0" dirty="0">
              <a:solidFill>
                <a:schemeClr val="tx1"/>
              </a:solidFill>
            </a:endParaRPr>
          </a:p>
          <a:p>
            <a:pPr eaLnBrk="1" hangingPunct="1"/>
            <a:r>
              <a:rPr lang="en-GB" altLang="en-US" sz="2800" b="0" dirty="0">
                <a:solidFill>
                  <a:schemeClr val="tx1"/>
                </a:solidFill>
              </a:rPr>
              <a:t>Prefer command &amp; control project management</a:t>
            </a:r>
          </a:p>
          <a:p>
            <a:pPr eaLnBrk="1" hangingPunct="1"/>
            <a:r>
              <a:rPr lang="en-GB" altLang="en-US" sz="2800" b="0" dirty="0">
                <a:solidFill>
                  <a:schemeClr val="tx1"/>
                </a:solidFill>
              </a:rPr>
              <a:t>Why change?  Existing process works”</a:t>
            </a:r>
          </a:p>
          <a:p>
            <a:pPr eaLnBrk="1" hangingPunct="1"/>
            <a:r>
              <a:rPr lang="en-GB" altLang="en-US" sz="2800" b="0" dirty="0">
                <a:solidFill>
                  <a:schemeClr val="tx1"/>
                </a:solidFill>
              </a:rPr>
              <a:t>“Customers won’t like it”</a:t>
            </a:r>
          </a:p>
          <a:p>
            <a:pPr eaLnBrk="1" hangingPunct="1"/>
            <a:r>
              <a:rPr lang="en-GB" altLang="en-US" sz="2800" b="0" dirty="0">
                <a:solidFill>
                  <a:schemeClr val="tx1"/>
                </a:solidFill>
              </a:rPr>
              <a:t>“Only works for big projects”</a:t>
            </a:r>
          </a:p>
          <a:p>
            <a:pPr eaLnBrk="1" hangingPunct="1"/>
            <a:r>
              <a:rPr lang="en-GB" altLang="en-US" sz="2800" b="0" dirty="0">
                <a:solidFill>
                  <a:schemeClr val="tx1"/>
                </a:solidFill>
              </a:rPr>
              <a:t>Quick to blame failure on </a:t>
            </a:r>
            <a:r>
              <a:rPr lang="en-GB" altLang="en-US" sz="2800" b="0" dirty="0" smtClean="0">
                <a:solidFill>
                  <a:schemeClr val="tx1"/>
                </a:solidFill>
              </a:rPr>
              <a:t>process</a:t>
            </a:r>
            <a:endParaRPr lang="en-GB" altLang="en-US" b="0" dirty="0">
              <a:solidFill>
                <a:schemeClr val="tx1"/>
              </a:solidFill>
            </a:endParaRPr>
          </a:p>
        </p:txBody>
      </p:sp>
    </p:spTree>
    <p:extLst>
      <p:ext uri="{BB962C8B-B14F-4D97-AF65-F5344CB8AC3E}">
        <p14:creationId xmlns:p14="http://schemas.microsoft.com/office/powerpoint/2010/main" val="17535551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395288" y="0"/>
            <a:ext cx="7543800" cy="930275"/>
          </a:xfrm>
        </p:spPr>
        <p:txBody>
          <a:bodyPr/>
          <a:lstStyle/>
          <a:p>
            <a:pPr algn="ctr" eaLnBrk="1" hangingPunct="1"/>
            <a:r>
              <a:rPr lang="en-GB" altLang="en-US" smtClean="0"/>
              <a:t>Plan driven vs. Agile</a:t>
            </a:r>
            <a:endParaRPr lang="en-US" altLang="en-US" smtClean="0"/>
          </a:p>
        </p:txBody>
      </p:sp>
      <p:grpSp>
        <p:nvGrpSpPr>
          <p:cNvPr id="7172" name="Group 20"/>
          <p:cNvGrpSpPr>
            <a:grpSpLocks/>
          </p:cNvGrpSpPr>
          <p:nvPr/>
        </p:nvGrpSpPr>
        <p:grpSpPr bwMode="auto">
          <a:xfrm>
            <a:off x="468313" y="1196975"/>
            <a:ext cx="7127875" cy="4694238"/>
            <a:chOff x="468313" y="1196975"/>
            <a:chExt cx="7127875" cy="4694238"/>
          </a:xfrm>
        </p:grpSpPr>
        <p:pic>
          <p:nvPicPr>
            <p:cNvPr id="717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3284538"/>
              <a:ext cx="1212850" cy="110172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3429000"/>
              <a:ext cx="120967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Text Box 13"/>
            <p:cNvSpPr txBox="1">
              <a:spLocks noChangeArrowheads="1"/>
            </p:cNvSpPr>
            <p:nvPr/>
          </p:nvSpPr>
          <p:spPr bwMode="auto">
            <a:xfrm>
              <a:off x="3132138" y="1196975"/>
              <a:ext cx="1871662"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600" b="0">
                  <a:solidFill>
                    <a:schemeClr val="tx1"/>
                  </a:solidFill>
                </a:rPr>
                <a:t>Traditional Method</a:t>
              </a:r>
            </a:p>
            <a:p>
              <a:pPr eaLnBrk="1" hangingPunct="1">
                <a:spcBef>
                  <a:spcPct val="50000"/>
                </a:spcBef>
              </a:pPr>
              <a:r>
                <a:rPr lang="en-GB" altLang="en-US" sz="1600" b="0">
                  <a:solidFill>
                    <a:schemeClr val="accent2"/>
                  </a:solidFill>
                </a:rPr>
                <a:t>(Plan-driven)</a:t>
              </a:r>
              <a:endParaRPr lang="en-US" altLang="en-US" sz="1600" b="0">
                <a:solidFill>
                  <a:schemeClr val="accent2"/>
                </a:solidFill>
              </a:endParaRPr>
            </a:p>
          </p:txBody>
        </p:sp>
        <p:sp>
          <p:nvSpPr>
            <p:cNvPr id="7176" name="Text Box 14"/>
            <p:cNvSpPr txBox="1">
              <a:spLocks noChangeArrowheads="1"/>
            </p:cNvSpPr>
            <p:nvPr/>
          </p:nvSpPr>
          <p:spPr bwMode="auto">
            <a:xfrm>
              <a:off x="5219700" y="1268413"/>
              <a:ext cx="2232025"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800" b="0">
                  <a:solidFill>
                    <a:srgbClr val="000099"/>
                  </a:solidFill>
                </a:rPr>
                <a:t>Agile method</a:t>
              </a:r>
            </a:p>
            <a:p>
              <a:pPr eaLnBrk="1" hangingPunct="1">
                <a:spcBef>
                  <a:spcPct val="50000"/>
                </a:spcBef>
              </a:pPr>
              <a:r>
                <a:rPr lang="en-GB" altLang="en-US" sz="1800" b="0">
                  <a:solidFill>
                    <a:srgbClr val="000099"/>
                  </a:solidFill>
                </a:rPr>
                <a:t>(value-driven)</a:t>
              </a:r>
              <a:endParaRPr lang="en-US" altLang="en-US" sz="1800" b="0">
                <a:solidFill>
                  <a:srgbClr val="000099"/>
                </a:solidFill>
              </a:endParaRPr>
            </a:p>
          </p:txBody>
        </p:sp>
        <p:sp>
          <p:nvSpPr>
            <p:cNvPr id="7177" name="Text Box 15"/>
            <p:cNvSpPr txBox="1">
              <a:spLocks noChangeArrowheads="1"/>
            </p:cNvSpPr>
            <p:nvPr/>
          </p:nvSpPr>
          <p:spPr bwMode="auto">
            <a:xfrm>
              <a:off x="2987675" y="5373688"/>
              <a:ext cx="20891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400" b="0">
                  <a:solidFill>
                    <a:schemeClr val="tx1"/>
                  </a:solidFill>
                </a:rPr>
                <a:t>The plan creates cost/schedule </a:t>
              </a:r>
              <a:r>
                <a:rPr lang="en-GB" altLang="en-US" sz="1400" b="0">
                  <a:solidFill>
                    <a:srgbClr val="CC0099"/>
                  </a:solidFill>
                </a:rPr>
                <a:t>estimates</a:t>
              </a:r>
              <a:endParaRPr lang="en-US" altLang="en-US" sz="1400" b="0">
                <a:solidFill>
                  <a:srgbClr val="CC0099"/>
                </a:solidFill>
              </a:endParaRPr>
            </a:p>
          </p:txBody>
        </p:sp>
        <p:sp>
          <p:nvSpPr>
            <p:cNvPr id="7178" name="Text Box 16"/>
            <p:cNvSpPr txBox="1">
              <a:spLocks noChangeArrowheads="1"/>
            </p:cNvSpPr>
            <p:nvPr/>
          </p:nvSpPr>
          <p:spPr bwMode="auto">
            <a:xfrm>
              <a:off x="5364163" y="5373688"/>
              <a:ext cx="22320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400" b="0">
                  <a:solidFill>
                    <a:srgbClr val="000099"/>
                  </a:solidFill>
                </a:rPr>
                <a:t>Releases feature intent drive </a:t>
              </a:r>
              <a:r>
                <a:rPr lang="en-GB" altLang="en-US" sz="1400" b="0">
                  <a:solidFill>
                    <a:srgbClr val="CC0099"/>
                  </a:solidFill>
                </a:rPr>
                <a:t>estimates</a:t>
              </a:r>
              <a:endParaRPr lang="en-US" altLang="en-US" sz="1400" b="0">
                <a:solidFill>
                  <a:srgbClr val="CC0099"/>
                </a:solidFill>
              </a:endParaRPr>
            </a:p>
          </p:txBody>
        </p:sp>
        <p:sp>
          <p:nvSpPr>
            <p:cNvPr id="7179" name="Text Box 17"/>
            <p:cNvSpPr txBox="1">
              <a:spLocks noChangeArrowheads="1"/>
            </p:cNvSpPr>
            <p:nvPr/>
          </p:nvSpPr>
          <p:spPr bwMode="auto">
            <a:xfrm>
              <a:off x="3635375" y="2997200"/>
              <a:ext cx="1081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800" b="0">
                  <a:solidFill>
                    <a:schemeClr val="tx1"/>
                  </a:solidFill>
                </a:rPr>
                <a:t>  Cost</a:t>
              </a:r>
              <a:endParaRPr lang="en-US" altLang="en-US" sz="1800" b="0">
                <a:solidFill>
                  <a:schemeClr val="tx1"/>
                </a:solidFill>
              </a:endParaRPr>
            </a:p>
          </p:txBody>
        </p:sp>
        <p:sp>
          <p:nvSpPr>
            <p:cNvPr id="7180" name="Text Box 18"/>
            <p:cNvSpPr txBox="1">
              <a:spLocks noChangeArrowheads="1"/>
            </p:cNvSpPr>
            <p:nvPr/>
          </p:nvSpPr>
          <p:spPr bwMode="auto">
            <a:xfrm>
              <a:off x="2987675" y="4581525"/>
              <a:ext cx="1223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600" b="0">
                  <a:solidFill>
                    <a:schemeClr val="tx1"/>
                  </a:solidFill>
                </a:rPr>
                <a:t>Resources</a:t>
              </a:r>
              <a:endParaRPr lang="en-US" altLang="en-US" sz="1600" b="0">
                <a:solidFill>
                  <a:schemeClr val="tx1"/>
                </a:solidFill>
              </a:endParaRPr>
            </a:p>
          </p:txBody>
        </p:sp>
        <p:sp>
          <p:nvSpPr>
            <p:cNvPr id="7181" name="Text Box 19"/>
            <p:cNvSpPr txBox="1">
              <a:spLocks noChangeArrowheads="1"/>
            </p:cNvSpPr>
            <p:nvPr/>
          </p:nvSpPr>
          <p:spPr bwMode="auto">
            <a:xfrm>
              <a:off x="4211638" y="4581525"/>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600" b="0">
                  <a:solidFill>
                    <a:schemeClr val="tx1"/>
                  </a:solidFill>
                </a:rPr>
                <a:t>Time</a:t>
              </a:r>
              <a:endParaRPr lang="en-US" altLang="en-US" sz="1600" b="0">
                <a:solidFill>
                  <a:schemeClr val="tx1"/>
                </a:solidFill>
              </a:endParaRPr>
            </a:p>
          </p:txBody>
        </p:sp>
        <p:sp>
          <p:nvSpPr>
            <p:cNvPr id="7182" name="Text Box 20"/>
            <p:cNvSpPr txBox="1">
              <a:spLocks noChangeArrowheads="1"/>
            </p:cNvSpPr>
            <p:nvPr/>
          </p:nvSpPr>
          <p:spPr bwMode="auto">
            <a:xfrm>
              <a:off x="5867400" y="4652963"/>
              <a:ext cx="936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800" b="0">
                  <a:solidFill>
                    <a:schemeClr val="tx1"/>
                  </a:solidFill>
                </a:rPr>
                <a:t>Cost</a:t>
              </a:r>
              <a:endParaRPr lang="en-US" altLang="en-US" sz="1800" b="0">
                <a:solidFill>
                  <a:schemeClr val="tx1"/>
                </a:solidFill>
              </a:endParaRPr>
            </a:p>
          </p:txBody>
        </p:sp>
        <p:sp>
          <p:nvSpPr>
            <p:cNvPr id="7183" name="Text Box 22"/>
            <p:cNvSpPr txBox="1">
              <a:spLocks noChangeArrowheads="1"/>
            </p:cNvSpPr>
            <p:nvPr/>
          </p:nvSpPr>
          <p:spPr bwMode="auto">
            <a:xfrm>
              <a:off x="5076825" y="2997200"/>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600" b="0">
                  <a:solidFill>
                    <a:schemeClr val="tx1"/>
                  </a:solidFill>
                </a:rPr>
                <a:t>Resources</a:t>
              </a:r>
              <a:endParaRPr lang="en-US" altLang="en-US" sz="1600" b="0">
                <a:solidFill>
                  <a:schemeClr val="tx1"/>
                </a:solidFill>
              </a:endParaRPr>
            </a:p>
          </p:txBody>
        </p:sp>
        <p:sp>
          <p:nvSpPr>
            <p:cNvPr id="7184" name="Text Box 23"/>
            <p:cNvSpPr txBox="1">
              <a:spLocks noChangeArrowheads="1"/>
            </p:cNvSpPr>
            <p:nvPr/>
          </p:nvSpPr>
          <p:spPr bwMode="auto">
            <a:xfrm>
              <a:off x="6516688" y="2997200"/>
              <a:ext cx="792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600" b="0">
                  <a:solidFill>
                    <a:schemeClr val="tx1"/>
                  </a:solidFill>
                </a:rPr>
                <a:t>Time</a:t>
              </a:r>
              <a:endParaRPr lang="en-US" altLang="en-US" sz="1600" b="0">
                <a:solidFill>
                  <a:schemeClr val="tx1"/>
                </a:solidFill>
              </a:endParaRPr>
            </a:p>
          </p:txBody>
        </p:sp>
        <p:sp>
          <p:nvSpPr>
            <p:cNvPr id="7185" name="Text Box 24"/>
            <p:cNvSpPr txBox="1">
              <a:spLocks noChangeArrowheads="1"/>
            </p:cNvSpPr>
            <p:nvPr/>
          </p:nvSpPr>
          <p:spPr bwMode="auto">
            <a:xfrm>
              <a:off x="971550" y="2852738"/>
              <a:ext cx="2016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2800" dirty="0">
                  <a:solidFill>
                    <a:schemeClr val="tx1"/>
                  </a:solidFill>
                </a:rPr>
                <a:t>Fixed</a:t>
              </a:r>
              <a:endParaRPr lang="en-US" altLang="en-US" sz="2800" dirty="0">
                <a:solidFill>
                  <a:schemeClr val="tx1"/>
                </a:solidFill>
              </a:endParaRPr>
            </a:p>
          </p:txBody>
        </p:sp>
        <p:sp>
          <p:nvSpPr>
            <p:cNvPr id="7186" name="Line 27"/>
            <p:cNvSpPr>
              <a:spLocks noChangeShapeType="1"/>
            </p:cNvSpPr>
            <p:nvPr/>
          </p:nvSpPr>
          <p:spPr bwMode="auto">
            <a:xfrm>
              <a:off x="2051050" y="3141663"/>
              <a:ext cx="936625"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7187" name="Text Box 28"/>
            <p:cNvSpPr txBox="1">
              <a:spLocks noChangeArrowheads="1"/>
            </p:cNvSpPr>
            <p:nvPr/>
          </p:nvSpPr>
          <p:spPr bwMode="auto">
            <a:xfrm>
              <a:off x="468313" y="5300663"/>
              <a:ext cx="2447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2800" dirty="0">
                  <a:solidFill>
                    <a:schemeClr val="tx1"/>
                  </a:solidFill>
                </a:rPr>
                <a:t>Estimates</a:t>
              </a:r>
              <a:endParaRPr lang="en-US" altLang="en-US" sz="2800" dirty="0">
                <a:solidFill>
                  <a:schemeClr val="tx1"/>
                </a:solidFill>
              </a:endParaRPr>
            </a:p>
          </p:txBody>
        </p:sp>
        <p:sp>
          <p:nvSpPr>
            <p:cNvPr id="7188" name="Line 29"/>
            <p:cNvSpPr>
              <a:spLocks noChangeShapeType="1"/>
            </p:cNvSpPr>
            <p:nvPr/>
          </p:nvSpPr>
          <p:spPr bwMode="auto">
            <a:xfrm>
              <a:off x="2268538" y="5589588"/>
              <a:ext cx="574675"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grpSp>
    </p:spTree>
    <p:extLst>
      <p:ext uri="{BB962C8B-B14F-4D97-AF65-F5344CB8AC3E}">
        <p14:creationId xmlns:p14="http://schemas.microsoft.com/office/powerpoint/2010/main" val="4099036186"/>
      </p:ext>
    </p:extLst>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0"/>
          <p:cNvSpPr>
            <a:spLocks noGrp="1" noChangeArrowheads="1"/>
          </p:cNvSpPr>
          <p:nvPr>
            <p:ph type="title"/>
          </p:nvPr>
        </p:nvSpPr>
        <p:spPr>
          <a:xfrm>
            <a:off x="457200" y="122238"/>
            <a:ext cx="7543800" cy="1003300"/>
          </a:xfrm>
        </p:spPr>
        <p:txBody>
          <a:bodyPr/>
          <a:lstStyle/>
          <a:p>
            <a:pPr eaLnBrk="1" hangingPunct="1"/>
            <a:r>
              <a:rPr lang="en-GB" altLang="en-US" sz="3500" b="0" smtClean="0"/>
              <a:t>The “Inverted Pyramid” principle</a:t>
            </a:r>
            <a:r>
              <a:rPr lang="en-GB" altLang="en-US" sz="3000" smtClean="0"/>
              <a:t/>
            </a:r>
            <a:br>
              <a:rPr lang="en-GB" altLang="en-US" sz="3000" smtClean="0"/>
            </a:br>
            <a:r>
              <a:rPr lang="en-GB" altLang="en-US" sz="2200" smtClean="0"/>
              <a:t>- as used by Newspapers around the world</a:t>
            </a:r>
            <a:endParaRPr lang="en-US" altLang="en-US" sz="2200" smtClean="0"/>
          </a:p>
        </p:txBody>
      </p:sp>
      <p:sp>
        <p:nvSpPr>
          <p:cNvPr id="21511" name="AutoShape 7"/>
          <p:cNvSpPr>
            <a:spLocks noChangeArrowheads="1"/>
          </p:cNvSpPr>
          <p:nvPr/>
        </p:nvSpPr>
        <p:spPr bwMode="auto">
          <a:xfrm flipH="1" flipV="1">
            <a:off x="2195513" y="1916113"/>
            <a:ext cx="4751387" cy="3887787"/>
          </a:xfrm>
          <a:prstGeom prst="triangle">
            <a:avLst>
              <a:gd name="adj" fmla="val 50000"/>
            </a:avLst>
          </a:prstGeom>
          <a:gradFill rotWithShape="1">
            <a:gsLst>
              <a:gs pos="0">
                <a:schemeClr val="accent1">
                  <a:gamma/>
                  <a:shade val="46275"/>
                  <a:invGamma/>
                </a:schemeClr>
              </a:gs>
              <a:gs pos="100000">
                <a:schemeClr val="accent1"/>
              </a:gs>
            </a:gsLst>
            <a:lin ang="5400000" scaled="1"/>
          </a:gradFill>
          <a:ln w="9525">
            <a:solidFill>
              <a:schemeClr val="tx1"/>
            </a:solidFill>
            <a:miter lim="800000"/>
            <a:headEnd/>
            <a:tailEnd/>
          </a:ln>
          <a:effectLst/>
        </p:spPr>
        <p:txBody>
          <a:bodyPr wrap="none" anchor="ctr"/>
          <a:lstStyle/>
          <a:p>
            <a:pPr>
              <a:defRPr/>
            </a:pPr>
            <a:endParaRPr lang="en-US"/>
          </a:p>
        </p:txBody>
      </p:sp>
      <p:grpSp>
        <p:nvGrpSpPr>
          <p:cNvPr id="2" name="Group 22"/>
          <p:cNvGrpSpPr>
            <a:grpSpLocks/>
          </p:cNvGrpSpPr>
          <p:nvPr/>
        </p:nvGrpSpPr>
        <p:grpSpPr bwMode="auto">
          <a:xfrm>
            <a:off x="2195513" y="4083050"/>
            <a:ext cx="3457575" cy="1223963"/>
            <a:chOff x="1383" y="2572"/>
            <a:chExt cx="2178" cy="771"/>
          </a:xfrm>
        </p:grpSpPr>
        <p:grpSp>
          <p:nvGrpSpPr>
            <p:cNvPr id="8204" name="Group 8"/>
            <p:cNvGrpSpPr>
              <a:grpSpLocks/>
            </p:cNvGrpSpPr>
            <p:nvPr/>
          </p:nvGrpSpPr>
          <p:grpSpPr bwMode="auto">
            <a:xfrm>
              <a:off x="1383" y="2886"/>
              <a:ext cx="856" cy="457"/>
              <a:chOff x="1071" y="3702"/>
              <a:chExt cx="856" cy="457"/>
            </a:xfrm>
          </p:grpSpPr>
          <p:sp>
            <p:nvSpPr>
              <p:cNvPr id="8207" name="Line 9"/>
              <p:cNvSpPr>
                <a:spLocks noChangeShapeType="1"/>
              </p:cNvSpPr>
              <p:nvPr/>
            </p:nvSpPr>
            <p:spPr bwMode="auto">
              <a:xfrm flipV="1">
                <a:off x="1338" y="3702"/>
                <a:ext cx="544"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208" name="Line 10"/>
              <p:cNvSpPr>
                <a:spLocks noChangeShapeType="1"/>
              </p:cNvSpPr>
              <p:nvPr/>
            </p:nvSpPr>
            <p:spPr bwMode="auto">
              <a:xfrm>
                <a:off x="1283" y="3896"/>
                <a:ext cx="644" cy="3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209" name="Oval 11"/>
              <p:cNvSpPr>
                <a:spLocks noChangeArrowheads="1"/>
              </p:cNvSpPr>
              <p:nvPr/>
            </p:nvSpPr>
            <p:spPr bwMode="auto">
              <a:xfrm>
                <a:off x="1156" y="3977"/>
                <a:ext cx="227" cy="18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endParaRPr lang="en-US" altLang="en-US"/>
              </a:p>
            </p:txBody>
          </p:sp>
          <p:sp>
            <p:nvSpPr>
              <p:cNvPr id="8210" name="Oval 12"/>
              <p:cNvSpPr>
                <a:spLocks noChangeArrowheads="1"/>
              </p:cNvSpPr>
              <p:nvPr/>
            </p:nvSpPr>
            <p:spPr bwMode="auto">
              <a:xfrm>
                <a:off x="1071" y="3769"/>
                <a:ext cx="227" cy="18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endParaRPr lang="en-US" altLang="en-US"/>
              </a:p>
            </p:txBody>
          </p:sp>
        </p:grpSp>
        <p:sp>
          <p:nvSpPr>
            <p:cNvPr id="8205" name="Text Box 13"/>
            <p:cNvSpPr txBox="1">
              <a:spLocks noChangeArrowheads="1"/>
            </p:cNvSpPr>
            <p:nvPr/>
          </p:nvSpPr>
          <p:spPr bwMode="auto">
            <a:xfrm>
              <a:off x="1473" y="2572"/>
              <a:ext cx="6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GB" altLang="en-US" sz="1800" b="0">
                  <a:solidFill>
                    <a:schemeClr val="tx1"/>
                  </a:solidFill>
                </a:rPr>
                <a:t>Editors </a:t>
              </a:r>
              <a:br>
                <a:rPr lang="en-GB" altLang="en-US" sz="1800" b="0">
                  <a:solidFill>
                    <a:schemeClr val="tx1"/>
                  </a:solidFill>
                </a:rPr>
              </a:br>
              <a:r>
                <a:rPr lang="en-GB" altLang="en-US" sz="1800" b="0">
                  <a:solidFill>
                    <a:schemeClr val="tx1"/>
                  </a:solidFill>
                </a:rPr>
                <a:t>scissors</a:t>
              </a:r>
            </a:p>
          </p:txBody>
        </p:sp>
        <p:sp>
          <p:nvSpPr>
            <p:cNvPr id="8206" name="Line 14"/>
            <p:cNvSpPr>
              <a:spLocks noChangeShapeType="1"/>
            </p:cNvSpPr>
            <p:nvPr/>
          </p:nvSpPr>
          <p:spPr bwMode="auto">
            <a:xfrm>
              <a:off x="2291" y="3067"/>
              <a:ext cx="127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8198" name="Text Box 15"/>
          <p:cNvSpPr txBox="1">
            <a:spLocks noChangeArrowheads="1"/>
          </p:cNvSpPr>
          <p:nvPr/>
        </p:nvSpPr>
        <p:spPr bwMode="auto">
          <a:xfrm>
            <a:off x="2413000" y="5445125"/>
            <a:ext cx="24479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GB" altLang="en-US" sz="1800" b="0">
                <a:solidFill>
                  <a:schemeClr val="tx1"/>
                </a:solidFill>
              </a:rPr>
              <a:t>Cut according to space constraints (</a:t>
            </a:r>
            <a:r>
              <a:rPr lang="en-GB" altLang="en-US" sz="1800" b="0">
                <a:solidFill>
                  <a:srgbClr val="000099"/>
                </a:solidFill>
              </a:rPr>
              <a:t>Time and Budget</a:t>
            </a:r>
            <a:r>
              <a:rPr lang="en-GB" altLang="en-US" sz="1800" b="0">
                <a:solidFill>
                  <a:schemeClr val="tx1"/>
                </a:solidFill>
              </a:rPr>
              <a:t>)</a:t>
            </a:r>
          </a:p>
        </p:txBody>
      </p:sp>
      <p:sp>
        <p:nvSpPr>
          <p:cNvPr id="21520" name="Line 16"/>
          <p:cNvSpPr>
            <a:spLocks noChangeShapeType="1"/>
          </p:cNvSpPr>
          <p:nvPr/>
        </p:nvSpPr>
        <p:spPr bwMode="auto">
          <a:xfrm>
            <a:off x="4552950" y="2132013"/>
            <a:ext cx="0" cy="29527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200" name="Text Box 17"/>
          <p:cNvSpPr txBox="1">
            <a:spLocks noChangeArrowheads="1"/>
          </p:cNvSpPr>
          <p:nvPr/>
        </p:nvSpPr>
        <p:spPr bwMode="auto">
          <a:xfrm>
            <a:off x="4503738" y="3278188"/>
            <a:ext cx="717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GB" altLang="en-US" sz="1800">
                <a:solidFill>
                  <a:srgbClr val="FF0000"/>
                </a:solidFill>
              </a:rPr>
              <a:t>Time</a:t>
            </a:r>
          </a:p>
        </p:txBody>
      </p:sp>
      <p:sp>
        <p:nvSpPr>
          <p:cNvPr id="21522" name="Line 18"/>
          <p:cNvSpPr>
            <a:spLocks noChangeShapeType="1"/>
          </p:cNvSpPr>
          <p:nvPr/>
        </p:nvSpPr>
        <p:spPr bwMode="auto">
          <a:xfrm>
            <a:off x="2771775" y="2060575"/>
            <a:ext cx="3744913" cy="0"/>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202" name="Text Box 19"/>
          <p:cNvSpPr txBox="1">
            <a:spLocks noChangeArrowheads="1"/>
          </p:cNvSpPr>
          <p:nvPr/>
        </p:nvSpPr>
        <p:spPr bwMode="auto">
          <a:xfrm>
            <a:off x="5364163" y="2060575"/>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GB" altLang="en-US" sz="1800">
                <a:solidFill>
                  <a:srgbClr val="FF0000"/>
                </a:solidFill>
              </a:rPr>
              <a:t>priority</a:t>
            </a:r>
          </a:p>
        </p:txBody>
      </p:sp>
      <p:sp>
        <p:nvSpPr>
          <p:cNvPr id="8203" name="Text Box 21"/>
          <p:cNvSpPr txBox="1">
            <a:spLocks noChangeArrowheads="1"/>
          </p:cNvSpPr>
          <p:nvPr/>
        </p:nvSpPr>
        <p:spPr bwMode="auto">
          <a:xfrm>
            <a:off x="5829722" y="5262562"/>
            <a:ext cx="3671764"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spcBef>
                <a:spcPct val="50000"/>
              </a:spcBef>
            </a:pPr>
            <a:r>
              <a:rPr lang="en-GB" altLang="en-US" sz="1800" b="0" dirty="0">
                <a:solidFill>
                  <a:schemeClr val="tx1"/>
                </a:solidFill>
              </a:rPr>
              <a:t>Source from Clarke Ching</a:t>
            </a:r>
          </a:p>
          <a:p>
            <a:pPr eaLnBrk="1" hangingPunct="1">
              <a:spcBef>
                <a:spcPct val="50000"/>
              </a:spcBef>
            </a:pPr>
            <a:endParaRPr lang="en-US" altLang="en-US" sz="1800" b="0" dirty="0">
              <a:solidFill>
                <a:schemeClr val="tx1"/>
              </a:solidFill>
            </a:endParaRPr>
          </a:p>
        </p:txBody>
      </p:sp>
    </p:spTree>
    <p:extLst>
      <p:ext uri="{BB962C8B-B14F-4D97-AF65-F5344CB8AC3E}">
        <p14:creationId xmlns:p14="http://schemas.microsoft.com/office/powerpoint/2010/main" val="3766677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withEffect">
                                  <p:stCondLst>
                                    <p:cond delay="0"/>
                                  </p:stCondLst>
                                  <p:iterate type="lt">
                                    <p:tmPct val="5000"/>
                                  </p:iterate>
                                  <p:childTnLst>
                                    <p:set>
                                      <p:cBhvr>
                                        <p:cTn id="6" dur="1" fill="hold">
                                          <p:stCondLst>
                                            <p:cond delay="0"/>
                                          </p:stCondLst>
                                        </p:cTn>
                                        <p:tgtEl>
                                          <p:spTgt spid="21511"/>
                                        </p:tgtEl>
                                        <p:attrNameLst>
                                          <p:attrName>style.visibility</p:attrName>
                                        </p:attrNameLst>
                                      </p:cBhvr>
                                      <p:to>
                                        <p:strVal val="visible"/>
                                      </p:to>
                                    </p:set>
                                    <p:anim calcmode="lin" valueType="num">
                                      <p:cBhvr>
                                        <p:cTn id="7" dur="1000" fill="hold"/>
                                        <p:tgtEl>
                                          <p:spTgt spid="21511"/>
                                        </p:tgtEl>
                                        <p:attrNameLst>
                                          <p:attrName>ppt_w</p:attrName>
                                        </p:attrNameLst>
                                      </p:cBhvr>
                                      <p:tavLst>
                                        <p:tav tm="0">
                                          <p:val>
                                            <p:fltVal val="0"/>
                                          </p:val>
                                        </p:tav>
                                        <p:tav tm="100000">
                                          <p:val>
                                            <p:strVal val="#ppt_w"/>
                                          </p:val>
                                        </p:tav>
                                      </p:tavLst>
                                    </p:anim>
                                    <p:anim calcmode="lin" valueType="num">
                                      <p:cBhvr>
                                        <p:cTn id="8" dur="1000" fill="hold"/>
                                        <p:tgtEl>
                                          <p:spTgt spid="21511"/>
                                        </p:tgtEl>
                                        <p:attrNameLst>
                                          <p:attrName>ppt_h</p:attrName>
                                        </p:attrNameLst>
                                      </p:cBhvr>
                                      <p:tavLst>
                                        <p:tav tm="0">
                                          <p:val>
                                            <p:fltVal val="0"/>
                                          </p:val>
                                        </p:tav>
                                        <p:tav tm="100000">
                                          <p:val>
                                            <p:strVal val="#ppt_h"/>
                                          </p:val>
                                        </p:tav>
                                      </p:tavLst>
                                    </p:anim>
                                    <p:anim calcmode="lin" valueType="num">
                                      <p:cBhvr>
                                        <p:cTn id="9" dur="1000" fill="hold"/>
                                        <p:tgtEl>
                                          <p:spTgt spid="21511"/>
                                        </p:tgtEl>
                                        <p:attrNameLst>
                                          <p:attrName>style.rotation</p:attrName>
                                        </p:attrNameLst>
                                      </p:cBhvr>
                                      <p:tavLst>
                                        <p:tav tm="0">
                                          <p:val>
                                            <p:fltVal val="90"/>
                                          </p:val>
                                        </p:tav>
                                        <p:tav tm="100000">
                                          <p:val>
                                            <p:fltVal val="0"/>
                                          </p:val>
                                        </p:tav>
                                      </p:tavLst>
                                    </p:anim>
                                    <p:animEffect transition="in" filter="fade">
                                      <p:cBhvr>
                                        <p:cTn id="10" dur="1000"/>
                                        <p:tgtEl>
                                          <p:spTgt spid="21511"/>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21522"/>
                                        </p:tgtEl>
                                        <p:attrNameLst>
                                          <p:attrName>style.visibility</p:attrName>
                                        </p:attrNameLst>
                                      </p:cBhvr>
                                      <p:to>
                                        <p:strVal val="visible"/>
                                      </p:to>
                                    </p:set>
                                    <p:animEffect transition="in" filter="strips(downRight)">
                                      <p:cBhvr>
                                        <p:cTn id="13" dur="5000"/>
                                        <p:tgtEl>
                                          <p:spTgt spid="21522"/>
                                        </p:tgtEl>
                                      </p:cBhvr>
                                    </p:animEffect>
                                  </p:childTnLst>
                                </p:cTn>
                              </p:par>
                              <p:par>
                                <p:cTn id="14" presetID="2" presetClass="entr" presetSubtype="1" fill="hold" grpId="0" nodeType="withEffect">
                                  <p:stCondLst>
                                    <p:cond delay="0"/>
                                  </p:stCondLst>
                                  <p:childTnLst>
                                    <p:set>
                                      <p:cBhvr>
                                        <p:cTn id="15" dur="1" fill="hold">
                                          <p:stCondLst>
                                            <p:cond delay="0"/>
                                          </p:stCondLst>
                                        </p:cTn>
                                        <p:tgtEl>
                                          <p:spTgt spid="21520"/>
                                        </p:tgtEl>
                                        <p:attrNameLst>
                                          <p:attrName>style.visibility</p:attrName>
                                        </p:attrNameLst>
                                      </p:cBhvr>
                                      <p:to>
                                        <p:strVal val="visible"/>
                                      </p:to>
                                    </p:set>
                                    <p:anim calcmode="lin" valueType="num">
                                      <p:cBhvr additive="base">
                                        <p:cTn id="16" dur="5000" fill="hold"/>
                                        <p:tgtEl>
                                          <p:spTgt spid="21520"/>
                                        </p:tgtEl>
                                        <p:attrNameLst>
                                          <p:attrName>ppt_x</p:attrName>
                                        </p:attrNameLst>
                                      </p:cBhvr>
                                      <p:tavLst>
                                        <p:tav tm="0">
                                          <p:val>
                                            <p:strVal val="#ppt_x"/>
                                          </p:val>
                                        </p:tav>
                                        <p:tav tm="100000">
                                          <p:val>
                                            <p:strVal val="#ppt_x"/>
                                          </p:val>
                                        </p:tav>
                                      </p:tavLst>
                                    </p:anim>
                                    <p:anim calcmode="lin" valueType="num">
                                      <p:cBhvr additive="base">
                                        <p:cTn id="17" dur="5000" fill="hold"/>
                                        <p:tgtEl>
                                          <p:spTgt spid="21520"/>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downRight)">
                                      <p:cBhvr>
                                        <p:cTn id="22"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animBg="1"/>
      <p:bldP spid="21520" grpId="0" animBg="1"/>
      <p:bldP spid="215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4"/>
          <p:cNvSpPr>
            <a:spLocks noGrp="1" noChangeArrowheads="1"/>
          </p:cNvSpPr>
          <p:nvPr>
            <p:ph type="title"/>
          </p:nvPr>
        </p:nvSpPr>
        <p:spPr>
          <a:xfrm>
            <a:off x="457200" y="122238"/>
            <a:ext cx="7543800" cy="858837"/>
          </a:xfrm>
        </p:spPr>
        <p:txBody>
          <a:bodyPr/>
          <a:lstStyle/>
          <a:p>
            <a:pPr algn="ctr" eaLnBrk="1" hangingPunct="1"/>
            <a:r>
              <a:rPr lang="en-GB" altLang="en-US" smtClean="0"/>
              <a:t>Feature Usage</a:t>
            </a:r>
            <a:endParaRPr lang="en-US" altLang="en-US" smtClean="0"/>
          </a:p>
        </p:txBody>
      </p:sp>
      <p:graphicFrame>
        <p:nvGraphicFramePr>
          <p:cNvPr id="25603" name="Object 3"/>
          <p:cNvGraphicFramePr>
            <a:graphicFrameLocks noGrp="1" noChangeAspect="1"/>
          </p:cNvGraphicFramePr>
          <p:nvPr>
            <p:ph idx="1"/>
          </p:nvPr>
        </p:nvGraphicFramePr>
        <p:xfrm>
          <a:off x="179388" y="1271588"/>
          <a:ext cx="8964612" cy="4600575"/>
        </p:xfrm>
        <a:graphic>
          <a:graphicData uri="http://schemas.openxmlformats.org/presentationml/2006/ole">
            <mc:AlternateContent xmlns:mc="http://schemas.openxmlformats.org/markup-compatibility/2006">
              <mc:Choice xmlns:v="urn:schemas-microsoft-com:vml" Requires="v">
                <p:oleObj spid="_x0000_s166931" name="Chart" r:id="rId4" imgW="6886718" imgH="3533584" progId="Excel.Chart.8">
                  <p:embed/>
                </p:oleObj>
              </mc:Choice>
              <mc:Fallback>
                <p:oleObj name="Chart" r:id="rId4" imgW="6886718" imgH="3533584" progId="Excel.Char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271588"/>
                        <a:ext cx="8964612" cy="460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 name="Date Placeholder 3"/>
          <p:cNvSpPr>
            <a:spLocks noGrp="1"/>
          </p:cNvSpPr>
          <p:nvPr>
            <p:ph type="dt" sz="half" idx="10"/>
          </p:nvPr>
        </p:nvSpPr>
        <p:spPr>
          <a:xfrm>
            <a:off x="8459788" y="6042025"/>
            <a:ext cx="684212"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US" altLang="en-US" sz="1000" b="0">
                <a:solidFill>
                  <a:schemeClr val="tx1"/>
                </a:solidFill>
              </a:rPr>
              <a:t>30-04-2008</a:t>
            </a:r>
          </a:p>
        </p:txBody>
      </p:sp>
      <p:sp>
        <p:nvSpPr>
          <p:cNvPr id="1029" name="Text Box 6"/>
          <p:cNvSpPr txBox="1">
            <a:spLocks noChangeArrowheads="1"/>
          </p:cNvSpPr>
          <p:nvPr/>
        </p:nvSpPr>
        <p:spPr bwMode="auto">
          <a:xfrm>
            <a:off x="863600" y="6237288"/>
            <a:ext cx="828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algn="ctr" eaLnBrk="1" hangingPunct="1">
              <a:spcBef>
                <a:spcPct val="50000"/>
              </a:spcBef>
            </a:pPr>
            <a:r>
              <a:rPr lang="en-GB" altLang="en-US" sz="1800" b="0">
                <a:solidFill>
                  <a:schemeClr val="tx1"/>
                </a:solidFill>
              </a:rPr>
              <a:t>Source: Standish Group 2002</a:t>
            </a:r>
            <a:endParaRPr lang="en-US" altLang="en-US" sz="1800" b="0">
              <a:solidFill>
                <a:schemeClr val="tx1"/>
              </a:solidFill>
            </a:endParaRPr>
          </a:p>
        </p:txBody>
      </p:sp>
    </p:spTree>
    <p:extLst>
      <p:ext uri="{BB962C8B-B14F-4D97-AF65-F5344CB8AC3E}">
        <p14:creationId xmlns:p14="http://schemas.microsoft.com/office/powerpoint/2010/main" val="3230433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with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blinds(vertical)">
                                      <p:cBhvr>
                                        <p:cTn id="7" dur="2000"/>
                                        <p:tgtEl>
                                          <p:spTgt spid="2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2560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GB" altLang="en-US" smtClean="0"/>
              <a:t>80% and 20% theory</a:t>
            </a:r>
            <a:endParaRPr lang="en-US" altLang="en-US" smtClean="0"/>
          </a:p>
        </p:txBody>
      </p:sp>
      <p:sp>
        <p:nvSpPr>
          <p:cNvPr id="9220" name="Rectangle 3"/>
          <p:cNvSpPr>
            <a:spLocks noGrp="1" noChangeArrowheads="1"/>
          </p:cNvSpPr>
          <p:nvPr>
            <p:ph idx="1"/>
          </p:nvPr>
        </p:nvSpPr>
        <p:spPr/>
        <p:txBody>
          <a:bodyPr/>
          <a:lstStyle/>
          <a:p>
            <a:pPr eaLnBrk="1" hangingPunct="1">
              <a:buFont typeface="Wingdings" panose="05000000000000000000" pitchFamily="2" charset="2"/>
              <a:buNone/>
            </a:pPr>
            <a:r>
              <a:rPr lang="en-GB" altLang="en-US" smtClean="0"/>
              <a:t>Wilfredo Pareto</a:t>
            </a:r>
          </a:p>
          <a:p>
            <a:pPr eaLnBrk="1" hangingPunct="1">
              <a:buFont typeface="Wingdings" panose="05000000000000000000" pitchFamily="2" charset="2"/>
              <a:buNone/>
            </a:pPr>
            <a:r>
              <a:rPr lang="en-GB" altLang="en-US" smtClean="0"/>
              <a:t>16</a:t>
            </a:r>
            <a:r>
              <a:rPr lang="en-GB" altLang="en-US" baseline="30000" smtClean="0"/>
              <a:t>th</a:t>
            </a:r>
            <a:r>
              <a:rPr lang="en-GB" altLang="en-US" smtClean="0"/>
              <a:t> century Italian economist </a:t>
            </a:r>
          </a:p>
          <a:p>
            <a:pPr eaLnBrk="1" hangingPunct="1"/>
            <a:r>
              <a:rPr lang="en-GB" altLang="en-US" smtClean="0"/>
              <a:t>80% benefit from people can be obtained from 20% of features but we need a method to quantify the 20% of features that will give 80% of benefit.</a:t>
            </a:r>
          </a:p>
          <a:p>
            <a:pPr eaLnBrk="1" hangingPunct="1"/>
            <a:endParaRPr lang="en-US" altLang="en-US" smtClean="0"/>
          </a:p>
        </p:txBody>
      </p:sp>
      <p:sp>
        <p:nvSpPr>
          <p:cNvPr id="9218" name="Date Placeholder 3"/>
          <p:cNvSpPr>
            <a:spLocks noGrp="1"/>
          </p:cNvSpPr>
          <p:nvPr>
            <p:ph type="dt" sz="half" idx="10"/>
          </p:nvPr>
        </p:nvSpPr>
        <p:spPr>
          <a:xfrm>
            <a:off x="8459788" y="6042025"/>
            <a:ext cx="684212"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US" altLang="en-US" sz="1000" b="0">
                <a:solidFill>
                  <a:schemeClr val="tx1"/>
                </a:solidFill>
              </a:rPr>
              <a:t>30-04-2008</a:t>
            </a:r>
          </a:p>
        </p:txBody>
      </p:sp>
    </p:spTree>
    <p:extLst>
      <p:ext uri="{BB962C8B-B14F-4D97-AF65-F5344CB8AC3E}">
        <p14:creationId xmlns:p14="http://schemas.microsoft.com/office/powerpoint/2010/main" val="16835879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algn="ctr" eaLnBrk="1" hangingPunct="1"/>
            <a:r>
              <a:rPr lang="en-GB" altLang="en-US" smtClean="0"/>
              <a:t>Agile Project</a:t>
            </a:r>
          </a:p>
        </p:txBody>
      </p:sp>
      <p:sp>
        <p:nvSpPr>
          <p:cNvPr id="15364" name="Rectangle 3"/>
          <p:cNvSpPr>
            <a:spLocks noGrp="1" noChangeArrowheads="1"/>
          </p:cNvSpPr>
          <p:nvPr>
            <p:ph idx="1"/>
          </p:nvPr>
        </p:nvSpPr>
        <p:spPr/>
        <p:txBody>
          <a:bodyPr/>
          <a:lstStyle/>
          <a:p>
            <a:pPr eaLnBrk="1" hangingPunct="1">
              <a:lnSpc>
                <a:spcPct val="90000"/>
              </a:lnSpc>
            </a:pPr>
            <a:r>
              <a:rPr lang="en-GB" altLang="en-US" smtClean="0"/>
              <a:t>Sponsors</a:t>
            </a:r>
          </a:p>
          <a:p>
            <a:pPr eaLnBrk="1" hangingPunct="1">
              <a:lnSpc>
                <a:spcPct val="90000"/>
              </a:lnSpc>
            </a:pPr>
            <a:r>
              <a:rPr lang="en-GB" altLang="en-US" smtClean="0"/>
              <a:t>Product owner/customer: for prioritising the work </a:t>
            </a:r>
          </a:p>
          <a:p>
            <a:pPr eaLnBrk="1" hangingPunct="1">
              <a:lnSpc>
                <a:spcPct val="90000"/>
              </a:lnSpc>
            </a:pPr>
            <a:r>
              <a:rPr lang="en-GB" altLang="en-US" smtClean="0"/>
              <a:t>Scrum master/Project manager: for assuring the scrum process is followed.</a:t>
            </a:r>
          </a:p>
          <a:p>
            <a:pPr eaLnBrk="1" hangingPunct="1">
              <a:lnSpc>
                <a:spcPct val="90000"/>
              </a:lnSpc>
            </a:pPr>
            <a:r>
              <a:rPr lang="en-GB" altLang="en-US" smtClean="0"/>
              <a:t>The whole team: developers-testers-domain experts</a:t>
            </a:r>
          </a:p>
          <a:p>
            <a:pPr eaLnBrk="1" hangingPunct="1">
              <a:lnSpc>
                <a:spcPct val="90000"/>
              </a:lnSpc>
            </a:pPr>
            <a:r>
              <a:rPr lang="en-GB" altLang="en-US" smtClean="0"/>
              <a:t>Management: for providing the right expertise to the team.</a:t>
            </a:r>
          </a:p>
        </p:txBody>
      </p:sp>
      <p:sp>
        <p:nvSpPr>
          <p:cNvPr id="15362" name="Date Placeholder 3"/>
          <p:cNvSpPr>
            <a:spLocks noGrp="1"/>
          </p:cNvSpPr>
          <p:nvPr>
            <p:ph type="dt" sz="half" idx="10"/>
          </p:nvPr>
        </p:nvSpPr>
        <p:spPr>
          <a:xfrm>
            <a:off x="8459788" y="6042025"/>
            <a:ext cx="684212"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US" altLang="en-US" sz="1000" b="0">
                <a:solidFill>
                  <a:schemeClr val="tx1"/>
                </a:solidFill>
              </a:rPr>
              <a:t>30-04-2008</a:t>
            </a:r>
          </a:p>
        </p:txBody>
      </p:sp>
    </p:spTree>
    <p:extLst>
      <p:ext uri="{BB962C8B-B14F-4D97-AF65-F5344CB8AC3E}">
        <p14:creationId xmlns:p14="http://schemas.microsoft.com/office/powerpoint/2010/main" val="4120292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normAutofit fontScale="90000"/>
          </a:bodyPr>
          <a:lstStyle/>
          <a:p>
            <a:pPr eaLnBrk="1" hangingPunct="1"/>
            <a:r>
              <a:rPr lang="en-GB" altLang="en-US" sz="3500" smtClean="0"/>
              <a:t>Visibility into the project activities</a:t>
            </a:r>
            <a:br>
              <a:rPr lang="en-GB" altLang="en-US" sz="3500" smtClean="0"/>
            </a:br>
            <a:endParaRPr lang="en-GB" altLang="en-US" sz="3500" smtClean="0"/>
          </a:p>
        </p:txBody>
      </p:sp>
      <p:sp>
        <p:nvSpPr>
          <p:cNvPr id="40964" name="Rectangle 3"/>
          <p:cNvSpPr>
            <a:spLocks noGrp="1" noChangeArrowheads="1"/>
          </p:cNvSpPr>
          <p:nvPr>
            <p:ph idx="1"/>
          </p:nvPr>
        </p:nvSpPr>
        <p:spPr/>
        <p:txBody>
          <a:bodyPr/>
          <a:lstStyle/>
          <a:p>
            <a:pPr eaLnBrk="1" hangingPunct="1">
              <a:buFont typeface="Wingdings" panose="05000000000000000000" pitchFamily="2" charset="2"/>
              <a:buNone/>
            </a:pPr>
            <a:r>
              <a:rPr lang="en-GB" altLang="en-US" smtClean="0"/>
              <a:t>Team iteration</a:t>
            </a:r>
          </a:p>
          <a:p>
            <a:pPr eaLnBrk="1" hangingPunct="1"/>
            <a:r>
              <a:rPr lang="en-GB" altLang="en-US" smtClean="0"/>
              <a:t>Sprint planning meeting</a:t>
            </a:r>
          </a:p>
          <a:p>
            <a:pPr eaLnBrk="1" hangingPunct="1"/>
            <a:r>
              <a:rPr lang="en-GB" altLang="en-US" smtClean="0"/>
              <a:t>Daily scrum meetings</a:t>
            </a:r>
          </a:p>
          <a:p>
            <a:pPr eaLnBrk="1" hangingPunct="1"/>
            <a:r>
              <a:rPr lang="en-GB" altLang="en-US" smtClean="0"/>
              <a:t>Sprint review meeting</a:t>
            </a:r>
          </a:p>
          <a:p>
            <a:pPr eaLnBrk="1" hangingPunct="1"/>
            <a:r>
              <a:rPr lang="en-GB" altLang="en-US" smtClean="0"/>
              <a:t>Sprint backward-looking meeting </a:t>
            </a:r>
          </a:p>
          <a:p>
            <a:pPr eaLnBrk="1" hangingPunct="1">
              <a:buFont typeface="Wingdings" panose="05000000000000000000" pitchFamily="2" charset="2"/>
              <a:buNone/>
            </a:pPr>
            <a:endParaRPr lang="en-GB" altLang="en-US" smtClean="0"/>
          </a:p>
        </p:txBody>
      </p:sp>
      <p:sp>
        <p:nvSpPr>
          <p:cNvPr id="40962" name="Date Placeholder 3"/>
          <p:cNvSpPr>
            <a:spLocks noGrp="1"/>
          </p:cNvSpPr>
          <p:nvPr>
            <p:ph type="dt" sz="half" idx="10"/>
          </p:nvPr>
        </p:nvSpPr>
        <p:spPr>
          <a:xfrm>
            <a:off x="8459788" y="6042025"/>
            <a:ext cx="684212"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US" altLang="en-US" sz="1000" b="0">
                <a:solidFill>
                  <a:schemeClr val="tx1"/>
                </a:solidFill>
              </a:rPr>
              <a:t>30-04-2008</a:t>
            </a:r>
          </a:p>
        </p:txBody>
      </p:sp>
    </p:spTree>
    <p:extLst>
      <p:ext uri="{BB962C8B-B14F-4D97-AF65-F5344CB8AC3E}">
        <p14:creationId xmlns:p14="http://schemas.microsoft.com/office/powerpoint/2010/main" val="19538104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1868488" y="331787"/>
            <a:ext cx="6446837" cy="1081088"/>
          </a:xfrm>
        </p:spPr>
        <p:txBody>
          <a:bodyPr>
            <a:normAutofit/>
          </a:bodyPr>
          <a:lstStyle/>
          <a:p>
            <a:pPr eaLnBrk="1" hangingPunct="1">
              <a:defRPr/>
            </a:pPr>
            <a:r>
              <a:rPr lang="en-GB" altLang="en-US" dirty="0" smtClean="0"/>
              <a:t>What is good quality software?</a:t>
            </a:r>
          </a:p>
        </p:txBody>
      </p:sp>
      <p:sp>
        <p:nvSpPr>
          <p:cNvPr id="71684" name="Rectangle 3"/>
          <p:cNvSpPr>
            <a:spLocks noGrp="1" noChangeArrowheads="1"/>
          </p:cNvSpPr>
          <p:nvPr>
            <p:ph idx="1"/>
          </p:nvPr>
        </p:nvSpPr>
        <p:spPr>
          <a:xfrm>
            <a:off x="977106" y="2024062"/>
            <a:ext cx="8229600" cy="4525963"/>
          </a:xfrm>
        </p:spPr>
        <p:txBody>
          <a:bodyPr/>
          <a:lstStyle/>
          <a:p>
            <a:pPr eaLnBrk="1" hangingPunct="1"/>
            <a:r>
              <a:rPr lang="en-GB" altLang="en-US" sz="2800" b="1" dirty="0" smtClean="0"/>
              <a:t>Key to developing good quality software is the process</a:t>
            </a:r>
          </a:p>
          <a:p>
            <a:pPr lvl="1" eaLnBrk="1" hangingPunct="1"/>
            <a:r>
              <a:rPr lang="en-GB" altLang="en-US" sz="2400" dirty="0" smtClean="0"/>
              <a:t>Methods and Tools are then complimentary to that</a:t>
            </a:r>
          </a:p>
          <a:p>
            <a:pPr eaLnBrk="1" hangingPunct="1"/>
            <a:r>
              <a:rPr lang="en-GB" altLang="en-US" sz="2800" b="1" dirty="0" smtClean="0"/>
              <a:t>How can we measure good quality software</a:t>
            </a:r>
          </a:p>
          <a:p>
            <a:pPr lvl="1" eaLnBrk="1" hangingPunct="1"/>
            <a:r>
              <a:rPr lang="en-GB" altLang="en-US" sz="2400" dirty="0" smtClean="0"/>
              <a:t>Maintainable</a:t>
            </a:r>
          </a:p>
          <a:p>
            <a:pPr lvl="1" eaLnBrk="1" hangingPunct="1"/>
            <a:r>
              <a:rPr lang="en-GB" altLang="en-US" sz="2400" dirty="0" smtClean="0"/>
              <a:t>Reliable</a:t>
            </a:r>
          </a:p>
          <a:p>
            <a:pPr lvl="1" eaLnBrk="1" hangingPunct="1"/>
            <a:r>
              <a:rPr lang="en-GB" altLang="en-US" sz="2400" dirty="0" smtClean="0"/>
              <a:t>Efficient</a:t>
            </a:r>
          </a:p>
          <a:p>
            <a:pPr lvl="1" eaLnBrk="1" hangingPunct="1"/>
            <a:r>
              <a:rPr lang="en-GB" altLang="en-US" sz="2400" dirty="0" smtClean="0"/>
              <a:t>Offers an appropriate user interface</a:t>
            </a:r>
          </a:p>
        </p:txBody>
      </p:sp>
      <p:sp>
        <p:nvSpPr>
          <p:cNvPr id="71682" name="Slide Number Placeholder 5"/>
          <p:cNvSpPr>
            <a:spLocks noGrp="1"/>
          </p:cNvSpPr>
          <p:nvPr>
            <p:ph type="sldNum" sz="quarter" idx="12"/>
          </p:nvPr>
        </p:nvSpPr>
        <p:spPr bwMode="auto">
          <a:xfrm>
            <a:off x="8639175" y="6165850"/>
            <a:ext cx="50482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C4A63358-126C-4492-8695-C930C51C217F}"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35</a:t>
            </a:fld>
            <a:endParaRPr lang="en-US" altLang="en-US" sz="1400">
              <a:solidFill>
                <a:srgbClr val="000000"/>
              </a:solidFill>
              <a:latin typeface="Arial" panose="020B060402020202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algn="ctr" eaLnBrk="1" hangingPunct="1"/>
            <a:r>
              <a:rPr lang="en-GB" altLang="en-US" smtClean="0"/>
              <a:t>Agile Value</a:t>
            </a:r>
          </a:p>
        </p:txBody>
      </p:sp>
      <p:sp>
        <p:nvSpPr>
          <p:cNvPr id="61443" name="Rectangle 3"/>
          <p:cNvSpPr>
            <a:spLocks noGrp="1" noChangeArrowheads="1"/>
          </p:cNvSpPr>
          <p:nvPr>
            <p:ph idx="1"/>
          </p:nvPr>
        </p:nvSpPr>
        <p:spPr/>
        <p:txBody>
          <a:bodyPr/>
          <a:lstStyle/>
          <a:p>
            <a:pPr eaLnBrk="1" hangingPunct="1"/>
            <a:r>
              <a:rPr lang="en-GB" altLang="en-US" smtClean="0">
                <a:solidFill>
                  <a:schemeClr val="tx2"/>
                </a:solidFill>
              </a:rPr>
              <a:t>Individuals and interaction</a:t>
            </a:r>
            <a:r>
              <a:rPr lang="en-GB" altLang="en-US" smtClean="0"/>
              <a:t> over process and tools</a:t>
            </a:r>
          </a:p>
          <a:p>
            <a:pPr eaLnBrk="1" hangingPunct="1"/>
            <a:r>
              <a:rPr lang="en-GB" altLang="en-US" smtClean="0">
                <a:solidFill>
                  <a:schemeClr val="tx2"/>
                </a:solidFill>
              </a:rPr>
              <a:t>Customer collaboration</a:t>
            </a:r>
            <a:r>
              <a:rPr lang="en-GB" altLang="en-US" smtClean="0"/>
              <a:t> over contract negotiation</a:t>
            </a:r>
          </a:p>
          <a:p>
            <a:pPr eaLnBrk="1" hangingPunct="1"/>
            <a:r>
              <a:rPr lang="en-GB" altLang="en-US" smtClean="0">
                <a:solidFill>
                  <a:schemeClr val="tx2"/>
                </a:solidFill>
              </a:rPr>
              <a:t>Responding to change</a:t>
            </a:r>
            <a:r>
              <a:rPr lang="en-GB" altLang="en-US" smtClean="0"/>
              <a:t> over following a plan</a:t>
            </a:r>
          </a:p>
          <a:p>
            <a:pPr algn="ctr" eaLnBrk="1" hangingPunct="1">
              <a:buFont typeface="Wingdings" panose="05000000000000000000" pitchFamily="2" charset="2"/>
              <a:buNone/>
            </a:pPr>
            <a:r>
              <a:rPr lang="en-GB" altLang="en-US" smtClean="0">
                <a:solidFill>
                  <a:srgbClr val="CC0099"/>
                </a:solidFill>
              </a:rPr>
              <a:t>Simple but hard work!!</a:t>
            </a:r>
          </a:p>
        </p:txBody>
      </p:sp>
      <p:pic>
        <p:nvPicPr>
          <p:cNvPr id="61445" name="Picture 5" descr="MCj01962980000[1]"/>
          <p:cNvPicPr>
            <a:picLocks noChangeAspect="1" noChangeArrowheads="1"/>
          </p:cNvPicPr>
          <p:nvPr/>
        </p:nvPicPr>
        <p:blipFill>
          <a:blip r:embed="rId3" cstate="print">
            <a:lum bright="36000"/>
            <a:extLst>
              <a:ext uri="{28A0092B-C50C-407E-A947-70E740481C1C}">
                <a14:useLocalDpi xmlns:a14="http://schemas.microsoft.com/office/drawing/2010/main" val="0"/>
              </a:ext>
            </a:extLst>
          </a:blip>
          <a:srcRect/>
          <a:stretch>
            <a:fillRect/>
          </a:stretch>
        </p:blipFill>
        <p:spPr bwMode="auto">
          <a:xfrm>
            <a:off x="6869024" y="4792663"/>
            <a:ext cx="2016125"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180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443">
                                            <p:txEl>
                                              <p:pRg st="3" end="3"/>
                                            </p:txEl>
                                          </p:spTgt>
                                        </p:tgtEl>
                                        <p:attrNameLst>
                                          <p:attrName>style.visibility</p:attrName>
                                        </p:attrNameLst>
                                      </p:cBhvr>
                                      <p:to>
                                        <p:strVal val="visible"/>
                                      </p:to>
                                    </p:set>
                                    <p:anim calcmode="lin" valueType="num">
                                      <p:cBhvr additive="base">
                                        <p:cTn id="7" dur="500" fill="hold"/>
                                        <p:tgtEl>
                                          <p:spTgt spid="6144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1445"/>
                                        </p:tgtEl>
                                        <p:attrNameLst>
                                          <p:attrName>style.visibility</p:attrName>
                                        </p:attrNameLst>
                                      </p:cBhvr>
                                      <p:to>
                                        <p:strVal val="visible"/>
                                      </p:to>
                                    </p:set>
                                    <p:anim calcmode="lin" valueType="num">
                                      <p:cBhvr additive="base">
                                        <p:cTn id="13" dur="500" fill="hold"/>
                                        <p:tgtEl>
                                          <p:spTgt spid="61445"/>
                                        </p:tgtEl>
                                        <p:attrNameLst>
                                          <p:attrName>ppt_x</p:attrName>
                                        </p:attrNameLst>
                                      </p:cBhvr>
                                      <p:tavLst>
                                        <p:tav tm="0">
                                          <p:val>
                                            <p:strVal val="#ppt_x"/>
                                          </p:val>
                                        </p:tav>
                                        <p:tav tm="100000">
                                          <p:val>
                                            <p:strVal val="#ppt_x"/>
                                          </p:val>
                                        </p:tav>
                                      </p:tavLst>
                                    </p:anim>
                                    <p:anim calcmode="lin" valueType="num">
                                      <p:cBhvr additive="base">
                                        <p:cTn id="14" dur="500" fill="hold"/>
                                        <p:tgtEl>
                                          <p:spTgt spid="614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algn="ctr" eaLnBrk="1" hangingPunct="1"/>
            <a:r>
              <a:rPr lang="en-GB" altLang="en-US" b="0" smtClean="0">
                <a:latin typeface="Comic Sans MS" panose="030F0702030302020204" pitchFamily="66" charset="0"/>
              </a:rPr>
              <a:t>Agile method</a:t>
            </a:r>
          </a:p>
        </p:txBody>
      </p:sp>
      <p:sp>
        <p:nvSpPr>
          <p:cNvPr id="41988" name="Rectangle 3"/>
          <p:cNvSpPr>
            <a:spLocks noGrp="1" noChangeArrowheads="1"/>
          </p:cNvSpPr>
          <p:nvPr>
            <p:ph idx="1"/>
          </p:nvPr>
        </p:nvSpPr>
        <p:spPr>
          <a:xfrm>
            <a:off x="856060" y="2097088"/>
            <a:ext cx="6446838" cy="3881437"/>
          </a:xfrm>
        </p:spPr>
        <p:txBody>
          <a:bodyPr>
            <a:normAutofit fontScale="77500" lnSpcReduction="20000"/>
          </a:bodyPr>
          <a:lstStyle/>
          <a:p>
            <a:pPr eaLnBrk="1" hangingPunct="1">
              <a:buFont typeface="Wingdings" panose="05000000000000000000" pitchFamily="2" charset="2"/>
              <a:buNone/>
            </a:pPr>
            <a:r>
              <a:rPr lang="en-GB" altLang="en-US" dirty="0" smtClean="0">
                <a:solidFill>
                  <a:schemeClr val="tx2"/>
                </a:solidFill>
              </a:rPr>
              <a:t>The successful factors are</a:t>
            </a:r>
          </a:p>
          <a:p>
            <a:pPr eaLnBrk="1" hangingPunct="1"/>
            <a:r>
              <a:rPr lang="en-GB" altLang="en-US" sz="2600" dirty="0" smtClean="0">
                <a:latin typeface="Lucida Sans Unicode" panose="020B0602030504020204" pitchFamily="34" charset="0"/>
              </a:rPr>
              <a:t>Prefer a project started with a small group. </a:t>
            </a:r>
          </a:p>
          <a:p>
            <a:pPr eaLnBrk="1" hangingPunct="1"/>
            <a:r>
              <a:rPr lang="en-GB" altLang="en-US" sz="2600" dirty="0" smtClean="0">
                <a:latin typeface="Lucida Sans Unicode" panose="020B0602030504020204" pitchFamily="34" charset="0"/>
              </a:rPr>
              <a:t> Co-location </a:t>
            </a:r>
          </a:p>
          <a:p>
            <a:pPr eaLnBrk="1" hangingPunct="1"/>
            <a:r>
              <a:rPr lang="en-GB" altLang="en-US" sz="2600" dirty="0" smtClean="0">
                <a:latin typeface="Lucida Sans Unicode" panose="020B0602030504020204" pitchFamily="34" charset="0"/>
              </a:rPr>
              <a:t>Customer onsite </a:t>
            </a:r>
          </a:p>
          <a:p>
            <a:pPr eaLnBrk="1" hangingPunct="1"/>
            <a:r>
              <a:rPr lang="en-GB" altLang="en-US" sz="2600" dirty="0" smtClean="0">
                <a:latin typeface="Lucida Sans Unicode" panose="020B0602030504020204" pitchFamily="34" charset="0"/>
              </a:rPr>
              <a:t>Business application </a:t>
            </a:r>
          </a:p>
          <a:p>
            <a:pPr eaLnBrk="1" hangingPunct="1"/>
            <a:r>
              <a:rPr lang="en-GB" altLang="en-US" sz="2600" dirty="0" smtClean="0">
                <a:latin typeface="Lucida Sans Unicode" panose="020B0602030504020204" pitchFamily="34" charset="0"/>
              </a:rPr>
              <a:t>Rapid application development (RAD) programming environment </a:t>
            </a:r>
          </a:p>
          <a:p>
            <a:pPr eaLnBrk="1" hangingPunct="1"/>
            <a:r>
              <a:rPr lang="en-GB" altLang="en-US" sz="2600" dirty="0" smtClean="0">
                <a:latin typeface="Lucida Sans Unicode" panose="020B0602030504020204" pitchFamily="34" charset="0"/>
              </a:rPr>
              <a:t>Short lifecycle </a:t>
            </a:r>
          </a:p>
          <a:p>
            <a:pPr eaLnBrk="1" hangingPunct="1"/>
            <a:r>
              <a:rPr lang="en-GB" altLang="en-US" sz="2600" dirty="0" smtClean="0">
                <a:latin typeface="Lucida Sans Unicode" panose="020B0602030504020204" pitchFamily="34" charset="0"/>
              </a:rPr>
              <a:t>Common culture </a:t>
            </a:r>
          </a:p>
        </p:txBody>
      </p:sp>
    </p:spTree>
    <p:extLst>
      <p:ext uri="{BB962C8B-B14F-4D97-AF65-F5344CB8AC3E}">
        <p14:creationId xmlns:p14="http://schemas.microsoft.com/office/powerpoint/2010/main" val="281790873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algn="ctr" eaLnBrk="1" hangingPunct="1"/>
            <a:r>
              <a:rPr lang="en-GB" altLang="en-US" smtClean="0"/>
              <a:t>Scrum</a:t>
            </a:r>
            <a:endParaRPr lang="en-US" altLang="en-US" smtClean="0"/>
          </a:p>
        </p:txBody>
      </p:sp>
      <p:sp>
        <p:nvSpPr>
          <p:cNvPr id="34820" name="Rectangle 3"/>
          <p:cNvSpPr>
            <a:spLocks noGrp="1" noChangeArrowheads="1"/>
          </p:cNvSpPr>
          <p:nvPr>
            <p:ph idx="1"/>
          </p:nvPr>
        </p:nvSpPr>
        <p:spPr/>
        <p:txBody>
          <a:bodyPr/>
          <a:lstStyle/>
          <a:p>
            <a:pPr eaLnBrk="1" hangingPunct="1">
              <a:buFont typeface="Wingdings" panose="05000000000000000000" pitchFamily="2" charset="2"/>
              <a:buNone/>
            </a:pPr>
            <a:r>
              <a:rPr lang="en-GB" altLang="en-US" smtClean="0"/>
              <a:t>Scrum (Schwaber and Sutherland, 1995; 2002)</a:t>
            </a:r>
          </a:p>
          <a:p>
            <a:pPr eaLnBrk="1" hangingPunct="1">
              <a:buFont typeface="Wingdings" panose="05000000000000000000" pitchFamily="2" charset="2"/>
              <a:buNone/>
            </a:pPr>
            <a:r>
              <a:rPr lang="en-GB" altLang="en-US" smtClean="0"/>
              <a:t>A common focus on </a:t>
            </a:r>
          </a:p>
          <a:p>
            <a:pPr eaLnBrk="1" hangingPunct="1"/>
            <a:r>
              <a:rPr lang="en-US" altLang="en-US" smtClean="0"/>
              <a:t>Working software</a:t>
            </a:r>
          </a:p>
          <a:p>
            <a:pPr eaLnBrk="1" hangingPunct="1"/>
            <a:r>
              <a:rPr lang="en-US" altLang="en-US" smtClean="0"/>
              <a:t>Team interactions</a:t>
            </a:r>
          </a:p>
          <a:p>
            <a:pPr eaLnBrk="1" hangingPunct="1"/>
            <a:r>
              <a:rPr lang="en-US" altLang="en-US" smtClean="0"/>
              <a:t>Customer collaboration</a:t>
            </a:r>
          </a:p>
          <a:p>
            <a:pPr eaLnBrk="1" hangingPunct="1"/>
            <a:r>
              <a:rPr lang="en-US" altLang="en-US" smtClean="0"/>
              <a:t>Adapting to change</a:t>
            </a:r>
          </a:p>
        </p:txBody>
      </p:sp>
      <p:sp>
        <p:nvSpPr>
          <p:cNvPr id="34818" name="Date Placeholder 3"/>
          <p:cNvSpPr>
            <a:spLocks noGrp="1"/>
          </p:cNvSpPr>
          <p:nvPr>
            <p:ph type="dt" sz="half" idx="10"/>
          </p:nvPr>
        </p:nvSpPr>
        <p:spPr>
          <a:xfrm>
            <a:off x="8459788" y="6042025"/>
            <a:ext cx="684212"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US" altLang="en-US" sz="1000" b="0">
                <a:solidFill>
                  <a:schemeClr val="tx1"/>
                </a:solidFill>
              </a:rPr>
              <a:t>30-04-2008</a:t>
            </a:r>
          </a:p>
        </p:txBody>
      </p:sp>
    </p:spTree>
    <p:extLst>
      <p:ext uri="{BB962C8B-B14F-4D97-AF65-F5344CB8AC3E}">
        <p14:creationId xmlns:p14="http://schemas.microsoft.com/office/powerpoint/2010/main" val="14223630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3" name="Picture 5" descr="_42915019_carnegie_challenge_cup_203"/>
          <p:cNvPicPr>
            <a:picLocks noGrp="1" noChangeAspect="1" noChangeArrowheads="1"/>
          </p:cNvPicPr>
          <p:nvPr>
            <p:ph/>
          </p:nvPr>
        </p:nvPicPr>
        <p:blipFill>
          <a:blip r:embed="rId3">
            <a:lum bright="40000"/>
            <a:extLst>
              <a:ext uri="{28A0092B-C50C-407E-A947-70E740481C1C}">
                <a14:useLocalDpi xmlns:a14="http://schemas.microsoft.com/office/drawing/2010/main" val="0"/>
              </a:ext>
            </a:extLst>
          </a:blip>
          <a:srcRect/>
          <a:stretch>
            <a:fillRect/>
          </a:stretch>
        </p:blipFill>
        <p:spPr>
          <a:xfrm>
            <a:off x="-252413" y="0"/>
            <a:ext cx="9144001" cy="6858000"/>
          </a:xfrm>
          <a:noFill/>
        </p:spPr>
      </p:pic>
      <p:sp>
        <p:nvSpPr>
          <p:cNvPr id="33794" name="Date Placeholder 2"/>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bg2"/>
                </a:solidFill>
                <a:latin typeface="Arial" panose="020B0604020202020204" pitchFamily="34" charset="0"/>
              </a:defRPr>
            </a:lvl1pPr>
            <a:lvl2pPr marL="742950" indent="-285750" eaLnBrk="0" hangingPunct="0">
              <a:defRPr sz="3200" b="1">
                <a:solidFill>
                  <a:schemeClr val="bg2"/>
                </a:solidFill>
                <a:latin typeface="Arial" panose="020B0604020202020204" pitchFamily="34" charset="0"/>
              </a:defRPr>
            </a:lvl2pPr>
            <a:lvl3pPr marL="1143000" indent="-228600" eaLnBrk="0" hangingPunct="0">
              <a:defRPr sz="3200" b="1">
                <a:solidFill>
                  <a:schemeClr val="bg2"/>
                </a:solidFill>
                <a:latin typeface="Arial" panose="020B0604020202020204" pitchFamily="34" charset="0"/>
              </a:defRPr>
            </a:lvl3pPr>
            <a:lvl4pPr marL="1600200" indent="-228600" eaLnBrk="0" hangingPunct="0">
              <a:defRPr sz="3200" b="1">
                <a:solidFill>
                  <a:schemeClr val="bg2"/>
                </a:solidFill>
                <a:latin typeface="Arial" panose="020B0604020202020204" pitchFamily="34" charset="0"/>
              </a:defRPr>
            </a:lvl4pPr>
            <a:lvl5pPr marL="2057400" indent="-228600" eaLnBrk="0" hangingPunct="0">
              <a:defRPr sz="3200" b="1">
                <a:solidFill>
                  <a:schemeClr val="bg2"/>
                </a:solidFill>
                <a:latin typeface="Arial" panose="020B0604020202020204" pitchFamily="34" charset="0"/>
              </a:defRPr>
            </a:lvl5pPr>
            <a:lvl6pPr marL="2514600" indent="-228600" eaLnBrk="0" fontAlgn="base" hangingPunct="0">
              <a:spcBef>
                <a:spcPct val="0"/>
              </a:spcBef>
              <a:spcAft>
                <a:spcPct val="0"/>
              </a:spcAft>
              <a:defRPr sz="3200" b="1">
                <a:solidFill>
                  <a:schemeClr val="bg2"/>
                </a:solidFill>
                <a:latin typeface="Arial" panose="020B0604020202020204" pitchFamily="34" charset="0"/>
              </a:defRPr>
            </a:lvl6pPr>
            <a:lvl7pPr marL="2971800" indent="-228600" eaLnBrk="0" fontAlgn="base" hangingPunct="0">
              <a:spcBef>
                <a:spcPct val="0"/>
              </a:spcBef>
              <a:spcAft>
                <a:spcPct val="0"/>
              </a:spcAft>
              <a:defRPr sz="3200" b="1">
                <a:solidFill>
                  <a:schemeClr val="bg2"/>
                </a:solidFill>
                <a:latin typeface="Arial" panose="020B0604020202020204" pitchFamily="34" charset="0"/>
              </a:defRPr>
            </a:lvl7pPr>
            <a:lvl8pPr marL="3429000" indent="-228600" eaLnBrk="0" fontAlgn="base" hangingPunct="0">
              <a:spcBef>
                <a:spcPct val="0"/>
              </a:spcBef>
              <a:spcAft>
                <a:spcPct val="0"/>
              </a:spcAft>
              <a:defRPr sz="3200" b="1">
                <a:solidFill>
                  <a:schemeClr val="bg2"/>
                </a:solidFill>
                <a:latin typeface="Arial" panose="020B0604020202020204" pitchFamily="34" charset="0"/>
              </a:defRPr>
            </a:lvl8pPr>
            <a:lvl9pPr marL="3886200" indent="-228600" eaLnBrk="0" fontAlgn="base" hangingPunct="0">
              <a:spcBef>
                <a:spcPct val="0"/>
              </a:spcBef>
              <a:spcAft>
                <a:spcPct val="0"/>
              </a:spcAft>
              <a:defRPr sz="3200" b="1">
                <a:solidFill>
                  <a:schemeClr val="bg2"/>
                </a:solidFill>
                <a:latin typeface="Arial" panose="020B0604020202020204" pitchFamily="34" charset="0"/>
              </a:defRPr>
            </a:lvl9pPr>
          </a:lstStyle>
          <a:p>
            <a:pPr eaLnBrk="1" hangingPunct="1"/>
            <a:r>
              <a:rPr lang="en-US" altLang="en-US" sz="1000" b="0">
                <a:solidFill>
                  <a:schemeClr val="tx1"/>
                </a:solidFill>
              </a:rPr>
              <a:t>30-04-2008</a:t>
            </a:r>
          </a:p>
        </p:txBody>
      </p:sp>
      <p:pic>
        <p:nvPicPr>
          <p:cNvPr id="104454" name="Picture 6" descr="MCj04125300000[1]"/>
          <p:cNvPicPr>
            <a:picLocks noChangeAspect="1" noChangeArrowheads="1"/>
          </p:cNvPicPr>
          <p:nvPr/>
        </p:nvPicPr>
        <p:blipFill>
          <a:blip r:embed="rId4" cstate="print">
            <a:lum bright="14000" contrast="16000"/>
            <a:extLst>
              <a:ext uri="{28A0092B-C50C-407E-A947-70E740481C1C}">
                <a14:useLocalDpi xmlns:a14="http://schemas.microsoft.com/office/drawing/2010/main" val="0"/>
              </a:ext>
            </a:extLst>
          </a:blip>
          <a:srcRect/>
          <a:stretch>
            <a:fillRect/>
          </a:stretch>
        </p:blipFill>
        <p:spPr bwMode="auto">
          <a:xfrm>
            <a:off x="0" y="0"/>
            <a:ext cx="3384550" cy="192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WordArt 7"/>
          <p:cNvSpPr>
            <a:spLocks noChangeArrowheads="1" noChangeShapeType="1" noTextEdit="1"/>
          </p:cNvSpPr>
          <p:nvPr/>
        </p:nvSpPr>
        <p:spPr bwMode="auto">
          <a:xfrm rot="5400000">
            <a:off x="-1120775" y="3036888"/>
            <a:ext cx="4941887" cy="2700338"/>
          </a:xfrm>
          <a:prstGeom prst="rect">
            <a:avLst/>
          </a:prstGeom>
        </p:spPr>
        <p:txBody>
          <a:bodyPr vert="wordArtVert" wrap="none" fromWordArt="1">
            <a:prstTxWarp prst="textPlain">
              <a:avLst>
                <a:gd name="adj" fmla="val 50000"/>
              </a:avLst>
            </a:prstTxWarp>
          </a:bodyPr>
          <a:lstStyle/>
          <a:p>
            <a:pPr algn="ctr" fontAlgn="auto"/>
            <a:r>
              <a:rPr lang="en-GB" sz="4400" kern="10">
                <a:ln w="12700">
                  <a:solidFill>
                    <a:srgbClr val="C4B596"/>
                  </a:solidFill>
                  <a:round/>
                  <a:headEnd/>
                  <a:tailEnd/>
                </a:ln>
                <a:solidFill>
                  <a:srgbClr val="000080"/>
                </a:solidFill>
                <a:effectLst>
                  <a:outerShdw dist="53882" dir="2700000" algn="ctr" rotWithShape="0">
                    <a:srgbClr val="CBCBCB">
                      <a:alpha val="79999"/>
                    </a:srgbClr>
                  </a:outerShdw>
                </a:effectLst>
                <a:latin typeface="Lucida Console" panose="020B0609040504020204" pitchFamily="49" charset="0"/>
              </a:rPr>
              <a:t>Rugby</a:t>
            </a:r>
          </a:p>
        </p:txBody>
      </p:sp>
    </p:spTree>
    <p:extLst>
      <p:ext uri="{BB962C8B-B14F-4D97-AF65-F5344CB8AC3E}">
        <p14:creationId xmlns:p14="http://schemas.microsoft.com/office/powerpoint/2010/main" val="15244250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104453"/>
                                        </p:tgtEl>
                                        <p:attrNameLst>
                                          <p:attrName>style.visibility</p:attrName>
                                        </p:attrNameLst>
                                      </p:cBhvr>
                                      <p:to>
                                        <p:strVal val="visible"/>
                                      </p:to>
                                    </p:set>
                                    <p:animEffect transition="in" filter="blinds(horizontal)">
                                      <p:cBhvr>
                                        <p:cTn id="7" dur="500"/>
                                        <p:tgtEl>
                                          <p:spTgt spid="104453"/>
                                        </p:tgtEl>
                                      </p:cBhvr>
                                    </p:animEffect>
                                  </p:childTnLst>
                                </p:cTn>
                              </p:par>
                              <p:par>
                                <p:cTn id="8" presetID="39" presetClass="entr" presetSubtype="0" accel="100000" fill="hold" nodeType="withEffect">
                                  <p:stCondLst>
                                    <p:cond delay="0"/>
                                  </p:stCondLst>
                                  <p:childTnLst>
                                    <p:set>
                                      <p:cBhvr>
                                        <p:cTn id="9" dur="1" fill="hold">
                                          <p:stCondLst>
                                            <p:cond delay="0"/>
                                          </p:stCondLst>
                                        </p:cTn>
                                        <p:tgtEl>
                                          <p:spTgt spid="104454"/>
                                        </p:tgtEl>
                                        <p:attrNameLst>
                                          <p:attrName>style.visibility</p:attrName>
                                        </p:attrNameLst>
                                      </p:cBhvr>
                                      <p:to>
                                        <p:strVal val="visible"/>
                                      </p:to>
                                    </p:set>
                                    <p:anim calcmode="lin" valueType="num">
                                      <p:cBhvr>
                                        <p:cTn id="10" dur="500" fill="hold"/>
                                        <p:tgtEl>
                                          <p:spTgt spid="104454"/>
                                        </p:tgtEl>
                                        <p:attrNameLst>
                                          <p:attrName>ppt_h</p:attrName>
                                        </p:attrNameLst>
                                      </p:cBhvr>
                                      <p:tavLst>
                                        <p:tav tm="0">
                                          <p:val>
                                            <p:strVal val="#ppt_h/20"/>
                                          </p:val>
                                        </p:tav>
                                        <p:tav tm="50000">
                                          <p:val>
                                            <p:strVal val="#ppt_h/20"/>
                                          </p:val>
                                        </p:tav>
                                        <p:tav tm="100000">
                                          <p:val>
                                            <p:strVal val="#ppt_h"/>
                                          </p:val>
                                        </p:tav>
                                      </p:tavLst>
                                    </p:anim>
                                    <p:anim calcmode="lin" valueType="num">
                                      <p:cBhvr>
                                        <p:cTn id="11" dur="500" fill="hold"/>
                                        <p:tgtEl>
                                          <p:spTgt spid="104454"/>
                                        </p:tgtEl>
                                        <p:attrNameLst>
                                          <p:attrName>ppt_w</p:attrName>
                                        </p:attrNameLst>
                                      </p:cBhvr>
                                      <p:tavLst>
                                        <p:tav tm="0">
                                          <p:val>
                                            <p:strVal val="#ppt_w+.3"/>
                                          </p:val>
                                        </p:tav>
                                        <p:tav tm="50000">
                                          <p:val>
                                            <p:strVal val="#ppt_w+.3"/>
                                          </p:val>
                                        </p:tav>
                                        <p:tav tm="100000">
                                          <p:val>
                                            <p:strVal val="#ppt_w"/>
                                          </p:val>
                                        </p:tav>
                                      </p:tavLst>
                                    </p:anim>
                                    <p:anim calcmode="lin" valueType="num">
                                      <p:cBhvr>
                                        <p:cTn id="12" dur="500" fill="hold"/>
                                        <p:tgtEl>
                                          <p:spTgt spid="104454"/>
                                        </p:tgtEl>
                                        <p:attrNameLst>
                                          <p:attrName>ppt_x</p:attrName>
                                        </p:attrNameLst>
                                      </p:cBhvr>
                                      <p:tavLst>
                                        <p:tav tm="0">
                                          <p:val>
                                            <p:strVal val="#ppt_x-.3"/>
                                          </p:val>
                                        </p:tav>
                                        <p:tav tm="50000">
                                          <p:val>
                                            <p:strVal val="#ppt_x"/>
                                          </p:val>
                                        </p:tav>
                                        <p:tav tm="100000">
                                          <p:val>
                                            <p:strVal val="#ppt_x"/>
                                          </p:val>
                                        </p:tav>
                                      </p:tavLst>
                                    </p:anim>
                                    <p:anim calcmode="lin" valueType="num">
                                      <p:cBhvr>
                                        <p:cTn id="13" dur="500" fill="hold"/>
                                        <p:tgtEl>
                                          <p:spTgt spid="104454"/>
                                        </p:tgtEl>
                                        <p:attrNameLst>
                                          <p:attrName>ppt_y</p:attrName>
                                        </p:attrNameLst>
                                      </p:cBhvr>
                                      <p:tavLst>
                                        <p:tav tm="0">
                                          <p:val>
                                            <p:strVal val="#ppt_y"/>
                                          </p:val>
                                        </p:tav>
                                        <p:tav tm="100000">
                                          <p:val>
                                            <p:strVal val="#ppt_y"/>
                                          </p:val>
                                        </p:tav>
                                      </p:tavLst>
                                    </p:anim>
                                  </p:childTnLst>
                                </p:cTn>
                              </p:par>
                              <p:par>
                                <p:cTn id="14" presetID="34" presetClass="entr" presetSubtype="0" fill="hold" nodeType="withEffect">
                                  <p:stCondLst>
                                    <p:cond delay="0"/>
                                  </p:stCondLst>
                                  <p:childTnLst>
                                    <p:set>
                                      <p:cBhvr>
                                        <p:cTn id="15" dur="1" fill="hold">
                                          <p:stCondLst>
                                            <p:cond delay="0"/>
                                          </p:stCondLst>
                                        </p:cTn>
                                        <p:tgtEl>
                                          <p:spTgt spid="104454"/>
                                        </p:tgtEl>
                                        <p:attrNameLst>
                                          <p:attrName>style.visibility</p:attrName>
                                        </p:attrNameLst>
                                      </p:cBhvr>
                                      <p:to>
                                        <p:strVal val="visible"/>
                                      </p:to>
                                    </p:set>
                                    <p:anim from="(-#ppt_w/2)" to="(#ppt_x)" calcmode="lin" valueType="num">
                                      <p:cBhvr>
                                        <p:cTn id="16" dur="600" fill="hold">
                                          <p:stCondLst>
                                            <p:cond delay="0"/>
                                          </p:stCondLst>
                                        </p:cTn>
                                        <p:tgtEl>
                                          <p:spTgt spid="104454"/>
                                        </p:tgtEl>
                                        <p:attrNameLst>
                                          <p:attrName>ppt_x</p:attrName>
                                        </p:attrNameLst>
                                      </p:cBhvr>
                                    </p:anim>
                                    <p:anim from="0" to="-1.0" calcmode="lin" valueType="num">
                                      <p:cBhvr>
                                        <p:cTn id="17" dur="200" decel="50000" autoRev="1" fill="hold">
                                          <p:stCondLst>
                                            <p:cond delay="600"/>
                                          </p:stCondLst>
                                        </p:cTn>
                                        <p:tgtEl>
                                          <p:spTgt spid="104454"/>
                                        </p:tgtEl>
                                        <p:attrNameLst>
                                          <p:attrName>xshear</p:attrName>
                                        </p:attrNameLst>
                                      </p:cBhvr>
                                    </p:anim>
                                    <p:animScale>
                                      <p:cBhvr>
                                        <p:cTn id="18" dur="200" decel="100000" autoRev="1" fill="hold">
                                          <p:stCondLst>
                                            <p:cond delay="600"/>
                                          </p:stCondLst>
                                        </p:cTn>
                                        <p:tgtEl>
                                          <p:spTgt spid="104454"/>
                                        </p:tgtEl>
                                      </p:cBhvr>
                                      <p:from x="100000" y="100000"/>
                                      <p:to x="80000" y="100000"/>
                                    </p:animScale>
                                    <p:anim by="(#ppt_h/3+#ppt_w*0.1)" calcmode="lin" valueType="num">
                                      <p:cBhvr additive="sum">
                                        <p:cTn id="19" dur="200" decel="100000" autoRev="1" fill="hold">
                                          <p:stCondLst>
                                            <p:cond delay="600"/>
                                          </p:stCondLst>
                                        </p:cTn>
                                        <p:tgtEl>
                                          <p:spTgt spid="104454"/>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2"/>
          <p:cNvSpPr>
            <a:spLocks noGrp="1"/>
          </p:cNvSpPr>
          <p:nvPr>
            <p:ph type="title"/>
          </p:nvPr>
        </p:nvSpPr>
        <p:spPr>
          <a:xfrm>
            <a:off x="1008063" y="33834"/>
            <a:ext cx="7429499" cy="1478570"/>
          </a:xfrm>
        </p:spPr>
        <p:txBody>
          <a:bodyPr/>
          <a:lstStyle/>
          <a:p>
            <a:pPr eaLnBrk="1" hangingPunct="1"/>
            <a:r>
              <a:rPr lang="en-US" altLang="en-US" dirty="0" smtClean="0"/>
              <a:t>Figure 2-3. Scrum Framework</a:t>
            </a:r>
          </a:p>
        </p:txBody>
      </p:sp>
      <p:sp>
        <p:nvSpPr>
          <p:cNvPr id="40964"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70D5BAAE-CF05-4A4A-BC82-3E5585E953D6}" type="slidenum">
              <a:rPr lang="en-US" altLang="en-US">
                <a:solidFill>
                  <a:srgbClr val="898989"/>
                </a:solidFill>
              </a:rPr>
              <a:pPr algn="l" eaLnBrk="1" hangingPunct="1">
                <a:spcBef>
                  <a:spcPct val="0"/>
                </a:spcBef>
                <a:buClrTx/>
                <a:buSzTx/>
                <a:buFontTx/>
                <a:buNone/>
              </a:pPr>
              <a:t>40</a:t>
            </a:fld>
            <a:endParaRPr lang="en-US" altLang="en-US">
              <a:solidFill>
                <a:srgbClr val="898989"/>
              </a:solidFill>
            </a:endParaRPr>
          </a:p>
        </p:txBody>
      </p:sp>
      <p:pic>
        <p:nvPicPr>
          <p:cNvPr id="6861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196" y="1219200"/>
            <a:ext cx="7308850" cy="482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012610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468313" y="0"/>
            <a:ext cx="8229600" cy="549275"/>
          </a:xfrm>
        </p:spPr>
        <p:txBody>
          <a:bodyPr rtlCol="0">
            <a:normAutofit fontScale="90000"/>
          </a:bodyPr>
          <a:lstStyle/>
          <a:p>
            <a:pPr eaLnBrk="1" fontAlgn="auto" hangingPunct="1">
              <a:spcAft>
                <a:spcPts val="0"/>
              </a:spcAft>
              <a:defRPr/>
            </a:pPr>
            <a:r>
              <a:rPr lang="en-US" altLang="en-US" sz="4000" dirty="0" smtClean="0"/>
              <a:t>SCRUM Introduction  Cont.</a:t>
            </a:r>
            <a:endParaRPr lang="en-US" altLang="en-US" sz="1800" dirty="0" smtClean="0"/>
          </a:p>
        </p:txBody>
      </p:sp>
      <p:pic>
        <p:nvPicPr>
          <p:cNvPr id="880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413" y="3419475"/>
            <a:ext cx="25717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Slide Number Placeholder 3"/>
          <p:cNvSpPr txBox="1">
            <a:spLocks/>
          </p:cNvSpPr>
          <p:nvPr/>
        </p:nvSpPr>
        <p:spPr bwMode="auto">
          <a:xfrm>
            <a:off x="8675688" y="6264275"/>
            <a:ext cx="59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8A6E0144-C9A5-4A9E-AF40-CF39277F05C0}" type="slidenum">
              <a:rPr lang="en-US"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41</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88069" name="Date Placeholder 5"/>
          <p:cNvSpPr txBox="1">
            <a:spLocks/>
          </p:cNvSpPr>
          <p:nvPr/>
        </p:nvSpPr>
        <p:spPr bwMode="auto">
          <a:xfrm>
            <a:off x="7272338" y="6492875"/>
            <a:ext cx="1871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0DB88DE-F272-43E9-A5B3-F38A8F2CFE7E}" type="datetime1">
              <a:rPr lang="en-GB"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US" altLang="en-US" sz="1200">
              <a:solidFill>
                <a:srgbClr val="000000"/>
              </a:solidFill>
              <a:latin typeface="Arial" panose="020B0604020202020204" pitchFamily="34" charset="0"/>
              <a:cs typeface="Times New Roman" panose="02020603050405020304" pitchFamily="18" charset="0"/>
            </a:endParaRPr>
          </a:p>
        </p:txBody>
      </p:sp>
      <p:pic>
        <p:nvPicPr>
          <p:cNvPr id="880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75" y="692150"/>
            <a:ext cx="6272213"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1" name="Marcador de Posição do Rodapé 3"/>
          <p:cNvSpPr txBox="1">
            <a:spLocks/>
          </p:cNvSpPr>
          <p:nvPr/>
        </p:nvSpPr>
        <p:spPr bwMode="auto">
          <a:xfrm>
            <a:off x="2555875" y="6461125"/>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403648" y="327026"/>
            <a:ext cx="8229600" cy="777875"/>
          </a:xfrm>
        </p:spPr>
        <p:txBody>
          <a:bodyPr/>
          <a:lstStyle/>
          <a:p>
            <a:pPr eaLnBrk="1" hangingPunct="1"/>
            <a:r>
              <a:rPr lang="en-US" altLang="en-US" sz="4000" dirty="0" smtClean="0"/>
              <a:t>SCRUM Introduction Cont. </a:t>
            </a:r>
          </a:p>
        </p:txBody>
      </p:sp>
      <p:sp>
        <p:nvSpPr>
          <p:cNvPr id="89091" name="Slide Number Placeholder 3"/>
          <p:cNvSpPr txBox="1">
            <a:spLocks/>
          </p:cNvSpPr>
          <p:nvPr/>
        </p:nvSpPr>
        <p:spPr bwMode="auto">
          <a:xfrm>
            <a:off x="8604250" y="623728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A5DCC76-D934-4C29-95B3-ED4F9F6B8266}" type="slidenum">
              <a:rPr lang="en-US"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42</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89092" name="Date Placeholder 5"/>
          <p:cNvSpPr txBox="1">
            <a:spLocks/>
          </p:cNvSpPr>
          <p:nvPr/>
        </p:nvSpPr>
        <p:spPr bwMode="auto">
          <a:xfrm>
            <a:off x="7272338" y="6492875"/>
            <a:ext cx="1871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1214FEF7-61E5-4012-AB15-0CF6808DCA10}" type="datetime1">
              <a:rPr lang="en-GB"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89093" name="Marcador de Posição do Rodapé 3"/>
          <p:cNvSpPr txBox="1">
            <a:spLocks/>
          </p:cNvSpPr>
          <p:nvPr/>
        </p:nvSpPr>
        <p:spPr bwMode="auto">
          <a:xfrm>
            <a:off x="2555875" y="6461125"/>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
        <p:nvSpPr>
          <p:cNvPr id="2" name="TextBox 1"/>
          <p:cNvSpPr txBox="1"/>
          <p:nvPr/>
        </p:nvSpPr>
        <p:spPr>
          <a:xfrm>
            <a:off x="1800225" y="1387302"/>
            <a:ext cx="5903912" cy="3354387"/>
          </a:xfrm>
          <a:prstGeom prst="rect">
            <a:avLst/>
          </a:prstGeom>
          <a:noFill/>
        </p:spPr>
        <p:txBody>
          <a:bodyPr>
            <a:spAutoFit/>
          </a:bodyPr>
          <a:lstStyle/>
          <a:p>
            <a:pPr marL="285750" indent="-285750" fontAlgn="auto">
              <a:spcBef>
                <a:spcPts val="0"/>
              </a:spcBef>
              <a:spcAft>
                <a:spcPts val="0"/>
              </a:spcAft>
              <a:buFont typeface="Wingdings" panose="05000000000000000000" pitchFamily="2" charset="2"/>
              <a:buChar char="q"/>
              <a:defRPr/>
            </a:pPr>
            <a:r>
              <a:rPr lang="en-GB" dirty="0">
                <a:latin typeface="+mn-lt"/>
                <a:cs typeface="+mn-cs"/>
              </a:rPr>
              <a:t>Web application </a:t>
            </a:r>
          </a:p>
          <a:p>
            <a:pPr marL="285750" indent="-285750" fontAlgn="auto">
              <a:spcBef>
                <a:spcPts val="0"/>
              </a:spcBef>
              <a:spcAft>
                <a:spcPts val="0"/>
              </a:spcAft>
              <a:buFont typeface="Wingdings" panose="05000000000000000000" pitchFamily="2" charset="2"/>
              <a:buChar char="q"/>
              <a:defRPr/>
            </a:pPr>
            <a:r>
              <a:rPr lang="en-GB" dirty="0">
                <a:latin typeface="+mn-lt"/>
                <a:cs typeface="+mn-cs"/>
              </a:rPr>
              <a:t>Multi-terabyte database applications</a:t>
            </a:r>
          </a:p>
          <a:p>
            <a:pPr marL="285750" indent="-285750" fontAlgn="auto">
              <a:spcBef>
                <a:spcPts val="0"/>
              </a:spcBef>
              <a:spcAft>
                <a:spcPts val="0"/>
              </a:spcAft>
              <a:buFont typeface="Wingdings" panose="05000000000000000000" pitchFamily="2" charset="2"/>
              <a:buChar char="q"/>
              <a:defRPr/>
            </a:pPr>
            <a:r>
              <a:rPr lang="en-GB" dirty="0">
                <a:latin typeface="+mn-lt"/>
                <a:cs typeface="+mn-cs"/>
              </a:rPr>
              <a:t>Application development environment</a:t>
            </a:r>
          </a:p>
          <a:p>
            <a:pPr marL="285750" indent="-285750" fontAlgn="auto">
              <a:spcBef>
                <a:spcPts val="0"/>
              </a:spcBef>
              <a:spcAft>
                <a:spcPts val="0"/>
              </a:spcAft>
              <a:buFont typeface="Wingdings" panose="05000000000000000000" pitchFamily="2" charset="2"/>
              <a:buChar char="q"/>
              <a:defRPr/>
            </a:pPr>
            <a:r>
              <a:rPr lang="en-GB" dirty="0">
                <a:latin typeface="+mn-lt"/>
                <a:cs typeface="+mn-cs"/>
              </a:rPr>
              <a:t>Call centre systems</a:t>
            </a:r>
          </a:p>
          <a:p>
            <a:pPr marL="285750" indent="-285750" fontAlgn="auto">
              <a:spcBef>
                <a:spcPts val="0"/>
              </a:spcBef>
              <a:spcAft>
                <a:spcPts val="0"/>
              </a:spcAft>
              <a:buFont typeface="Wingdings" panose="05000000000000000000" pitchFamily="2" charset="2"/>
              <a:buChar char="q"/>
              <a:defRPr/>
            </a:pPr>
            <a:r>
              <a:rPr lang="en-GB" dirty="0">
                <a:latin typeface="+mn-lt"/>
                <a:cs typeface="+mn-cs"/>
              </a:rPr>
              <a:t>Biotech</a:t>
            </a:r>
          </a:p>
          <a:p>
            <a:pPr marL="285750" indent="-285750" fontAlgn="auto">
              <a:spcBef>
                <a:spcPts val="0"/>
              </a:spcBef>
              <a:spcAft>
                <a:spcPts val="0"/>
              </a:spcAft>
              <a:buFont typeface="Wingdings" panose="05000000000000000000" pitchFamily="2" charset="2"/>
              <a:buChar char="q"/>
              <a:defRPr/>
            </a:pPr>
            <a:r>
              <a:rPr lang="en-GB" dirty="0">
                <a:latin typeface="+mn-lt"/>
                <a:cs typeface="+mn-cs"/>
              </a:rPr>
              <a:t>Financial payment applications</a:t>
            </a:r>
          </a:p>
          <a:p>
            <a:pPr marL="285750" indent="-285750" fontAlgn="auto">
              <a:spcBef>
                <a:spcPts val="0"/>
              </a:spcBef>
              <a:spcAft>
                <a:spcPts val="0"/>
              </a:spcAft>
              <a:buFont typeface="Wingdings" panose="05000000000000000000" pitchFamily="2" charset="2"/>
              <a:buChar char="q"/>
              <a:defRPr/>
            </a:pPr>
            <a:r>
              <a:rPr lang="en-GB" dirty="0">
                <a:latin typeface="+mn-lt"/>
                <a:cs typeface="+mn-cs"/>
              </a:rPr>
              <a:t>Enterprise workflow systems  etc.</a:t>
            </a:r>
          </a:p>
          <a:p>
            <a:pPr fontAlgn="auto">
              <a:spcBef>
                <a:spcPts val="0"/>
              </a:spcBef>
              <a:spcAft>
                <a:spcPts val="0"/>
              </a:spcAft>
              <a:defRPr/>
            </a:pPr>
            <a:endParaRPr lang="en-GB" dirty="0">
              <a:latin typeface="+mn-lt"/>
              <a:cs typeface="+mn-cs"/>
            </a:endParaRPr>
          </a:p>
          <a:p>
            <a:pPr marL="285750" indent="-285750" fontAlgn="auto">
              <a:spcBef>
                <a:spcPts val="0"/>
              </a:spcBef>
              <a:spcAft>
                <a:spcPts val="0"/>
              </a:spcAft>
              <a:buFont typeface="Arial" panose="020B0604020202020204" pitchFamily="34" charset="0"/>
              <a:buChar char="•"/>
              <a:defRPr/>
            </a:pPr>
            <a:endParaRPr lang="en-GB" dirty="0">
              <a:latin typeface="+mn-lt"/>
              <a:cs typeface="+mn-cs"/>
            </a:endParaRPr>
          </a:p>
          <a:p>
            <a:pPr marL="285750" indent="-285750" fontAlgn="auto">
              <a:spcBef>
                <a:spcPts val="0"/>
              </a:spcBef>
              <a:spcAft>
                <a:spcPts val="0"/>
              </a:spcAft>
              <a:buFont typeface="Arial" panose="020B0604020202020204" pitchFamily="34" charset="0"/>
              <a:buChar char="•"/>
              <a:defRPr/>
            </a:pPr>
            <a:endParaRPr lang="en-GB" dirty="0">
              <a:latin typeface="+mn-lt"/>
              <a:cs typeface="+mn-cs"/>
            </a:endParaRPr>
          </a:p>
          <a:p>
            <a:pPr fontAlgn="auto">
              <a:spcBef>
                <a:spcPts val="0"/>
              </a:spcBef>
              <a:spcAft>
                <a:spcPts val="0"/>
              </a:spcAft>
              <a:defRPr/>
            </a:pPr>
            <a:endParaRPr lang="en-GB" dirty="0">
              <a:latin typeface="+mn-lt"/>
              <a:cs typeface="+mn-cs"/>
            </a:endParaRPr>
          </a:p>
          <a:p>
            <a:pPr fontAlgn="auto">
              <a:spcBef>
                <a:spcPts val="0"/>
              </a:spcBef>
              <a:spcAft>
                <a:spcPts val="0"/>
              </a:spcAft>
              <a:defRPr/>
            </a:pPr>
            <a:r>
              <a:rPr lang="en-GB" sz="1400" dirty="0">
                <a:latin typeface="+mn-lt"/>
                <a:cs typeface="+mn-cs"/>
              </a:rPr>
              <a:t>Data source from Mountain Goat Software company </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714501" y="66068"/>
            <a:ext cx="7429499" cy="1478570"/>
          </a:xfrm>
        </p:spPr>
        <p:txBody>
          <a:bodyPr/>
          <a:lstStyle/>
          <a:p>
            <a:pPr eaLnBrk="1" hangingPunct="1"/>
            <a:r>
              <a:rPr lang="en-US" altLang="en-US" sz="4000" dirty="0" smtClean="0"/>
              <a:t>SCRUM Introduction Cont. </a:t>
            </a:r>
          </a:p>
        </p:txBody>
      </p:sp>
      <p:pic>
        <p:nvPicPr>
          <p:cNvPr id="901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413" y="3419475"/>
            <a:ext cx="25717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1340768"/>
            <a:ext cx="7086600"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7" name="Slide Number Placeholder 3"/>
          <p:cNvSpPr txBox="1">
            <a:spLocks/>
          </p:cNvSpPr>
          <p:nvPr/>
        </p:nvSpPr>
        <p:spPr bwMode="auto">
          <a:xfrm>
            <a:off x="8675688" y="6237288"/>
            <a:ext cx="612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76F20EB4-E098-4AB0-B061-633823BF6DF3}" type="slidenum">
              <a:rPr lang="en-US"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43</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0118" name="Date Placeholder 5"/>
          <p:cNvSpPr txBox="1">
            <a:spLocks/>
          </p:cNvSpPr>
          <p:nvPr/>
        </p:nvSpPr>
        <p:spPr bwMode="auto">
          <a:xfrm>
            <a:off x="7272338" y="6492875"/>
            <a:ext cx="1871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634A6220-59F6-4D66-BE2C-6BED3A4E2CFE}" type="datetime1">
              <a:rPr lang="en-GB"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US" altLang="en-US" sz="1200">
              <a:solidFill>
                <a:srgbClr val="000000"/>
              </a:solidFill>
              <a:latin typeface="Arial" panose="020B060402020202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259632" y="210227"/>
            <a:ext cx="7429499" cy="1478570"/>
          </a:xfrm>
        </p:spPr>
        <p:txBody>
          <a:bodyPr/>
          <a:lstStyle/>
          <a:p>
            <a:pPr eaLnBrk="1" hangingPunct="1"/>
            <a:r>
              <a:rPr lang="en-US" altLang="en-US" sz="4000" dirty="0" smtClean="0"/>
              <a:t>SCRUM Introduction Cont. </a:t>
            </a:r>
          </a:p>
        </p:txBody>
      </p:sp>
      <p:pic>
        <p:nvPicPr>
          <p:cNvPr id="921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413" y="3419475"/>
            <a:ext cx="25717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617600"/>
            <a:ext cx="6858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5" name="Slide Number Placeholder 3"/>
          <p:cNvSpPr txBox="1">
            <a:spLocks/>
          </p:cNvSpPr>
          <p:nvPr/>
        </p:nvSpPr>
        <p:spPr bwMode="auto">
          <a:xfrm>
            <a:off x="8604250" y="623728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A26CE91B-F9B1-4499-B67A-D0642857A009}" type="slidenum">
              <a:rPr lang="en-US"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44</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2166" name="Date Placeholder 5"/>
          <p:cNvSpPr txBox="1">
            <a:spLocks/>
          </p:cNvSpPr>
          <p:nvPr/>
        </p:nvSpPr>
        <p:spPr bwMode="auto">
          <a:xfrm>
            <a:off x="7272338" y="6492875"/>
            <a:ext cx="1871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FBB47E52-F475-4153-BFDF-6153EA3A1005}" type="datetime1">
              <a:rPr lang="en-GB"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2167" name="Marcador de Posição do Rodapé 3"/>
          <p:cNvSpPr txBox="1">
            <a:spLocks/>
          </p:cNvSpPr>
          <p:nvPr/>
        </p:nvSpPr>
        <p:spPr bwMode="auto">
          <a:xfrm>
            <a:off x="2555875" y="6461125"/>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714501" y="218458"/>
            <a:ext cx="7429499" cy="1478570"/>
          </a:xfrm>
        </p:spPr>
        <p:txBody>
          <a:bodyPr/>
          <a:lstStyle/>
          <a:p>
            <a:pPr eaLnBrk="1" hangingPunct="1"/>
            <a:r>
              <a:rPr lang="en-US" altLang="en-US" sz="4000" dirty="0" smtClean="0"/>
              <a:t>SCRUM Introduction Cont.</a:t>
            </a:r>
          </a:p>
        </p:txBody>
      </p:sp>
      <p:pic>
        <p:nvPicPr>
          <p:cNvPr id="931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413" y="3419475"/>
            <a:ext cx="25717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1510372"/>
            <a:ext cx="7086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Slide Number Placeholder 3"/>
          <p:cNvSpPr txBox="1">
            <a:spLocks/>
          </p:cNvSpPr>
          <p:nvPr/>
        </p:nvSpPr>
        <p:spPr bwMode="auto">
          <a:xfrm>
            <a:off x="8604250" y="623728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2F5A42A7-CED8-40C5-B20E-B6D334E78917}" type="slidenum">
              <a:rPr lang="en-US"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45</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3190" name="Date Placeholder 5"/>
          <p:cNvSpPr txBox="1">
            <a:spLocks/>
          </p:cNvSpPr>
          <p:nvPr/>
        </p:nvSpPr>
        <p:spPr bwMode="auto">
          <a:xfrm>
            <a:off x="7272338" y="6492875"/>
            <a:ext cx="1871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F571AE69-996F-4382-BFF1-B67CA45F7720}" type="datetime1">
              <a:rPr lang="en-GB"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3191" name="Marcador de Posição do Rodapé 3"/>
          <p:cNvSpPr txBox="1">
            <a:spLocks/>
          </p:cNvSpPr>
          <p:nvPr/>
        </p:nvSpPr>
        <p:spPr bwMode="auto">
          <a:xfrm>
            <a:off x="2555875" y="6461125"/>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857250" y="256761"/>
            <a:ext cx="7429499" cy="1478570"/>
          </a:xfrm>
        </p:spPr>
        <p:txBody>
          <a:bodyPr/>
          <a:lstStyle/>
          <a:p>
            <a:pPr eaLnBrk="1" hangingPunct="1"/>
            <a:r>
              <a:rPr lang="en-US" altLang="en-US" sz="4000" dirty="0" smtClean="0"/>
              <a:t>SCRUM Introduction Cont.</a:t>
            </a:r>
          </a:p>
        </p:txBody>
      </p:sp>
      <p:pic>
        <p:nvPicPr>
          <p:cNvPr id="942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413" y="3419475"/>
            <a:ext cx="25717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980" y="1564482"/>
            <a:ext cx="7239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Slide Number Placeholder 3"/>
          <p:cNvSpPr txBox="1">
            <a:spLocks/>
          </p:cNvSpPr>
          <p:nvPr/>
        </p:nvSpPr>
        <p:spPr bwMode="auto">
          <a:xfrm>
            <a:off x="8604250" y="623728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B679714B-647E-4F82-8724-03E1B8EBDFEC}" type="slidenum">
              <a:rPr lang="en-US"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46</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4214" name="Date Placeholder 5"/>
          <p:cNvSpPr txBox="1">
            <a:spLocks/>
          </p:cNvSpPr>
          <p:nvPr/>
        </p:nvSpPr>
        <p:spPr bwMode="auto">
          <a:xfrm>
            <a:off x="7272338" y="6492875"/>
            <a:ext cx="1871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2DF62CD-9731-41ED-A2FD-34FE0993A8E2}" type="datetime1">
              <a:rPr lang="en-GB"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4215" name="Marcador de Posição do Rodapé 3"/>
          <p:cNvSpPr txBox="1">
            <a:spLocks/>
          </p:cNvSpPr>
          <p:nvPr/>
        </p:nvSpPr>
        <p:spPr bwMode="auto">
          <a:xfrm>
            <a:off x="2555875" y="6461125"/>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457200" y="274638"/>
            <a:ext cx="8229600" cy="706437"/>
          </a:xfrm>
        </p:spPr>
        <p:txBody>
          <a:bodyPr/>
          <a:lstStyle/>
          <a:p>
            <a:pPr eaLnBrk="1" hangingPunct="1"/>
            <a:r>
              <a:rPr lang="en-US" altLang="en-US" sz="4000" dirty="0" smtClean="0"/>
              <a:t>SCRUM Introduction Cont.</a:t>
            </a:r>
          </a:p>
        </p:txBody>
      </p:sp>
      <p:pic>
        <p:nvPicPr>
          <p:cNvPr id="952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413" y="3419475"/>
            <a:ext cx="25717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538" y="1341438"/>
            <a:ext cx="67818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Slide Number Placeholder 3"/>
          <p:cNvSpPr txBox="1">
            <a:spLocks/>
          </p:cNvSpPr>
          <p:nvPr/>
        </p:nvSpPr>
        <p:spPr bwMode="auto">
          <a:xfrm>
            <a:off x="8604250" y="623728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B69C02F6-28CC-47DF-AAD4-E9C6610BD6CD}" type="slidenum">
              <a:rPr lang="en-US"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47</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5238" name="Date Placeholder 5"/>
          <p:cNvSpPr txBox="1">
            <a:spLocks/>
          </p:cNvSpPr>
          <p:nvPr/>
        </p:nvSpPr>
        <p:spPr bwMode="auto">
          <a:xfrm>
            <a:off x="7272338" y="6492875"/>
            <a:ext cx="1871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31116FA3-F2C0-4F08-8B07-ABE486459541}" type="datetime1">
              <a:rPr lang="en-GB" altLang="en-US" sz="12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US" altLang="en-US" sz="1200">
              <a:solidFill>
                <a:srgbClr val="000000"/>
              </a:solidFill>
              <a:latin typeface="Arial" panose="020B0604020202020204" pitchFamily="34" charset="0"/>
              <a:cs typeface="Times New Roman" panose="02020603050405020304" pitchFamily="18" charset="0"/>
            </a:endParaRPr>
          </a:p>
        </p:txBody>
      </p:sp>
      <p:sp>
        <p:nvSpPr>
          <p:cNvPr id="95239" name="Marcador de Posição do Rodapé 3"/>
          <p:cNvSpPr txBox="1">
            <a:spLocks/>
          </p:cNvSpPr>
          <p:nvPr/>
        </p:nvSpPr>
        <p:spPr bwMode="auto">
          <a:xfrm>
            <a:off x="2555875" y="6461125"/>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609600" y="304800"/>
            <a:ext cx="7848600" cy="533400"/>
          </a:xfrm>
        </p:spPr>
        <p:txBody>
          <a:bodyPr rtlCol="0">
            <a:normAutofit fontScale="90000"/>
          </a:bodyPr>
          <a:lstStyle/>
          <a:p>
            <a:pPr eaLnBrk="1" fontAlgn="auto" hangingPunct="1">
              <a:spcAft>
                <a:spcPts val="0"/>
              </a:spcAft>
              <a:defRPr/>
            </a:pPr>
            <a:r>
              <a:rPr lang="en-US" altLang="en-US" sz="3200" smtClean="0"/>
              <a:t>XP Practices and main “cycles” of XP</a:t>
            </a:r>
            <a:br>
              <a:rPr lang="en-US" altLang="en-US" sz="3200" smtClean="0"/>
            </a:br>
            <a:endParaRPr lang="en-US" altLang="en-US" sz="3200" smtClean="0"/>
          </a:p>
        </p:txBody>
      </p:sp>
      <p:pic>
        <p:nvPicPr>
          <p:cNvPr id="98307" name="Picture 4" descr="XPcirc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857250"/>
            <a:ext cx="6858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8" name="Rectangle 3"/>
          <p:cNvSpPr>
            <a:spLocks noChangeArrowheads="1"/>
          </p:cNvSpPr>
          <p:nvPr/>
        </p:nvSpPr>
        <p:spPr bwMode="auto">
          <a:xfrm>
            <a:off x="7019925"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A2F97559-42AA-482E-8FCD-0377D88835A0}"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
        <p:nvSpPr>
          <p:cNvPr id="98309" name="Slide Number Placeholder 5"/>
          <p:cNvSpPr txBox="1">
            <a:spLocks/>
          </p:cNvSpPr>
          <p:nvPr/>
        </p:nvSpPr>
        <p:spPr bwMode="auto">
          <a:xfrm>
            <a:off x="8675688" y="6237288"/>
            <a:ext cx="649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F7717982-83B1-45F7-B621-50B53ED2D0F8}"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48</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98310" name="Marcador de Posição do Rodapé 3"/>
          <p:cNvSpPr txBox="1">
            <a:spLocks/>
          </p:cNvSpPr>
          <p:nvPr/>
        </p:nvSpPr>
        <p:spPr bwMode="auto">
          <a:xfrm>
            <a:off x="2336800" y="6465888"/>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1763688" y="274638"/>
            <a:ext cx="8229600" cy="633412"/>
          </a:xfrm>
        </p:spPr>
        <p:txBody>
          <a:bodyPr/>
          <a:lstStyle/>
          <a:p>
            <a:pPr eaLnBrk="1" hangingPunct="1"/>
            <a:r>
              <a:rPr lang="en-US" altLang="en-US" sz="3200" dirty="0" smtClean="0"/>
              <a:t>Extreme Programming (XP)</a:t>
            </a:r>
          </a:p>
        </p:txBody>
      </p:sp>
      <p:sp>
        <p:nvSpPr>
          <p:cNvPr id="97283" name="Rectangle 3"/>
          <p:cNvSpPr>
            <a:spLocks noGrp="1" noChangeArrowheads="1"/>
          </p:cNvSpPr>
          <p:nvPr>
            <p:ph idx="1"/>
          </p:nvPr>
        </p:nvSpPr>
        <p:spPr>
          <a:xfrm>
            <a:off x="1547664" y="1208087"/>
            <a:ext cx="8229600" cy="5113338"/>
          </a:xfrm>
        </p:spPr>
        <p:txBody>
          <a:bodyPr/>
          <a:lstStyle/>
          <a:p>
            <a:pPr eaLnBrk="1" hangingPunct="1"/>
            <a:r>
              <a:rPr lang="en-GB" altLang="en-US" sz="2000" b="1" dirty="0" smtClean="0"/>
              <a:t>5 Fundamental Values </a:t>
            </a:r>
          </a:p>
          <a:p>
            <a:pPr lvl="1" eaLnBrk="1" hangingPunct="1">
              <a:buFontTx/>
              <a:buChar char="•"/>
            </a:pPr>
            <a:r>
              <a:rPr lang="en-GB" altLang="en-US" b="1" dirty="0" smtClean="0"/>
              <a:t>Communication</a:t>
            </a:r>
          </a:p>
          <a:p>
            <a:pPr lvl="1" eaLnBrk="1" hangingPunct="1">
              <a:buFontTx/>
              <a:buChar char="•"/>
            </a:pPr>
            <a:r>
              <a:rPr lang="en-GB" altLang="en-US" b="1" dirty="0" smtClean="0"/>
              <a:t>Feedback</a:t>
            </a:r>
          </a:p>
          <a:p>
            <a:pPr lvl="1" eaLnBrk="1" hangingPunct="1">
              <a:buFontTx/>
              <a:buChar char="•"/>
            </a:pPr>
            <a:r>
              <a:rPr lang="en-GB" altLang="en-US" b="1" dirty="0" smtClean="0"/>
              <a:t>Simplicity</a:t>
            </a:r>
          </a:p>
          <a:p>
            <a:pPr lvl="1" eaLnBrk="1" hangingPunct="1">
              <a:buFontTx/>
              <a:buChar char="•"/>
            </a:pPr>
            <a:r>
              <a:rPr lang="en-GB" altLang="en-US" b="1" dirty="0" smtClean="0"/>
              <a:t>Courage</a:t>
            </a:r>
          </a:p>
          <a:p>
            <a:pPr lvl="1" eaLnBrk="1" hangingPunct="1">
              <a:buFontTx/>
              <a:buChar char="•"/>
            </a:pPr>
            <a:r>
              <a:rPr lang="en-GB" altLang="en-US" b="1" dirty="0" smtClean="0"/>
              <a:t>Quality</a:t>
            </a:r>
            <a:endParaRPr lang="en-US" altLang="en-US" dirty="0" smtClean="0"/>
          </a:p>
          <a:p>
            <a:pPr eaLnBrk="1" hangingPunct="1">
              <a:buFontTx/>
              <a:buChar char="•"/>
            </a:pPr>
            <a:endParaRPr lang="en-GB" altLang="en-US" sz="2000" b="1" dirty="0" smtClean="0"/>
          </a:p>
          <a:p>
            <a:pPr eaLnBrk="1" hangingPunct="1"/>
            <a:endParaRPr lang="en-US" altLang="en-US" dirty="0" smtClean="0"/>
          </a:p>
          <a:p>
            <a:pPr eaLnBrk="1" hangingPunct="1"/>
            <a:endParaRPr lang="en-US" altLang="en-US" sz="2800" dirty="0" smtClean="0"/>
          </a:p>
        </p:txBody>
      </p:sp>
      <p:sp>
        <p:nvSpPr>
          <p:cNvPr id="97284" name="Rectangle 3"/>
          <p:cNvSpPr>
            <a:spLocks noChangeArrowheads="1"/>
          </p:cNvSpPr>
          <p:nvPr/>
        </p:nvSpPr>
        <p:spPr bwMode="auto">
          <a:xfrm>
            <a:off x="7019925"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B2A62C08-8C8D-47D8-8062-C5D18F8043C5}"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
        <p:nvSpPr>
          <p:cNvPr id="97285" name="Slide Number Placeholder 5"/>
          <p:cNvSpPr txBox="1">
            <a:spLocks/>
          </p:cNvSpPr>
          <p:nvPr/>
        </p:nvSpPr>
        <p:spPr bwMode="auto">
          <a:xfrm>
            <a:off x="8636000" y="6321425"/>
            <a:ext cx="612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4153380B-44BC-442A-A6AC-113D20B9600B}"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49</a:t>
            </a:fld>
            <a:endParaRPr lang="en-US" altLang="en-US" sz="1400">
              <a:solidFill>
                <a:srgbClr val="000000"/>
              </a:solidFill>
              <a:latin typeface="Arial" panose="020B060402020202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914400" y="381000"/>
            <a:ext cx="7848600" cy="685800"/>
          </a:xfrm>
        </p:spPr>
        <p:txBody>
          <a:bodyPr rtlCol="0">
            <a:normAutofit fontScale="90000"/>
          </a:bodyPr>
          <a:lstStyle/>
          <a:p>
            <a:pPr eaLnBrk="1" fontAlgn="auto" hangingPunct="1">
              <a:lnSpc>
                <a:spcPct val="90000"/>
              </a:lnSpc>
              <a:spcAft>
                <a:spcPts val="0"/>
              </a:spcAft>
              <a:defRPr/>
            </a:pPr>
            <a:r>
              <a:rPr lang="en-US" altLang="en-US" sz="2400" smtClean="0"/>
              <a:t>XP2: The 12 Core Practices</a:t>
            </a:r>
            <a:br>
              <a:rPr lang="en-US" altLang="en-US" sz="2400" smtClean="0"/>
            </a:br>
            <a:r>
              <a:rPr lang="en-GB" altLang="en-US" sz="2000" smtClean="0"/>
              <a:t>From </a:t>
            </a:r>
            <a:r>
              <a:rPr lang="en-GB" altLang="en-US" sz="2000" i="1" smtClean="0"/>
              <a:t>Extreme Programming Explained Second Edition, </a:t>
            </a:r>
            <a:r>
              <a:rPr lang="en-US" altLang="en-US" sz="2000" smtClean="0"/>
              <a:t>Kent Beck, 2006</a:t>
            </a:r>
          </a:p>
        </p:txBody>
      </p:sp>
      <p:sp>
        <p:nvSpPr>
          <p:cNvPr id="99331" name="Rectangle 3"/>
          <p:cNvSpPr>
            <a:spLocks noGrp="1" noChangeArrowheads="1"/>
          </p:cNvSpPr>
          <p:nvPr>
            <p:ph sz="half" idx="1"/>
          </p:nvPr>
        </p:nvSpPr>
        <p:spPr>
          <a:xfrm>
            <a:off x="179388" y="1196975"/>
            <a:ext cx="4206875" cy="4895850"/>
          </a:xfrm>
        </p:spPr>
        <p:txBody>
          <a:bodyPr>
            <a:normAutofit lnSpcReduction="10000"/>
          </a:bodyPr>
          <a:lstStyle/>
          <a:p>
            <a:pPr eaLnBrk="1" hangingPunct="1">
              <a:buFont typeface="Arial" panose="020B0604020202020204" pitchFamily="34" charset="0"/>
              <a:buNone/>
            </a:pPr>
            <a:r>
              <a:rPr lang="en-US" altLang="en-US" u="sng" smtClean="0"/>
              <a:t>XP2 Primary Practice</a:t>
            </a:r>
          </a:p>
          <a:p>
            <a:pPr eaLnBrk="1" hangingPunct="1"/>
            <a:r>
              <a:rPr lang="en-US" altLang="en-US" smtClean="0"/>
              <a:t>Sit together</a:t>
            </a:r>
          </a:p>
          <a:p>
            <a:pPr eaLnBrk="1" hangingPunct="1"/>
            <a:r>
              <a:rPr lang="en-US" altLang="en-US" smtClean="0"/>
              <a:t>Whole team</a:t>
            </a:r>
          </a:p>
          <a:p>
            <a:pPr eaLnBrk="1" hangingPunct="1"/>
            <a:r>
              <a:rPr lang="en-US" altLang="en-US" smtClean="0"/>
              <a:t>Informative workspace</a:t>
            </a:r>
          </a:p>
          <a:p>
            <a:pPr eaLnBrk="1" hangingPunct="1"/>
            <a:r>
              <a:rPr lang="en-US" altLang="en-US" smtClean="0"/>
              <a:t>Energised work</a:t>
            </a:r>
          </a:p>
          <a:p>
            <a:pPr eaLnBrk="1" hangingPunct="1"/>
            <a:r>
              <a:rPr lang="en-US" altLang="en-US" smtClean="0"/>
              <a:t>Pair programming</a:t>
            </a:r>
          </a:p>
          <a:p>
            <a:pPr eaLnBrk="1" hangingPunct="1"/>
            <a:r>
              <a:rPr lang="en-US" altLang="en-US" smtClean="0"/>
              <a:t>Stories</a:t>
            </a:r>
          </a:p>
          <a:p>
            <a:pPr eaLnBrk="1" hangingPunct="1"/>
            <a:r>
              <a:rPr lang="en-US" altLang="en-US" smtClean="0"/>
              <a:t>Weekly cycle</a:t>
            </a:r>
          </a:p>
          <a:p>
            <a:pPr eaLnBrk="1" hangingPunct="1"/>
            <a:r>
              <a:rPr lang="en-US" altLang="en-US" smtClean="0"/>
              <a:t>Quarterly cycle</a:t>
            </a:r>
          </a:p>
        </p:txBody>
      </p:sp>
      <p:sp>
        <p:nvSpPr>
          <p:cNvPr id="99332" name="Rectangle 4"/>
          <p:cNvSpPr>
            <a:spLocks noGrp="1" noChangeArrowheads="1"/>
          </p:cNvSpPr>
          <p:nvPr>
            <p:ph sz="half" idx="2"/>
          </p:nvPr>
        </p:nvSpPr>
        <p:spPr>
          <a:xfrm>
            <a:off x="3491880" y="1180612"/>
            <a:ext cx="4495800" cy="4968875"/>
          </a:xfrm>
        </p:spPr>
        <p:txBody>
          <a:bodyPr>
            <a:normAutofit lnSpcReduction="10000"/>
          </a:bodyPr>
          <a:lstStyle/>
          <a:p>
            <a:pPr eaLnBrk="1" hangingPunct="1">
              <a:buFont typeface="Arial" panose="020B0604020202020204" pitchFamily="34" charset="0"/>
              <a:buNone/>
            </a:pPr>
            <a:r>
              <a:rPr lang="en-US" altLang="en-US" u="sng" dirty="0" smtClean="0"/>
              <a:t>Sustained/New/XP1 Name </a:t>
            </a:r>
          </a:p>
          <a:p>
            <a:pPr eaLnBrk="1" hangingPunct="1"/>
            <a:r>
              <a:rPr lang="en-US" altLang="en-US" dirty="0" smtClean="0">
                <a:solidFill>
                  <a:srgbClr val="0070C0"/>
                </a:solidFill>
              </a:rPr>
              <a:t>New</a:t>
            </a:r>
          </a:p>
          <a:p>
            <a:pPr eaLnBrk="1" hangingPunct="1"/>
            <a:r>
              <a:rPr lang="en-US" altLang="en-US" dirty="0" smtClean="0">
                <a:solidFill>
                  <a:srgbClr val="0070C0"/>
                </a:solidFill>
              </a:rPr>
              <a:t>New</a:t>
            </a:r>
          </a:p>
          <a:p>
            <a:pPr eaLnBrk="1" hangingPunct="1"/>
            <a:r>
              <a:rPr lang="en-US" altLang="en-US" dirty="0" smtClean="0">
                <a:solidFill>
                  <a:srgbClr val="0070C0"/>
                </a:solidFill>
              </a:rPr>
              <a:t>New</a:t>
            </a:r>
          </a:p>
          <a:p>
            <a:pPr eaLnBrk="1" hangingPunct="1"/>
            <a:r>
              <a:rPr lang="en-US" altLang="en-US" dirty="0" smtClean="0"/>
              <a:t>40-hour Week</a:t>
            </a:r>
          </a:p>
          <a:p>
            <a:pPr eaLnBrk="1" hangingPunct="1"/>
            <a:r>
              <a:rPr lang="en-US" altLang="en-US" dirty="0" smtClean="0">
                <a:solidFill>
                  <a:srgbClr val="00B050"/>
                </a:solidFill>
              </a:rPr>
              <a:t>Sustained</a:t>
            </a:r>
          </a:p>
          <a:p>
            <a:pPr eaLnBrk="1" hangingPunct="1"/>
            <a:r>
              <a:rPr lang="en-US" altLang="en-US" dirty="0" smtClean="0"/>
              <a:t>Planning Game</a:t>
            </a:r>
          </a:p>
          <a:p>
            <a:pPr eaLnBrk="1" hangingPunct="1"/>
            <a:r>
              <a:rPr lang="en-US" altLang="en-US" dirty="0" smtClean="0"/>
              <a:t>Planning Game</a:t>
            </a:r>
          </a:p>
          <a:p>
            <a:pPr eaLnBrk="1" hangingPunct="1"/>
            <a:r>
              <a:rPr lang="en-US" altLang="en-US" dirty="0" smtClean="0"/>
              <a:t>Small releases</a:t>
            </a:r>
          </a:p>
        </p:txBody>
      </p:sp>
      <p:sp>
        <p:nvSpPr>
          <p:cNvPr id="99333" name="Rectangle 5"/>
          <p:cNvSpPr>
            <a:spLocks noChangeArrowheads="1"/>
          </p:cNvSpPr>
          <p:nvPr/>
        </p:nvSpPr>
        <p:spPr bwMode="auto">
          <a:xfrm>
            <a:off x="7019925"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49F723F6-7BC3-4644-A70D-1537AB202C1F}"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
        <p:nvSpPr>
          <p:cNvPr id="99334" name="Slide Number Placeholder 5"/>
          <p:cNvSpPr txBox="1">
            <a:spLocks/>
          </p:cNvSpPr>
          <p:nvPr/>
        </p:nvSpPr>
        <p:spPr bwMode="auto">
          <a:xfrm>
            <a:off x="8675688" y="6237288"/>
            <a:ext cx="649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EC10D535-D01F-42E2-BA89-E2065F95B48B}"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50</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99335" name="Marcador de Posição do Rodapé 3"/>
          <p:cNvSpPr txBox="1">
            <a:spLocks/>
          </p:cNvSpPr>
          <p:nvPr/>
        </p:nvSpPr>
        <p:spPr bwMode="auto">
          <a:xfrm>
            <a:off x="2336800" y="6465888"/>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914400" y="381000"/>
            <a:ext cx="7848600" cy="685800"/>
          </a:xfrm>
        </p:spPr>
        <p:txBody>
          <a:bodyPr rtlCol="0">
            <a:normAutofit fontScale="90000"/>
          </a:bodyPr>
          <a:lstStyle/>
          <a:p>
            <a:pPr eaLnBrk="1" fontAlgn="auto" hangingPunct="1">
              <a:lnSpc>
                <a:spcPct val="90000"/>
              </a:lnSpc>
              <a:spcAft>
                <a:spcPts val="0"/>
              </a:spcAft>
              <a:defRPr/>
            </a:pPr>
            <a:r>
              <a:rPr lang="en-US" altLang="en-US" sz="2400" smtClean="0"/>
              <a:t>XP2: The 12 Core Practices</a:t>
            </a:r>
            <a:br>
              <a:rPr lang="en-US" altLang="en-US" sz="2400" smtClean="0"/>
            </a:br>
            <a:r>
              <a:rPr lang="en-GB" altLang="en-US" sz="2000" smtClean="0"/>
              <a:t>From </a:t>
            </a:r>
            <a:r>
              <a:rPr lang="en-GB" altLang="en-US" sz="2000" i="1" smtClean="0"/>
              <a:t>Extreme Programming Explained Second Edition, </a:t>
            </a:r>
            <a:r>
              <a:rPr lang="en-US" altLang="en-US" sz="2000" smtClean="0"/>
              <a:t>Kent Beck, 2006</a:t>
            </a:r>
          </a:p>
        </p:txBody>
      </p:sp>
      <p:sp>
        <p:nvSpPr>
          <p:cNvPr id="100355" name="Rectangle 3"/>
          <p:cNvSpPr>
            <a:spLocks noGrp="1" noChangeArrowheads="1"/>
          </p:cNvSpPr>
          <p:nvPr>
            <p:ph sz="half" idx="1"/>
          </p:nvPr>
        </p:nvSpPr>
        <p:spPr>
          <a:xfrm>
            <a:off x="250825" y="1268413"/>
            <a:ext cx="4206875" cy="4897437"/>
          </a:xfrm>
        </p:spPr>
        <p:txBody>
          <a:bodyPr/>
          <a:lstStyle/>
          <a:p>
            <a:pPr eaLnBrk="1" hangingPunct="1">
              <a:buFont typeface="Arial" panose="020B0604020202020204" pitchFamily="34" charset="0"/>
              <a:buNone/>
            </a:pPr>
            <a:r>
              <a:rPr lang="en-US" altLang="en-US" u="sng" smtClean="0"/>
              <a:t>XP2 Primary Practice</a:t>
            </a:r>
            <a:endParaRPr lang="en-US" altLang="en-US" smtClean="0"/>
          </a:p>
          <a:p>
            <a:pPr eaLnBrk="1" hangingPunct="1"/>
            <a:r>
              <a:rPr lang="en-US" altLang="en-US" smtClean="0"/>
              <a:t>Ten minute build</a:t>
            </a:r>
          </a:p>
          <a:p>
            <a:pPr eaLnBrk="1" hangingPunct="1"/>
            <a:r>
              <a:rPr lang="en-US" altLang="en-US" smtClean="0"/>
              <a:t>Continuous integration</a:t>
            </a:r>
          </a:p>
          <a:p>
            <a:pPr eaLnBrk="1" hangingPunct="1"/>
            <a:r>
              <a:rPr lang="en-US" altLang="en-US" smtClean="0"/>
              <a:t>Test-first Programming</a:t>
            </a:r>
          </a:p>
          <a:p>
            <a:pPr eaLnBrk="1" hangingPunct="1"/>
            <a:r>
              <a:rPr lang="en-US" altLang="en-US" smtClean="0"/>
              <a:t>Incremental Design</a:t>
            </a:r>
          </a:p>
        </p:txBody>
      </p:sp>
      <p:sp>
        <p:nvSpPr>
          <p:cNvPr id="100356" name="Rectangle 4"/>
          <p:cNvSpPr>
            <a:spLocks noGrp="1" noChangeArrowheads="1"/>
          </p:cNvSpPr>
          <p:nvPr>
            <p:ph sz="half" idx="2"/>
          </p:nvPr>
        </p:nvSpPr>
        <p:spPr>
          <a:xfrm>
            <a:off x="3851920" y="1196975"/>
            <a:ext cx="4495800" cy="4968875"/>
          </a:xfrm>
        </p:spPr>
        <p:txBody>
          <a:bodyPr/>
          <a:lstStyle/>
          <a:p>
            <a:pPr eaLnBrk="1" hangingPunct="1">
              <a:buFont typeface="Arial" panose="020B0604020202020204" pitchFamily="34" charset="0"/>
              <a:buNone/>
            </a:pPr>
            <a:r>
              <a:rPr lang="en-US" altLang="en-US" u="sng" dirty="0" smtClean="0"/>
              <a:t>Sustained/New/XP1 Name </a:t>
            </a:r>
          </a:p>
          <a:p>
            <a:pPr eaLnBrk="1" hangingPunct="1"/>
            <a:r>
              <a:rPr lang="en-US" altLang="en-US" dirty="0" smtClean="0">
                <a:solidFill>
                  <a:srgbClr val="0070C0"/>
                </a:solidFill>
              </a:rPr>
              <a:t>New</a:t>
            </a:r>
          </a:p>
          <a:p>
            <a:pPr eaLnBrk="1" hangingPunct="1"/>
            <a:r>
              <a:rPr lang="en-US" altLang="en-US" dirty="0" smtClean="0">
                <a:solidFill>
                  <a:srgbClr val="00B050"/>
                </a:solidFill>
              </a:rPr>
              <a:t>Sustained</a:t>
            </a:r>
          </a:p>
          <a:p>
            <a:pPr eaLnBrk="1" hangingPunct="1"/>
            <a:r>
              <a:rPr lang="en-US" altLang="en-US" dirty="0" smtClean="0"/>
              <a:t>Testing</a:t>
            </a:r>
          </a:p>
          <a:p>
            <a:pPr eaLnBrk="1" hangingPunct="1"/>
            <a:r>
              <a:rPr lang="en-US" altLang="en-US" dirty="0" smtClean="0"/>
              <a:t>Simple Design</a:t>
            </a:r>
          </a:p>
          <a:p>
            <a:pPr eaLnBrk="1" hangingPunct="1">
              <a:buFont typeface="Arial" panose="020B0604020202020204" pitchFamily="34" charset="0"/>
              <a:buNone/>
            </a:pPr>
            <a:r>
              <a:rPr lang="en-US" altLang="en-US" dirty="0" smtClean="0"/>
              <a:t>	Refactoring</a:t>
            </a:r>
          </a:p>
        </p:txBody>
      </p:sp>
      <p:sp>
        <p:nvSpPr>
          <p:cNvPr id="100357" name="Rectangle 5"/>
          <p:cNvSpPr>
            <a:spLocks noChangeArrowheads="1"/>
          </p:cNvSpPr>
          <p:nvPr/>
        </p:nvSpPr>
        <p:spPr bwMode="auto">
          <a:xfrm>
            <a:off x="7019925"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CC630724-D2E4-4CBE-8210-561417F39B87}"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
        <p:nvSpPr>
          <p:cNvPr id="100358" name="Slide Number Placeholder 5"/>
          <p:cNvSpPr txBox="1">
            <a:spLocks/>
          </p:cNvSpPr>
          <p:nvPr/>
        </p:nvSpPr>
        <p:spPr bwMode="auto">
          <a:xfrm>
            <a:off x="8675688" y="6237288"/>
            <a:ext cx="72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05003A3F-13B6-4DDC-8F13-BD1646AEA37C}"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51</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00359" name="Marcador de Posição do Rodapé 3"/>
          <p:cNvSpPr txBox="1">
            <a:spLocks/>
          </p:cNvSpPr>
          <p:nvPr/>
        </p:nvSpPr>
        <p:spPr bwMode="auto">
          <a:xfrm>
            <a:off x="2336800" y="6465888"/>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r>
              <a:rPr lang="en-US" altLang="en-US" sz="1200">
                <a:solidFill>
                  <a:srgbClr val="000000"/>
                </a:solidFill>
              </a:rPr>
              <a:t>Edwin Gray	e-mail: e.gray@gcu.ac.uk</a:t>
            </a:r>
          </a:p>
          <a:p>
            <a:pPr algn="r" eaLnBrk="1" hangingPunct="1">
              <a:spcBef>
                <a:spcPct val="0"/>
              </a:spcBef>
              <a:buClrTx/>
              <a:buSzTx/>
              <a:buFontTx/>
              <a:buNone/>
            </a:pPr>
            <a:r>
              <a:rPr lang="en-GB" altLang="en-US" sz="1200">
                <a:solidFill>
                  <a:srgbClr val="000000"/>
                </a:solidFill>
              </a:rPr>
              <a:t>Department of Computer, Communications  and Interactive Systems</a:t>
            </a: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914400" y="381000"/>
            <a:ext cx="7848600" cy="685800"/>
          </a:xfrm>
        </p:spPr>
        <p:txBody>
          <a:bodyPr rtlCol="0">
            <a:normAutofit fontScale="90000"/>
          </a:bodyPr>
          <a:lstStyle/>
          <a:p>
            <a:pPr eaLnBrk="1" fontAlgn="auto" hangingPunct="1">
              <a:lnSpc>
                <a:spcPct val="90000"/>
              </a:lnSpc>
              <a:spcAft>
                <a:spcPts val="0"/>
              </a:spcAft>
              <a:defRPr/>
            </a:pPr>
            <a:r>
              <a:rPr lang="en-US" altLang="en-US" sz="2400" smtClean="0"/>
              <a:t>XP2: The 12 Core Practices</a:t>
            </a:r>
            <a:br>
              <a:rPr lang="en-US" altLang="en-US" sz="2400" smtClean="0"/>
            </a:br>
            <a:r>
              <a:rPr lang="en-GB" altLang="en-US" sz="2000" smtClean="0"/>
              <a:t>From </a:t>
            </a:r>
            <a:r>
              <a:rPr lang="en-GB" altLang="en-US" sz="2000" i="1" smtClean="0"/>
              <a:t>Extreme Programming Explained Second Edition, </a:t>
            </a:r>
            <a:r>
              <a:rPr lang="en-US" altLang="en-US" sz="2000" smtClean="0"/>
              <a:t>Kent Beck, 2006</a:t>
            </a:r>
          </a:p>
        </p:txBody>
      </p:sp>
      <p:sp>
        <p:nvSpPr>
          <p:cNvPr id="101379" name="Rectangle 3"/>
          <p:cNvSpPr>
            <a:spLocks noGrp="1" noChangeArrowheads="1"/>
          </p:cNvSpPr>
          <p:nvPr>
            <p:ph sz="half" idx="1"/>
          </p:nvPr>
        </p:nvSpPr>
        <p:spPr>
          <a:xfrm>
            <a:off x="250825" y="1268413"/>
            <a:ext cx="4206875" cy="4897437"/>
          </a:xfrm>
        </p:spPr>
        <p:txBody>
          <a:bodyPr/>
          <a:lstStyle/>
          <a:p>
            <a:pPr eaLnBrk="1" hangingPunct="1">
              <a:buFont typeface="Arial" panose="020B0604020202020204" pitchFamily="34" charset="0"/>
              <a:buNone/>
            </a:pPr>
            <a:r>
              <a:rPr lang="en-US" altLang="en-US" u="sng" smtClean="0"/>
              <a:t>XP1 Practice</a:t>
            </a:r>
          </a:p>
          <a:p>
            <a:pPr eaLnBrk="1" hangingPunct="1"/>
            <a:r>
              <a:rPr lang="en-US" altLang="en-US" smtClean="0"/>
              <a:t>Metaphor</a:t>
            </a:r>
          </a:p>
          <a:p>
            <a:pPr eaLnBrk="1" hangingPunct="1"/>
            <a:r>
              <a:rPr lang="en-US" altLang="en-US" smtClean="0"/>
              <a:t>Collective code ownership</a:t>
            </a:r>
          </a:p>
          <a:p>
            <a:pPr eaLnBrk="1" hangingPunct="1"/>
            <a:r>
              <a:rPr lang="en-US" altLang="en-US" smtClean="0"/>
              <a:t>On-site customer</a:t>
            </a:r>
          </a:p>
          <a:p>
            <a:pPr eaLnBrk="1" hangingPunct="1"/>
            <a:endParaRPr lang="en-US" altLang="en-US" smtClean="0"/>
          </a:p>
          <a:p>
            <a:pPr eaLnBrk="1" hangingPunct="1"/>
            <a:r>
              <a:rPr lang="en-US" altLang="en-US" smtClean="0"/>
              <a:t>Coding standard</a:t>
            </a:r>
          </a:p>
        </p:txBody>
      </p:sp>
      <p:sp>
        <p:nvSpPr>
          <p:cNvPr id="101380" name="Rectangle 4"/>
          <p:cNvSpPr>
            <a:spLocks noGrp="1" noChangeArrowheads="1"/>
          </p:cNvSpPr>
          <p:nvPr>
            <p:ph sz="half" idx="2"/>
          </p:nvPr>
        </p:nvSpPr>
        <p:spPr>
          <a:xfrm>
            <a:off x="4500563" y="1196975"/>
            <a:ext cx="4495800" cy="4968875"/>
          </a:xfrm>
        </p:spPr>
        <p:txBody>
          <a:bodyPr/>
          <a:lstStyle/>
          <a:p>
            <a:pPr eaLnBrk="1" hangingPunct="1">
              <a:buFont typeface="Arial" panose="020B0604020202020204" pitchFamily="34" charset="0"/>
              <a:buNone/>
            </a:pPr>
            <a:r>
              <a:rPr lang="en-US" altLang="en-US" u="sng" smtClean="0"/>
              <a:t>Disposition </a:t>
            </a:r>
          </a:p>
          <a:p>
            <a:pPr eaLnBrk="1" hangingPunct="1"/>
            <a:r>
              <a:rPr lang="en-US" altLang="en-US" smtClean="0">
                <a:solidFill>
                  <a:srgbClr val="FF0000"/>
                </a:solidFill>
              </a:rPr>
              <a:t>Removed</a:t>
            </a:r>
          </a:p>
          <a:p>
            <a:pPr eaLnBrk="1" hangingPunct="1"/>
            <a:r>
              <a:rPr lang="en-US" altLang="en-US" smtClean="0">
                <a:solidFill>
                  <a:schemeClr val="tx1"/>
                </a:solidFill>
              </a:rPr>
              <a:t>Corollary: Shared code</a:t>
            </a:r>
          </a:p>
          <a:p>
            <a:pPr eaLnBrk="1" hangingPunct="1"/>
            <a:endParaRPr lang="en-US" altLang="en-US" smtClean="0">
              <a:solidFill>
                <a:schemeClr val="tx1"/>
              </a:solidFill>
            </a:endParaRPr>
          </a:p>
          <a:p>
            <a:pPr eaLnBrk="1" hangingPunct="1"/>
            <a:r>
              <a:rPr lang="en-US" altLang="en-US" smtClean="0">
                <a:solidFill>
                  <a:schemeClr val="tx1"/>
                </a:solidFill>
              </a:rPr>
              <a:t>Corollary: Real customer involvement</a:t>
            </a:r>
          </a:p>
          <a:p>
            <a:pPr eaLnBrk="1" hangingPunct="1"/>
            <a:r>
              <a:rPr lang="en-US" altLang="en-US" smtClean="0">
                <a:solidFill>
                  <a:srgbClr val="FF0000"/>
                </a:solidFill>
              </a:rPr>
              <a:t>Removed</a:t>
            </a:r>
          </a:p>
          <a:p>
            <a:pPr eaLnBrk="1" hangingPunct="1"/>
            <a:endParaRPr lang="en-US" altLang="en-US" smtClean="0"/>
          </a:p>
        </p:txBody>
      </p:sp>
      <p:sp>
        <p:nvSpPr>
          <p:cNvPr id="101381" name="Rectangle 5"/>
          <p:cNvSpPr>
            <a:spLocks noChangeArrowheads="1"/>
          </p:cNvSpPr>
          <p:nvPr/>
        </p:nvSpPr>
        <p:spPr bwMode="auto">
          <a:xfrm>
            <a:off x="7019925"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50A81DF2-DEEA-40EE-9F7A-AC6125DC85F9}"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
        <p:nvSpPr>
          <p:cNvPr id="101382" name="Slide Number Placeholder 5"/>
          <p:cNvSpPr txBox="1">
            <a:spLocks/>
          </p:cNvSpPr>
          <p:nvPr/>
        </p:nvSpPr>
        <p:spPr bwMode="auto">
          <a:xfrm>
            <a:off x="8675688" y="6237288"/>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E95D158A-FA4B-4632-90AB-2A3EE9F2EBC3}"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52</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01383" name="Marcador de Posição do Rodapé 3"/>
          <p:cNvSpPr txBox="1">
            <a:spLocks/>
          </p:cNvSpPr>
          <p:nvPr/>
        </p:nvSpPr>
        <p:spPr bwMode="auto">
          <a:xfrm>
            <a:off x="2336800" y="6465888"/>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r>
              <a:rPr lang="en-US" altLang="en-US" sz="1200">
                <a:solidFill>
                  <a:srgbClr val="000000"/>
                </a:solidFill>
              </a:rPr>
              <a:t>Edwin Gray	e-mail: e.gray@gcu.ac.uk</a:t>
            </a:r>
          </a:p>
          <a:p>
            <a:pPr algn="r" eaLnBrk="1" hangingPunct="1">
              <a:spcBef>
                <a:spcPct val="0"/>
              </a:spcBef>
              <a:buClrTx/>
              <a:buSzTx/>
              <a:buFontTx/>
              <a:buNone/>
            </a:pPr>
            <a:r>
              <a:rPr lang="en-GB" altLang="en-US" sz="1200">
                <a:solidFill>
                  <a:srgbClr val="000000"/>
                </a:solidFill>
              </a:rPr>
              <a:t>Department of Computer, Communications  and Interactive Systems</a:t>
            </a:r>
            <a:endParaRPr lang="pt-PT" altLang="en-US"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395288" y="260350"/>
            <a:ext cx="8382000" cy="646113"/>
          </a:xfrm>
        </p:spPr>
        <p:txBody>
          <a:bodyPr>
            <a:spAutoFit/>
          </a:bodyPr>
          <a:lstStyle/>
          <a:p>
            <a:pPr eaLnBrk="1" hangingPunct="1"/>
            <a:r>
              <a:rPr lang="en-GB" altLang="en-US" smtClean="0"/>
              <a:t>Rational Unified Process (RUP) and UML</a:t>
            </a:r>
          </a:p>
        </p:txBody>
      </p:sp>
      <p:sp>
        <p:nvSpPr>
          <p:cNvPr id="102403" name="Rectangle 3"/>
          <p:cNvSpPr>
            <a:spLocks noGrp="1" noChangeArrowheads="1"/>
          </p:cNvSpPr>
          <p:nvPr>
            <p:ph idx="1"/>
          </p:nvPr>
        </p:nvSpPr>
        <p:spPr>
          <a:xfrm>
            <a:off x="0" y="981075"/>
            <a:ext cx="8382000" cy="4437063"/>
          </a:xfrm>
        </p:spPr>
        <p:txBody>
          <a:bodyPr>
            <a:spAutoFit/>
          </a:bodyPr>
          <a:lstStyle/>
          <a:p>
            <a:pPr marL="379413" indent="-379413" eaLnBrk="1" hangingPunct="1"/>
            <a:r>
              <a:rPr lang="en-GB" altLang="en-US" sz="2400" smtClean="0"/>
              <a:t>Unified Modelling Language provides visual language for OO projects.</a:t>
            </a:r>
          </a:p>
          <a:p>
            <a:pPr marL="379413" indent="-379413" eaLnBrk="1" hangingPunct="1"/>
            <a:r>
              <a:rPr lang="en-GB" altLang="en-US" sz="2400" smtClean="0"/>
              <a:t>Rational Unified Process provides process model.</a:t>
            </a:r>
          </a:p>
          <a:p>
            <a:pPr marL="379413" indent="-379413" eaLnBrk="1" hangingPunct="1"/>
            <a:r>
              <a:rPr lang="en-GB" altLang="en-US" sz="2400" smtClean="0"/>
              <a:t>Approach ‘open’ (non-proprietary) but Rational Corporation offers Rational Unified Process.</a:t>
            </a:r>
          </a:p>
          <a:p>
            <a:pPr marL="379413" indent="-379413" eaLnBrk="1" hangingPunct="1"/>
            <a:r>
              <a:rPr lang="en-GB" altLang="en-US" sz="2400" smtClean="0"/>
              <a:t>Four phases to process:</a:t>
            </a:r>
          </a:p>
          <a:p>
            <a:pPr lvl="1" eaLnBrk="1" hangingPunct="1"/>
            <a:r>
              <a:rPr lang="en-GB" altLang="en-US" sz="2000" smtClean="0"/>
              <a:t>Inception</a:t>
            </a:r>
          </a:p>
          <a:p>
            <a:pPr lvl="1" eaLnBrk="1" hangingPunct="1"/>
            <a:r>
              <a:rPr lang="en-GB" altLang="en-US" sz="2000" smtClean="0"/>
              <a:t>Elaboration</a:t>
            </a:r>
          </a:p>
          <a:p>
            <a:pPr lvl="1" eaLnBrk="1" hangingPunct="1"/>
            <a:r>
              <a:rPr lang="en-GB" altLang="en-US" sz="2000" smtClean="0"/>
              <a:t>Construction</a:t>
            </a:r>
          </a:p>
          <a:p>
            <a:pPr lvl="1" eaLnBrk="1" hangingPunct="1"/>
            <a:r>
              <a:rPr lang="en-GB" altLang="en-US" sz="2000" smtClean="0"/>
              <a:t>Transition. </a:t>
            </a:r>
          </a:p>
        </p:txBody>
      </p:sp>
      <p:sp>
        <p:nvSpPr>
          <p:cNvPr id="102404" name="Rectangle 4"/>
          <p:cNvSpPr>
            <a:spLocks noChangeArrowheads="1"/>
          </p:cNvSpPr>
          <p:nvPr/>
        </p:nvSpPr>
        <p:spPr bwMode="auto">
          <a:xfrm>
            <a:off x="6875463"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726967C5-63BF-4529-ABA1-3455C4990AA2}"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
        <p:nvSpPr>
          <p:cNvPr id="102405" name="Slide Number Placeholder 5"/>
          <p:cNvSpPr txBox="1">
            <a:spLocks/>
          </p:cNvSpPr>
          <p:nvPr/>
        </p:nvSpPr>
        <p:spPr bwMode="auto">
          <a:xfrm>
            <a:off x="8570913" y="6550025"/>
            <a:ext cx="62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6477AE9-8A96-4817-A95F-1602FD603AFD}"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53</a:t>
            </a:fld>
            <a:endParaRPr lang="en-US" altLang="en-US" sz="1400">
              <a:solidFill>
                <a:srgbClr val="000000"/>
              </a:solidFill>
              <a:latin typeface="Arial" panose="020B060402020202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050"/>
          <p:cNvSpPr>
            <a:spLocks noGrp="1" noChangeArrowheads="1"/>
          </p:cNvSpPr>
          <p:nvPr>
            <p:ph type="title"/>
          </p:nvPr>
        </p:nvSpPr>
        <p:spPr/>
        <p:txBody>
          <a:bodyPr/>
          <a:lstStyle/>
          <a:p>
            <a:pPr eaLnBrk="1" hangingPunct="1"/>
            <a:r>
              <a:rPr lang="en-US" altLang="en-US" smtClean="0"/>
              <a:t>Iterative Development</a:t>
            </a:r>
          </a:p>
        </p:txBody>
      </p:sp>
      <p:sp>
        <p:nvSpPr>
          <p:cNvPr id="2039811" name="Rectangle 2051"/>
          <p:cNvSpPr>
            <a:spLocks noChangeArrowheads="1"/>
          </p:cNvSpPr>
          <p:nvPr/>
        </p:nvSpPr>
        <p:spPr bwMode="auto">
          <a:xfrm>
            <a:off x="274253" y="4623593"/>
            <a:ext cx="8712968" cy="173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lstStyle>
            <a:lvl1pPr marL="165100" indent="-165100"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nSpc>
                <a:spcPct val="110000"/>
              </a:lnSpc>
              <a:buFontTx/>
              <a:buChar char="•"/>
            </a:pPr>
            <a:r>
              <a:rPr lang="en-US" altLang="en-US" sz="2000" b="0" dirty="0">
                <a:solidFill>
                  <a:srgbClr val="000000"/>
                </a:solidFill>
                <a:latin typeface="Arial Narrow" panose="020B0606020202030204" pitchFamily="34" charset="0"/>
              </a:rPr>
              <a:t>An iteration is a distinct sequence of activities with an established plan and evaluation criteria, resulting in an executable release.</a:t>
            </a:r>
          </a:p>
          <a:p>
            <a:pPr>
              <a:lnSpc>
                <a:spcPct val="110000"/>
              </a:lnSpc>
              <a:buFontTx/>
              <a:buChar char="•"/>
            </a:pPr>
            <a:r>
              <a:rPr lang="en-US" altLang="en-US" sz="2000" b="0" dirty="0">
                <a:solidFill>
                  <a:srgbClr val="000000"/>
                </a:solidFill>
              </a:rPr>
              <a:t>Earliest iterations address greatest risks       </a:t>
            </a:r>
          </a:p>
          <a:p>
            <a:pPr>
              <a:lnSpc>
                <a:spcPct val="110000"/>
              </a:lnSpc>
              <a:buFontTx/>
              <a:buChar char="•"/>
            </a:pPr>
            <a:r>
              <a:rPr lang="en-US" altLang="en-US" sz="2000" b="0" dirty="0">
                <a:solidFill>
                  <a:srgbClr val="000000"/>
                </a:solidFill>
              </a:rPr>
              <a:t>Each iteration produces an executable release</a:t>
            </a:r>
          </a:p>
          <a:p>
            <a:pPr>
              <a:lnSpc>
                <a:spcPct val="110000"/>
              </a:lnSpc>
              <a:buFontTx/>
              <a:buChar char="•"/>
            </a:pPr>
            <a:r>
              <a:rPr lang="en-US" altLang="en-US" sz="2000" b="0" dirty="0">
                <a:solidFill>
                  <a:srgbClr val="000000"/>
                </a:solidFill>
              </a:rPr>
              <a:t>Each iteration includes integration and test</a:t>
            </a:r>
          </a:p>
          <a:p>
            <a:pPr>
              <a:lnSpc>
                <a:spcPct val="110000"/>
              </a:lnSpc>
              <a:buFontTx/>
              <a:buChar char="•"/>
            </a:pPr>
            <a:endParaRPr lang="en-US" altLang="en-US" sz="2000" b="0" dirty="0">
              <a:solidFill>
                <a:srgbClr val="000000"/>
              </a:solidFill>
              <a:latin typeface="Arial Narrow" panose="020B0606020202030204" pitchFamily="34" charset="0"/>
            </a:endParaRPr>
          </a:p>
          <a:p>
            <a:pPr>
              <a:lnSpc>
                <a:spcPct val="110000"/>
              </a:lnSpc>
              <a:buFontTx/>
              <a:buChar char="•"/>
            </a:pPr>
            <a:endParaRPr lang="en-US" altLang="en-US" sz="2800" b="0" dirty="0">
              <a:solidFill>
                <a:srgbClr val="000000"/>
              </a:solidFill>
              <a:latin typeface="Times New Roman" panose="02020603050405020304" pitchFamily="18" charset="0"/>
            </a:endParaRPr>
          </a:p>
        </p:txBody>
      </p:sp>
      <p:sp>
        <p:nvSpPr>
          <p:cNvPr id="2039812" name="Line 2052"/>
          <p:cNvSpPr>
            <a:spLocks noChangeAspect="1" noChangeShapeType="1"/>
          </p:cNvSpPr>
          <p:nvPr/>
        </p:nvSpPr>
        <p:spPr bwMode="auto">
          <a:xfrm>
            <a:off x="6324600" y="4564063"/>
            <a:ext cx="2554288" cy="0"/>
          </a:xfrm>
          <a:prstGeom prst="line">
            <a:avLst/>
          </a:prstGeom>
          <a:noFill/>
          <a:ln w="381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lIns="80786" tIns="40392" rIns="80786" bIns="40392">
            <a:spAutoFit/>
          </a:bodyPr>
          <a:lstStyle/>
          <a:p>
            <a:pPr algn="ctr"/>
            <a:endParaRPr lang="en-GB" b="1">
              <a:solidFill>
                <a:srgbClr val="000000"/>
              </a:solidFill>
              <a:latin typeface="Arial" panose="020B0604020202020204" pitchFamily="34" charset="0"/>
            </a:endParaRPr>
          </a:p>
        </p:txBody>
      </p:sp>
      <p:grpSp>
        <p:nvGrpSpPr>
          <p:cNvPr id="10245" name="Group 2053"/>
          <p:cNvGrpSpPr>
            <a:grpSpLocks/>
          </p:cNvGrpSpPr>
          <p:nvPr/>
        </p:nvGrpSpPr>
        <p:grpSpPr bwMode="auto">
          <a:xfrm>
            <a:off x="152400" y="1363663"/>
            <a:ext cx="2867025" cy="3038475"/>
            <a:chOff x="96" y="672"/>
            <a:chExt cx="1806" cy="1914"/>
          </a:xfrm>
        </p:grpSpPr>
        <p:sp>
          <p:nvSpPr>
            <p:cNvPr id="10272" name="Text Box 2054"/>
            <p:cNvSpPr txBox="1">
              <a:spLocks noChangeArrowheads="1"/>
            </p:cNvSpPr>
            <p:nvPr/>
          </p:nvSpPr>
          <p:spPr bwMode="auto">
            <a:xfrm>
              <a:off x="243" y="672"/>
              <a:ext cx="10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lg" len="lg"/>
                </a14:hiddenLine>
              </a:ext>
            </a:extLst>
          </p:spPr>
          <p:txBody>
            <a:bodyPr wrap="none">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r>
                <a:rPr lang="en-US" altLang="en-US" sz="2400">
                  <a:solidFill>
                    <a:srgbClr val="0099CC"/>
                  </a:solidFill>
                </a:rPr>
                <a:t>Iteration 1 </a:t>
              </a:r>
            </a:p>
          </p:txBody>
        </p:sp>
        <p:sp>
          <p:nvSpPr>
            <p:cNvPr id="10273" name="Line 2055"/>
            <p:cNvSpPr>
              <a:spLocks noChangeShapeType="1"/>
            </p:cNvSpPr>
            <p:nvPr/>
          </p:nvSpPr>
          <p:spPr bwMode="auto">
            <a:xfrm>
              <a:off x="1902" y="726"/>
              <a:ext cx="0" cy="1860"/>
            </a:xfrm>
            <a:prstGeom prst="line">
              <a:avLst/>
            </a:prstGeom>
            <a:noFill/>
            <a:ln w="38100">
              <a:solidFill>
                <a:schemeClr val="bg1"/>
              </a:solidFill>
              <a:prstDash val="dashDot"/>
              <a:round/>
              <a:headEnd type="none" w="sm" len="sm"/>
              <a:tailEnd type="none" w="lg" len="lg"/>
            </a:ln>
            <a:extLst>
              <a:ext uri="{909E8E84-426E-40DD-AFC4-6F175D3DCCD1}">
                <a14:hiddenFill xmlns:a14="http://schemas.microsoft.com/office/drawing/2010/main">
                  <a:noFill/>
                </a14:hiddenFill>
              </a:ext>
            </a:extLst>
          </p:spPr>
          <p:txBody>
            <a:bodyPr wrap="none" anchor="ctr"/>
            <a:lstStyle/>
            <a:p>
              <a:pPr algn="ctr"/>
              <a:endParaRPr lang="en-GB" b="1">
                <a:solidFill>
                  <a:srgbClr val="000000"/>
                </a:solidFill>
                <a:latin typeface="Arial" panose="020B0604020202020204" pitchFamily="34" charset="0"/>
              </a:endParaRPr>
            </a:p>
          </p:txBody>
        </p:sp>
        <p:grpSp>
          <p:nvGrpSpPr>
            <p:cNvPr id="10274" name="Group 2056"/>
            <p:cNvGrpSpPr>
              <a:grpSpLocks/>
            </p:cNvGrpSpPr>
            <p:nvPr/>
          </p:nvGrpSpPr>
          <p:grpSpPr bwMode="auto">
            <a:xfrm>
              <a:off x="96" y="1207"/>
              <a:ext cx="1676" cy="1309"/>
              <a:chOff x="102" y="1249"/>
              <a:chExt cx="1676" cy="1309"/>
            </a:xfrm>
          </p:grpSpPr>
          <p:sp>
            <p:nvSpPr>
              <p:cNvPr id="10275" name="Rectangle 2057"/>
              <p:cNvSpPr>
                <a:spLocks noChangeAspect="1" noChangeArrowheads="1"/>
              </p:cNvSpPr>
              <p:nvPr/>
            </p:nvSpPr>
            <p:spPr bwMode="ltGray">
              <a:xfrm>
                <a:off x="415" y="1557"/>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76" name="Rectangle 2058"/>
              <p:cNvSpPr>
                <a:spLocks noChangeAspect="1" noChangeArrowheads="1"/>
              </p:cNvSpPr>
              <p:nvPr/>
            </p:nvSpPr>
            <p:spPr bwMode="ltGray">
              <a:xfrm>
                <a:off x="102" y="1249"/>
                <a:ext cx="403" cy="191"/>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77" name="Rectangle 2059"/>
              <p:cNvSpPr>
                <a:spLocks noChangeAspect="1" noChangeArrowheads="1"/>
              </p:cNvSpPr>
              <p:nvPr/>
            </p:nvSpPr>
            <p:spPr bwMode="ltGray">
              <a:xfrm>
                <a:off x="757" y="1827"/>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78" name="Rectangle 2060"/>
              <p:cNvSpPr>
                <a:spLocks noChangeAspect="1" noChangeArrowheads="1"/>
              </p:cNvSpPr>
              <p:nvPr/>
            </p:nvSpPr>
            <p:spPr bwMode="ltGray">
              <a:xfrm>
                <a:off x="1375" y="2379"/>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79" name="Rectangle 2061"/>
              <p:cNvSpPr>
                <a:spLocks noChangeAspect="1" noChangeArrowheads="1"/>
              </p:cNvSpPr>
              <p:nvPr/>
            </p:nvSpPr>
            <p:spPr bwMode="ltGray">
              <a:xfrm>
                <a:off x="1074" y="2083"/>
                <a:ext cx="403" cy="191"/>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cxnSp>
            <p:nvCxnSpPr>
              <p:cNvPr id="10280" name="AutoShape 2062"/>
              <p:cNvCxnSpPr>
                <a:cxnSpLocks noChangeAspect="1" noChangeShapeType="1"/>
              </p:cNvCxnSpPr>
              <p:nvPr/>
            </p:nvCxnSpPr>
            <p:spPr bwMode="auto">
              <a:xfrm rot="16200000" flipH="1">
                <a:off x="242" y="1406"/>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81" name="AutoShape 2063"/>
              <p:cNvCxnSpPr>
                <a:cxnSpLocks noChangeAspect="1" noChangeShapeType="1"/>
              </p:cNvCxnSpPr>
              <p:nvPr/>
            </p:nvCxnSpPr>
            <p:spPr bwMode="auto">
              <a:xfrm rot="16200000" flipH="1">
                <a:off x="596" y="1688"/>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82" name="AutoShape 2064"/>
              <p:cNvCxnSpPr>
                <a:cxnSpLocks noChangeAspect="1" noChangeShapeType="1"/>
              </p:cNvCxnSpPr>
              <p:nvPr/>
            </p:nvCxnSpPr>
            <p:spPr bwMode="auto">
              <a:xfrm rot="16200000" flipH="1">
                <a:off x="902" y="1970"/>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83" name="AutoShape 2065"/>
              <p:cNvCxnSpPr>
                <a:cxnSpLocks noChangeAspect="1" noChangeShapeType="1"/>
              </p:cNvCxnSpPr>
              <p:nvPr/>
            </p:nvCxnSpPr>
            <p:spPr bwMode="auto">
              <a:xfrm rot="16200000" flipH="1">
                <a:off x="1214" y="2240"/>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grpSp>
      </p:grpSp>
      <p:grpSp>
        <p:nvGrpSpPr>
          <p:cNvPr id="10246" name="Group 2066"/>
          <p:cNvGrpSpPr>
            <a:grpSpLocks/>
          </p:cNvGrpSpPr>
          <p:nvPr/>
        </p:nvGrpSpPr>
        <p:grpSpPr bwMode="auto">
          <a:xfrm>
            <a:off x="3211513" y="1430338"/>
            <a:ext cx="2722562" cy="2844800"/>
            <a:chOff x="2023" y="714"/>
            <a:chExt cx="1715" cy="1792"/>
          </a:xfrm>
        </p:grpSpPr>
        <p:sp>
          <p:nvSpPr>
            <p:cNvPr id="10261" name="Text Box 2067"/>
            <p:cNvSpPr txBox="1">
              <a:spLocks noChangeArrowheads="1"/>
            </p:cNvSpPr>
            <p:nvPr/>
          </p:nvSpPr>
          <p:spPr bwMode="auto">
            <a:xfrm>
              <a:off x="2023" y="714"/>
              <a:ext cx="10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lg" len="lg"/>
                </a14:hiddenLine>
              </a:ext>
            </a:extLst>
          </p:spPr>
          <p:txBody>
            <a:bodyPr wrap="none">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r>
                <a:rPr lang="en-US" altLang="en-US" sz="2400">
                  <a:solidFill>
                    <a:srgbClr val="0099CC"/>
                  </a:solidFill>
                </a:rPr>
                <a:t>Iteration 2 </a:t>
              </a:r>
            </a:p>
          </p:txBody>
        </p:sp>
        <p:grpSp>
          <p:nvGrpSpPr>
            <p:cNvPr id="10262" name="Group 2068"/>
            <p:cNvGrpSpPr>
              <a:grpSpLocks/>
            </p:cNvGrpSpPr>
            <p:nvPr/>
          </p:nvGrpSpPr>
          <p:grpSpPr bwMode="auto">
            <a:xfrm>
              <a:off x="2062" y="1197"/>
              <a:ext cx="1676" cy="1309"/>
              <a:chOff x="102" y="1249"/>
              <a:chExt cx="1676" cy="1309"/>
            </a:xfrm>
          </p:grpSpPr>
          <p:sp>
            <p:nvSpPr>
              <p:cNvPr id="10263" name="Rectangle 2069"/>
              <p:cNvSpPr>
                <a:spLocks noChangeAspect="1" noChangeArrowheads="1"/>
              </p:cNvSpPr>
              <p:nvPr/>
            </p:nvSpPr>
            <p:spPr bwMode="ltGray">
              <a:xfrm>
                <a:off x="415" y="1557"/>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64" name="Rectangle 2070"/>
              <p:cNvSpPr>
                <a:spLocks noChangeAspect="1" noChangeArrowheads="1"/>
              </p:cNvSpPr>
              <p:nvPr/>
            </p:nvSpPr>
            <p:spPr bwMode="ltGray">
              <a:xfrm>
                <a:off x="102" y="1249"/>
                <a:ext cx="403" cy="191"/>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65" name="Rectangle 2071"/>
              <p:cNvSpPr>
                <a:spLocks noChangeAspect="1" noChangeArrowheads="1"/>
              </p:cNvSpPr>
              <p:nvPr/>
            </p:nvSpPr>
            <p:spPr bwMode="ltGray">
              <a:xfrm>
                <a:off x="757" y="1827"/>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66" name="Rectangle 2072"/>
              <p:cNvSpPr>
                <a:spLocks noChangeAspect="1" noChangeArrowheads="1"/>
              </p:cNvSpPr>
              <p:nvPr/>
            </p:nvSpPr>
            <p:spPr bwMode="ltGray">
              <a:xfrm>
                <a:off x="1375" y="2379"/>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67" name="Rectangle 2073"/>
              <p:cNvSpPr>
                <a:spLocks noChangeAspect="1" noChangeArrowheads="1"/>
              </p:cNvSpPr>
              <p:nvPr/>
            </p:nvSpPr>
            <p:spPr bwMode="ltGray">
              <a:xfrm>
                <a:off x="1074" y="2083"/>
                <a:ext cx="403" cy="191"/>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cxnSp>
            <p:nvCxnSpPr>
              <p:cNvPr id="10268" name="AutoShape 2074"/>
              <p:cNvCxnSpPr>
                <a:cxnSpLocks noChangeAspect="1" noChangeShapeType="1"/>
              </p:cNvCxnSpPr>
              <p:nvPr/>
            </p:nvCxnSpPr>
            <p:spPr bwMode="auto">
              <a:xfrm rot="16200000" flipH="1">
                <a:off x="242" y="1406"/>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69" name="AutoShape 2075"/>
              <p:cNvCxnSpPr>
                <a:cxnSpLocks noChangeAspect="1" noChangeShapeType="1"/>
              </p:cNvCxnSpPr>
              <p:nvPr/>
            </p:nvCxnSpPr>
            <p:spPr bwMode="auto">
              <a:xfrm rot="16200000" flipH="1">
                <a:off x="596" y="1688"/>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70" name="AutoShape 2076"/>
              <p:cNvCxnSpPr>
                <a:cxnSpLocks noChangeAspect="1" noChangeShapeType="1"/>
              </p:cNvCxnSpPr>
              <p:nvPr/>
            </p:nvCxnSpPr>
            <p:spPr bwMode="auto">
              <a:xfrm rot="16200000" flipH="1">
                <a:off x="902" y="1970"/>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71" name="AutoShape 2077"/>
              <p:cNvCxnSpPr>
                <a:cxnSpLocks noChangeAspect="1" noChangeShapeType="1"/>
              </p:cNvCxnSpPr>
              <p:nvPr/>
            </p:nvCxnSpPr>
            <p:spPr bwMode="auto">
              <a:xfrm rot="16200000" flipH="1">
                <a:off x="1214" y="2240"/>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grpSp>
      </p:grpSp>
      <p:sp>
        <p:nvSpPr>
          <p:cNvPr id="10247" name="Text Box 2078"/>
          <p:cNvSpPr txBox="1">
            <a:spLocks noChangeArrowheads="1"/>
          </p:cNvSpPr>
          <p:nvPr/>
        </p:nvSpPr>
        <p:spPr bwMode="auto">
          <a:xfrm>
            <a:off x="6948488" y="1431925"/>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lg" len="lg"/>
              </a14:hiddenLine>
            </a:ext>
          </a:extLst>
        </p:spPr>
        <p:txBody>
          <a:bodyPr wrap="none">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r>
              <a:rPr lang="en-US" altLang="en-US" sz="2400">
                <a:solidFill>
                  <a:srgbClr val="0099CC"/>
                </a:solidFill>
              </a:rPr>
              <a:t>Iteration 3</a:t>
            </a:r>
            <a:r>
              <a:rPr lang="en-US" altLang="en-US" sz="2400">
                <a:solidFill>
                  <a:srgbClr val="0099CC"/>
                </a:solidFill>
                <a:latin typeface="Times New Roman" panose="02020603050405020304" pitchFamily="18" charset="0"/>
              </a:rPr>
              <a:t> </a:t>
            </a:r>
          </a:p>
        </p:txBody>
      </p:sp>
      <p:sp>
        <p:nvSpPr>
          <p:cNvPr id="10248" name="Line 2079"/>
          <p:cNvSpPr>
            <a:spLocks noChangeShapeType="1"/>
          </p:cNvSpPr>
          <p:nvPr/>
        </p:nvSpPr>
        <p:spPr bwMode="auto">
          <a:xfrm>
            <a:off x="6191250" y="1554163"/>
            <a:ext cx="14288" cy="2981325"/>
          </a:xfrm>
          <a:prstGeom prst="line">
            <a:avLst/>
          </a:prstGeom>
          <a:noFill/>
          <a:ln w="38100">
            <a:solidFill>
              <a:schemeClr val="bg1"/>
            </a:solidFill>
            <a:prstDash val="dashDot"/>
            <a:round/>
            <a:headEnd type="none" w="sm" len="sm"/>
            <a:tailEnd type="none" w="lg" len="lg"/>
          </a:ln>
          <a:extLst>
            <a:ext uri="{909E8E84-426E-40DD-AFC4-6F175D3DCCD1}">
              <a14:hiddenFill xmlns:a14="http://schemas.microsoft.com/office/drawing/2010/main">
                <a:noFill/>
              </a14:hiddenFill>
            </a:ext>
          </a:extLst>
        </p:spPr>
        <p:txBody>
          <a:bodyPr wrap="none" anchor="ctr"/>
          <a:lstStyle/>
          <a:p>
            <a:pPr algn="ctr"/>
            <a:endParaRPr lang="en-GB" b="1">
              <a:solidFill>
                <a:srgbClr val="000000"/>
              </a:solidFill>
              <a:latin typeface="Arial" panose="020B0604020202020204" pitchFamily="34" charset="0"/>
            </a:endParaRPr>
          </a:p>
        </p:txBody>
      </p:sp>
      <p:grpSp>
        <p:nvGrpSpPr>
          <p:cNvPr id="10249" name="Group 2080"/>
          <p:cNvGrpSpPr>
            <a:grpSpLocks/>
          </p:cNvGrpSpPr>
          <p:nvPr/>
        </p:nvGrpSpPr>
        <p:grpSpPr bwMode="auto">
          <a:xfrm>
            <a:off x="6369050" y="2205038"/>
            <a:ext cx="2660650" cy="2078037"/>
            <a:chOff x="102" y="1249"/>
            <a:chExt cx="1676" cy="1309"/>
          </a:xfrm>
        </p:grpSpPr>
        <p:sp>
          <p:nvSpPr>
            <p:cNvPr id="10252" name="Rectangle 2081"/>
            <p:cNvSpPr>
              <a:spLocks noChangeAspect="1" noChangeArrowheads="1"/>
            </p:cNvSpPr>
            <p:nvPr/>
          </p:nvSpPr>
          <p:spPr bwMode="ltGray">
            <a:xfrm>
              <a:off x="415" y="1557"/>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53" name="Rectangle 2082"/>
            <p:cNvSpPr>
              <a:spLocks noChangeAspect="1" noChangeArrowheads="1"/>
            </p:cNvSpPr>
            <p:nvPr/>
          </p:nvSpPr>
          <p:spPr bwMode="ltGray">
            <a:xfrm>
              <a:off x="102" y="1249"/>
              <a:ext cx="403" cy="191"/>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54" name="Rectangle 2083"/>
            <p:cNvSpPr>
              <a:spLocks noChangeAspect="1" noChangeArrowheads="1"/>
            </p:cNvSpPr>
            <p:nvPr/>
          </p:nvSpPr>
          <p:spPr bwMode="ltGray">
            <a:xfrm>
              <a:off x="757" y="1827"/>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55" name="Rectangle 2084"/>
            <p:cNvSpPr>
              <a:spLocks noChangeAspect="1" noChangeArrowheads="1"/>
            </p:cNvSpPr>
            <p:nvPr/>
          </p:nvSpPr>
          <p:spPr bwMode="ltGray">
            <a:xfrm>
              <a:off x="1375" y="2379"/>
              <a:ext cx="403" cy="179"/>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sp>
          <p:nvSpPr>
            <p:cNvPr id="10256" name="Rectangle 2085"/>
            <p:cNvSpPr>
              <a:spLocks noChangeAspect="1" noChangeArrowheads="1"/>
            </p:cNvSpPr>
            <p:nvPr/>
          </p:nvSpPr>
          <p:spPr bwMode="ltGray">
            <a:xfrm>
              <a:off x="1074" y="2083"/>
              <a:ext cx="403" cy="191"/>
            </a:xfrm>
            <a:prstGeom prst="rect">
              <a:avLst/>
            </a:prstGeom>
            <a:solidFill>
              <a:schemeClr val="hlink"/>
            </a:solidFill>
            <a:ln w="12700">
              <a:solidFill>
                <a:schemeClr val="bg1"/>
              </a:solidFill>
              <a:miter lim="800000"/>
              <a:headEnd/>
              <a:tailEnd/>
            </a:ln>
          </p:spPr>
          <p:txBody>
            <a:bodyPr wrap="none" lIns="81209" tIns="40605" rIns="81209" bIns="40605" anchor="ctr"/>
            <a:lstStyle>
              <a:lvl1pPr defTabSz="862013" eaLnBrk="0" hangingPunct="0">
                <a:defRPr b="1">
                  <a:solidFill>
                    <a:schemeClr val="bg1"/>
                  </a:solidFill>
                  <a:latin typeface="Arial" panose="020B0604020202020204" pitchFamily="34" charset="0"/>
                  <a:cs typeface="Arial" panose="020B0604020202020204" pitchFamily="34" charset="0"/>
                </a:defRPr>
              </a:lvl1pPr>
              <a:lvl2pPr marL="742950" indent="-285750" defTabSz="862013" eaLnBrk="0" hangingPunct="0">
                <a:defRPr b="1">
                  <a:solidFill>
                    <a:schemeClr val="bg1"/>
                  </a:solidFill>
                  <a:latin typeface="Arial" panose="020B0604020202020204" pitchFamily="34" charset="0"/>
                  <a:cs typeface="Arial" panose="020B0604020202020204" pitchFamily="34" charset="0"/>
                </a:defRPr>
              </a:lvl2pPr>
              <a:lvl3pPr marL="1143000" indent="-228600" defTabSz="862013" eaLnBrk="0" hangingPunct="0">
                <a:defRPr b="1">
                  <a:solidFill>
                    <a:schemeClr val="bg1"/>
                  </a:solidFill>
                  <a:latin typeface="Arial" panose="020B0604020202020204" pitchFamily="34" charset="0"/>
                  <a:cs typeface="Arial" panose="020B0604020202020204" pitchFamily="34" charset="0"/>
                </a:defRPr>
              </a:lvl3pPr>
              <a:lvl4pPr marL="1600200" indent="-228600" defTabSz="862013" eaLnBrk="0" hangingPunct="0">
                <a:defRPr b="1">
                  <a:solidFill>
                    <a:schemeClr val="bg1"/>
                  </a:solidFill>
                  <a:latin typeface="Arial" panose="020B0604020202020204" pitchFamily="34" charset="0"/>
                  <a:cs typeface="Arial" panose="020B0604020202020204" pitchFamily="34" charset="0"/>
                </a:defRPr>
              </a:lvl4pPr>
              <a:lvl5pPr marL="2057400" indent="-228600" defTabSz="86201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6201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lnSpc>
                  <a:spcPct val="87000"/>
                </a:lnSpc>
              </a:pPr>
              <a:endParaRPr lang="en-US" altLang="en-US" sz="1600">
                <a:solidFill>
                  <a:srgbClr val="FFFFFF"/>
                </a:solidFill>
                <a:latin typeface="Times New Roman" panose="02020603050405020304" pitchFamily="18" charset="0"/>
              </a:endParaRPr>
            </a:p>
          </p:txBody>
        </p:sp>
        <p:cxnSp>
          <p:nvCxnSpPr>
            <p:cNvPr id="10257" name="AutoShape 2086"/>
            <p:cNvCxnSpPr>
              <a:cxnSpLocks noChangeAspect="1" noChangeShapeType="1"/>
            </p:cNvCxnSpPr>
            <p:nvPr/>
          </p:nvCxnSpPr>
          <p:spPr bwMode="auto">
            <a:xfrm rot="16200000" flipH="1">
              <a:off x="242" y="1406"/>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58" name="AutoShape 2087"/>
            <p:cNvCxnSpPr>
              <a:cxnSpLocks noChangeAspect="1" noChangeShapeType="1"/>
            </p:cNvCxnSpPr>
            <p:nvPr/>
          </p:nvCxnSpPr>
          <p:spPr bwMode="auto">
            <a:xfrm rot="16200000" flipH="1">
              <a:off x="596" y="1688"/>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59" name="AutoShape 2088"/>
            <p:cNvCxnSpPr>
              <a:cxnSpLocks noChangeAspect="1" noChangeShapeType="1"/>
            </p:cNvCxnSpPr>
            <p:nvPr/>
          </p:nvCxnSpPr>
          <p:spPr bwMode="auto">
            <a:xfrm rot="16200000" flipH="1">
              <a:off x="902" y="1970"/>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cxnSp>
          <p:nvCxnSpPr>
            <p:cNvPr id="10260" name="AutoShape 2089"/>
            <p:cNvCxnSpPr>
              <a:cxnSpLocks noChangeAspect="1" noChangeShapeType="1"/>
            </p:cNvCxnSpPr>
            <p:nvPr/>
          </p:nvCxnSpPr>
          <p:spPr bwMode="auto">
            <a:xfrm rot="16200000" flipH="1">
              <a:off x="1214" y="2240"/>
              <a:ext cx="110" cy="201"/>
            </a:xfrm>
            <a:prstGeom prst="bentConnector2">
              <a:avLst/>
            </a:prstGeom>
            <a:noFill/>
            <a:ln w="15875">
              <a:solidFill>
                <a:schemeClr val="bg1"/>
              </a:solidFill>
              <a:miter lim="800000"/>
              <a:headEnd type="none" w="sm" len="sm"/>
              <a:tailEnd type="triangle" w="med" len="lg"/>
            </a:ln>
            <a:extLst>
              <a:ext uri="{909E8E84-426E-40DD-AFC4-6F175D3DCCD1}">
                <a14:hiddenFill xmlns:a14="http://schemas.microsoft.com/office/drawing/2010/main">
                  <a:noFill/>
                </a14:hiddenFill>
              </a:ext>
            </a:extLst>
          </p:spPr>
        </p:cxnSp>
      </p:grpSp>
      <p:sp>
        <p:nvSpPr>
          <p:cNvPr id="2039850" name="Line 2090"/>
          <p:cNvSpPr>
            <a:spLocks noChangeAspect="1" noChangeShapeType="1"/>
          </p:cNvSpPr>
          <p:nvPr/>
        </p:nvSpPr>
        <p:spPr bwMode="auto">
          <a:xfrm>
            <a:off x="3276600" y="4564063"/>
            <a:ext cx="2554288" cy="0"/>
          </a:xfrm>
          <a:prstGeom prst="line">
            <a:avLst/>
          </a:prstGeom>
          <a:noFill/>
          <a:ln w="381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lIns="80786" tIns="40392" rIns="80786" bIns="40392">
            <a:spAutoFit/>
          </a:bodyPr>
          <a:lstStyle/>
          <a:p>
            <a:pPr algn="ctr"/>
            <a:endParaRPr lang="en-GB" b="1">
              <a:solidFill>
                <a:srgbClr val="000000"/>
              </a:solidFill>
              <a:latin typeface="Arial" panose="020B0604020202020204" pitchFamily="34" charset="0"/>
            </a:endParaRPr>
          </a:p>
        </p:txBody>
      </p:sp>
      <p:sp>
        <p:nvSpPr>
          <p:cNvPr id="2039851" name="Line 2091"/>
          <p:cNvSpPr>
            <a:spLocks noChangeAspect="1" noChangeShapeType="1"/>
          </p:cNvSpPr>
          <p:nvPr/>
        </p:nvSpPr>
        <p:spPr bwMode="auto">
          <a:xfrm>
            <a:off x="304800" y="4564063"/>
            <a:ext cx="2554288" cy="0"/>
          </a:xfrm>
          <a:prstGeom prst="line">
            <a:avLst/>
          </a:prstGeom>
          <a:noFill/>
          <a:ln w="38100">
            <a:solidFill>
              <a:schemeClr val="bg1"/>
            </a:solidFill>
            <a:round/>
            <a:headEnd type="none" w="sm" len="sm"/>
            <a:tailEnd type="stealth" w="lg" len="lg"/>
          </a:ln>
          <a:extLst>
            <a:ext uri="{909E8E84-426E-40DD-AFC4-6F175D3DCCD1}">
              <a14:hiddenFill xmlns:a14="http://schemas.microsoft.com/office/drawing/2010/main">
                <a:noFill/>
              </a14:hiddenFill>
            </a:ext>
          </a:extLst>
        </p:spPr>
        <p:txBody>
          <a:bodyPr lIns="80786" tIns="40392" rIns="80786" bIns="40392">
            <a:spAutoFit/>
          </a:bodyPr>
          <a:lstStyle/>
          <a:p>
            <a:pPr algn="ctr"/>
            <a:endParaRPr lang="en-GB" b="1">
              <a:solidFill>
                <a:srgbClr val="000000"/>
              </a:solidFill>
              <a:latin typeface="Arial" panose="020B0604020202020204" pitchFamily="34" charset="0"/>
            </a:endParaRPr>
          </a:p>
        </p:txBody>
      </p:sp>
    </p:spTree>
    <p:extLst>
      <p:ext uri="{BB962C8B-B14F-4D97-AF65-F5344CB8AC3E}">
        <p14:creationId xmlns:p14="http://schemas.microsoft.com/office/powerpoint/2010/main" val="3640147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039851"/>
                                        </p:tgtEl>
                                        <p:attrNameLst>
                                          <p:attrName>style.visibility</p:attrName>
                                        </p:attrNameLst>
                                      </p:cBhvr>
                                      <p:to>
                                        <p:strVal val="visible"/>
                                      </p:to>
                                    </p:set>
                                    <p:animEffect transition="in" filter="slide(fromLeft)">
                                      <p:cBhvr>
                                        <p:cTn id="7" dur="500"/>
                                        <p:tgtEl>
                                          <p:spTgt spid="2039851"/>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2039850"/>
                                        </p:tgtEl>
                                        <p:attrNameLst>
                                          <p:attrName>style.visibility</p:attrName>
                                        </p:attrNameLst>
                                      </p:cBhvr>
                                      <p:to>
                                        <p:strVal val="visible"/>
                                      </p:to>
                                    </p:set>
                                    <p:animEffect transition="in" filter="slide(fromLeft)">
                                      <p:cBhvr>
                                        <p:cTn id="11" dur="500"/>
                                        <p:tgtEl>
                                          <p:spTgt spid="2039850"/>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039812"/>
                                        </p:tgtEl>
                                        <p:attrNameLst>
                                          <p:attrName>style.visibility</p:attrName>
                                        </p:attrNameLst>
                                      </p:cBhvr>
                                      <p:to>
                                        <p:strVal val="visible"/>
                                      </p:to>
                                    </p:set>
                                    <p:animEffect transition="in" filter="slide(fromLeft)">
                                      <p:cBhvr>
                                        <p:cTn id="15" dur="500"/>
                                        <p:tgtEl>
                                          <p:spTgt spid="2039812"/>
                                        </p:tgtEl>
                                      </p:cBhvr>
                                    </p:animEffect>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499"/>
                                          </p:stCondLst>
                                        </p:cTn>
                                        <p:tgtEl>
                                          <p:spTgt spid="2039811">
                                            <p:txEl>
                                              <p:pRg st="0" end="0"/>
                                            </p:txEl>
                                          </p:spTgt>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0"/>
                                  </p:stCondLst>
                                  <p:childTnLst>
                                    <p:set>
                                      <p:cBhvr>
                                        <p:cTn id="21" dur="1" fill="hold">
                                          <p:stCondLst>
                                            <p:cond delay="499"/>
                                          </p:stCondLst>
                                        </p:cTn>
                                        <p:tgtEl>
                                          <p:spTgt spid="2039811">
                                            <p:txEl>
                                              <p:pRg st="1" end="1"/>
                                            </p:txEl>
                                          </p:spTgt>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0"/>
                                  </p:stCondLst>
                                  <p:childTnLst>
                                    <p:set>
                                      <p:cBhvr>
                                        <p:cTn id="24" dur="1" fill="hold">
                                          <p:stCondLst>
                                            <p:cond delay="499"/>
                                          </p:stCondLst>
                                        </p:cTn>
                                        <p:tgtEl>
                                          <p:spTgt spid="2039811">
                                            <p:txEl>
                                              <p:pRg st="2" end="2"/>
                                            </p:txEl>
                                          </p:spTgt>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0"/>
                                  </p:stCondLst>
                                  <p:childTnLst>
                                    <p:set>
                                      <p:cBhvr>
                                        <p:cTn id="27" dur="1" fill="hold">
                                          <p:stCondLst>
                                            <p:cond delay="499"/>
                                          </p:stCondLst>
                                        </p:cTn>
                                        <p:tgtEl>
                                          <p:spTgt spid="20398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9811" grpId="0" build="p" autoUpdateAnimBg="0" advAuto="0"/>
      <p:bldP spid="2039812" grpId="0" animBg="1"/>
      <p:bldP spid="2039850" grpId="0" animBg="1"/>
      <p:bldP spid="203985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title"/>
          </p:nvPr>
        </p:nvSpPr>
        <p:spPr>
          <a:xfrm>
            <a:off x="395288" y="260350"/>
            <a:ext cx="8382000" cy="646113"/>
          </a:xfrm>
        </p:spPr>
        <p:txBody>
          <a:bodyPr>
            <a:spAutoFit/>
          </a:bodyPr>
          <a:lstStyle/>
          <a:p>
            <a:pPr eaLnBrk="1" hangingPunct="1"/>
            <a:r>
              <a:rPr lang="en-GB" altLang="en-US" smtClean="0"/>
              <a:t>RUP 9 principles and 4 phases</a:t>
            </a:r>
          </a:p>
        </p:txBody>
      </p:sp>
      <p:sp>
        <p:nvSpPr>
          <p:cNvPr id="103426" name="Slide Number Placeholder 5"/>
          <p:cNvSpPr>
            <a:spLocks noGrp="1"/>
          </p:cNvSpPr>
          <p:nvPr>
            <p:ph type="sldNum" sz="quarter" idx="12"/>
          </p:nvPr>
        </p:nvSpPr>
        <p:spPr bwMode="auto">
          <a:xfrm>
            <a:off x="8567738" y="6237288"/>
            <a:ext cx="576262"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E1CF8224-338C-4446-9A88-2FFB22932422}"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55</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03428" name="Rectangle 4"/>
          <p:cNvSpPr>
            <a:spLocks noChangeArrowheads="1"/>
          </p:cNvSpPr>
          <p:nvPr/>
        </p:nvSpPr>
        <p:spPr bwMode="auto">
          <a:xfrm>
            <a:off x="6875463"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44D0A77D-0D59-4100-9A32-B3356B34DA38}"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pic>
        <p:nvPicPr>
          <p:cNvPr id="103429" name="Picture 4" descr="Spiral%20RupV1%5bRUP%5d"/>
          <p:cNvPicPr>
            <a:picLocks noChangeAspect="1" noChangeArrowheads="1"/>
          </p:cNvPicPr>
          <p:nvPr/>
        </p:nvPicPr>
        <p:blipFill>
          <a:blip r:embed="rId2" cstate="print">
            <a:lum bright="-6000" contrast="18000"/>
            <a:extLst>
              <a:ext uri="{28A0092B-C50C-407E-A947-70E740481C1C}">
                <a14:useLocalDpi xmlns:a14="http://schemas.microsoft.com/office/drawing/2010/main" val="0"/>
              </a:ext>
            </a:extLst>
          </a:blip>
          <a:srcRect/>
          <a:stretch>
            <a:fillRect/>
          </a:stretch>
        </p:blipFill>
        <p:spPr bwMode="auto">
          <a:xfrm>
            <a:off x="179388" y="1341438"/>
            <a:ext cx="8642350" cy="448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88289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5875" y="1828800"/>
            <a:ext cx="157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r>
              <a:rPr lang="en-US" altLang="en-US" sz="2000">
                <a:solidFill>
                  <a:srgbClr val="000000"/>
                </a:solidFill>
                <a:latin typeface="Arial Narrow" panose="020B0606020202030204" pitchFamily="34" charset="0"/>
              </a:rPr>
              <a:t>Inception</a:t>
            </a:r>
          </a:p>
        </p:txBody>
      </p:sp>
      <p:sp>
        <p:nvSpPr>
          <p:cNvPr id="12292" name="Rectangle 4"/>
          <p:cNvSpPr>
            <a:spLocks noGrp="1" noChangeArrowheads="1"/>
          </p:cNvSpPr>
          <p:nvPr>
            <p:ph type="title"/>
          </p:nvPr>
        </p:nvSpPr>
        <p:spPr>
          <a:xfrm>
            <a:off x="153988" y="565150"/>
            <a:ext cx="8990012" cy="498475"/>
          </a:xfrm>
        </p:spPr>
        <p:txBody>
          <a:bodyPr>
            <a:normAutofit fontScale="90000"/>
          </a:bodyPr>
          <a:lstStyle/>
          <a:p>
            <a:pPr eaLnBrk="1" hangingPunct="1"/>
            <a:r>
              <a:rPr lang="en-US" altLang="en-US" smtClean="0"/>
              <a:t>Iterative Development Phases</a:t>
            </a:r>
          </a:p>
        </p:txBody>
      </p:sp>
      <p:sp>
        <p:nvSpPr>
          <p:cNvPr id="12291" name="Rectangle 3"/>
          <p:cNvSpPr>
            <a:spLocks noGrp="1" noChangeArrowheads="1"/>
          </p:cNvSpPr>
          <p:nvPr>
            <p:ph idx="1"/>
          </p:nvPr>
        </p:nvSpPr>
        <p:spPr>
          <a:xfrm>
            <a:off x="441325" y="3200400"/>
            <a:ext cx="8702675" cy="2811463"/>
          </a:xfrm>
        </p:spPr>
        <p:txBody>
          <a:bodyPr lIns="0" tIns="0" rIns="0" bIns="0">
            <a:spAutoFit/>
          </a:bodyPr>
          <a:lstStyle/>
          <a:p>
            <a:pPr marL="1833563" indent="-1833563" eaLnBrk="1" hangingPunct="1">
              <a:lnSpc>
                <a:spcPct val="45000"/>
              </a:lnSpc>
              <a:spcBef>
                <a:spcPct val="50000"/>
              </a:spcBef>
              <a:buFont typeface="Wingdings" panose="05000000000000000000" pitchFamily="2" charset="2"/>
              <a:buNone/>
              <a:tabLst>
                <a:tab pos="1714500" algn="r"/>
              </a:tabLst>
            </a:pPr>
            <a:r>
              <a:rPr lang="en-US" altLang="en-US" sz="1800" smtClean="0"/>
              <a:t>	Inception:	 Agreement on overall scope</a:t>
            </a:r>
          </a:p>
          <a:p>
            <a:pPr marL="2222500" lvl="1" indent="-274638" eaLnBrk="1" hangingPunct="1">
              <a:lnSpc>
                <a:spcPct val="45000"/>
              </a:lnSpc>
              <a:spcBef>
                <a:spcPct val="50000"/>
              </a:spcBef>
              <a:tabLst>
                <a:tab pos="1714500" algn="r"/>
              </a:tabLst>
            </a:pPr>
            <a:r>
              <a:rPr lang="en-US" altLang="en-US" smtClean="0"/>
              <a:t>Vision, high-level requirements, business case</a:t>
            </a:r>
          </a:p>
          <a:p>
            <a:pPr marL="2222500" lvl="1" indent="-274638" eaLnBrk="1" hangingPunct="1">
              <a:lnSpc>
                <a:spcPct val="45000"/>
              </a:lnSpc>
              <a:spcBef>
                <a:spcPct val="50000"/>
              </a:spcBef>
              <a:tabLst>
                <a:tab pos="1714500" algn="r"/>
              </a:tabLst>
            </a:pPr>
            <a:r>
              <a:rPr lang="en-US" altLang="en-US" u="sng" smtClean="0"/>
              <a:t>Not</a:t>
            </a:r>
            <a:r>
              <a:rPr lang="en-US" altLang="en-US" smtClean="0"/>
              <a:t> detailed requirements</a:t>
            </a:r>
            <a:br>
              <a:rPr lang="en-US" altLang="en-US" smtClean="0"/>
            </a:br>
            <a:endParaRPr lang="en-US" altLang="en-US" smtClean="0"/>
          </a:p>
          <a:p>
            <a:pPr marL="1833563" indent="-1833563" eaLnBrk="1" hangingPunct="1">
              <a:lnSpc>
                <a:spcPct val="45000"/>
              </a:lnSpc>
              <a:spcBef>
                <a:spcPct val="50000"/>
              </a:spcBef>
              <a:buFont typeface="Wingdings" panose="05000000000000000000" pitchFamily="2" charset="2"/>
              <a:buNone/>
              <a:tabLst>
                <a:tab pos="1714500" algn="r"/>
              </a:tabLst>
            </a:pPr>
            <a:r>
              <a:rPr lang="en-US" altLang="en-US" sz="1800" smtClean="0"/>
              <a:t>	Elaboration:	 Agreement on design approach </a:t>
            </a:r>
          </a:p>
          <a:p>
            <a:pPr marL="2222500" lvl="1" indent="-274638" eaLnBrk="1" hangingPunct="1">
              <a:lnSpc>
                <a:spcPct val="45000"/>
              </a:lnSpc>
              <a:spcBef>
                <a:spcPct val="50000"/>
              </a:spcBef>
              <a:tabLst>
                <a:tab pos="1714500" algn="r"/>
              </a:tabLst>
            </a:pPr>
            <a:r>
              <a:rPr lang="en-US" altLang="en-US" smtClean="0"/>
              <a:t>Baseline architecture, most requirements detailed</a:t>
            </a:r>
          </a:p>
          <a:p>
            <a:pPr marL="2222500" lvl="1" indent="-274638" eaLnBrk="1" hangingPunct="1">
              <a:lnSpc>
                <a:spcPct val="45000"/>
              </a:lnSpc>
              <a:spcBef>
                <a:spcPct val="50000"/>
              </a:spcBef>
              <a:tabLst>
                <a:tab pos="1714500" algn="r"/>
              </a:tabLst>
            </a:pPr>
            <a:r>
              <a:rPr lang="en-US" altLang="en-US" u="sng" smtClean="0"/>
              <a:t>Not</a:t>
            </a:r>
            <a:r>
              <a:rPr lang="en-US" altLang="en-US" smtClean="0"/>
              <a:t> detailed design</a:t>
            </a:r>
            <a:br>
              <a:rPr lang="en-US" altLang="en-US" smtClean="0"/>
            </a:br>
            <a:endParaRPr lang="en-US" altLang="en-US" smtClean="0"/>
          </a:p>
          <a:p>
            <a:pPr marL="1833563" indent="-1833563" eaLnBrk="1" hangingPunct="1">
              <a:lnSpc>
                <a:spcPct val="45000"/>
              </a:lnSpc>
              <a:spcBef>
                <a:spcPct val="50000"/>
              </a:spcBef>
              <a:buFont typeface="Wingdings" panose="05000000000000000000" pitchFamily="2" charset="2"/>
              <a:buNone/>
              <a:tabLst>
                <a:tab pos="1714500" algn="r"/>
              </a:tabLst>
            </a:pPr>
            <a:r>
              <a:rPr lang="en-US" altLang="en-US" sz="1800" smtClean="0"/>
              <a:t>	Construction:	 Apply approach</a:t>
            </a:r>
          </a:p>
          <a:p>
            <a:pPr marL="2222500" lvl="1" indent="-274638" eaLnBrk="1" hangingPunct="1">
              <a:lnSpc>
                <a:spcPct val="45000"/>
              </a:lnSpc>
              <a:spcBef>
                <a:spcPct val="50000"/>
              </a:spcBef>
              <a:tabLst>
                <a:tab pos="1714500" algn="r"/>
              </a:tabLst>
            </a:pPr>
            <a:r>
              <a:rPr lang="en-US" altLang="en-US" smtClean="0"/>
              <a:t>Working product, system test complete</a:t>
            </a:r>
            <a:br>
              <a:rPr lang="en-US" altLang="en-US" smtClean="0"/>
            </a:br>
            <a:endParaRPr lang="en-US" altLang="en-US" smtClean="0"/>
          </a:p>
          <a:p>
            <a:pPr marL="1833563" indent="-1833563" eaLnBrk="1" hangingPunct="1">
              <a:lnSpc>
                <a:spcPct val="45000"/>
              </a:lnSpc>
              <a:spcBef>
                <a:spcPct val="50000"/>
              </a:spcBef>
              <a:buFont typeface="Wingdings" panose="05000000000000000000" pitchFamily="2" charset="2"/>
              <a:buNone/>
              <a:tabLst>
                <a:tab pos="1714500" algn="r"/>
              </a:tabLst>
            </a:pPr>
            <a:r>
              <a:rPr lang="en-US" altLang="en-US" sz="1800" smtClean="0"/>
              <a:t>	Transition:	 Validate solution</a:t>
            </a:r>
          </a:p>
          <a:p>
            <a:pPr marL="2222500" lvl="1" indent="-274638" eaLnBrk="1" hangingPunct="1">
              <a:lnSpc>
                <a:spcPct val="45000"/>
              </a:lnSpc>
              <a:spcBef>
                <a:spcPct val="50000"/>
              </a:spcBef>
              <a:tabLst>
                <a:tab pos="1714500" algn="r"/>
              </a:tabLst>
            </a:pPr>
            <a:r>
              <a:rPr lang="en-US" altLang="en-US" smtClean="0"/>
              <a:t>Stakeholder acceptance</a:t>
            </a:r>
          </a:p>
        </p:txBody>
      </p:sp>
      <p:sp>
        <p:nvSpPr>
          <p:cNvPr id="2041861" name="AutoShape 5"/>
          <p:cNvSpPr>
            <a:spLocks noChangeArrowheads="1"/>
          </p:cNvSpPr>
          <p:nvPr/>
        </p:nvSpPr>
        <p:spPr bwMode="invGray">
          <a:xfrm>
            <a:off x="219075" y="2465388"/>
            <a:ext cx="8747125" cy="485775"/>
          </a:xfrm>
          <a:prstGeom prst="rightArrow">
            <a:avLst>
              <a:gd name="adj1" fmla="val 66602"/>
              <a:gd name="adj2" fmla="val 90616"/>
            </a:avLst>
          </a:prstGeom>
          <a:gradFill rotWithShape="0">
            <a:gsLst>
              <a:gs pos="0">
                <a:schemeClr val="accent2">
                  <a:gamma/>
                  <a:shade val="0"/>
                  <a:invGamma/>
                </a:schemeClr>
              </a:gs>
              <a:gs pos="100000">
                <a:schemeClr val="accent2"/>
              </a:gs>
            </a:gsLst>
            <a:lin ang="0" scaled="1"/>
          </a:gradFill>
          <a:ln w="38100">
            <a:noFill/>
            <a:miter lim="800000"/>
            <a:headEnd/>
            <a:tailEnd/>
          </a:ln>
          <a:effectLst/>
        </p:spPr>
        <p:txBody>
          <a:bodyPr wrap="none" tIns="91440" bIns="91440" anchor="ctr"/>
          <a:lstStyle/>
          <a:p>
            <a:pPr algn="ctr">
              <a:defRPr/>
            </a:pPr>
            <a:endParaRPr lang="en-US" b="1">
              <a:solidFill>
                <a:srgbClr val="000000"/>
              </a:solidFill>
              <a:latin typeface="Arial" panose="020B0604020202020204" pitchFamily="34" charset="0"/>
            </a:endParaRPr>
          </a:p>
        </p:txBody>
      </p:sp>
      <p:sp>
        <p:nvSpPr>
          <p:cNvPr id="12294" name="Rectangle 6"/>
          <p:cNvSpPr>
            <a:spLocks noChangeAspect="1" noChangeArrowheads="1"/>
          </p:cNvSpPr>
          <p:nvPr/>
        </p:nvSpPr>
        <p:spPr bwMode="auto">
          <a:xfrm>
            <a:off x="196850" y="2540000"/>
            <a:ext cx="87566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786" tIns="40392" rIns="80786" bIns="40392">
            <a:spAutoFit/>
          </a:bodyPr>
          <a:lstStyle>
            <a:lvl1pPr defTabSz="850900" eaLnBrk="0" hangingPunct="0">
              <a:defRPr b="1">
                <a:solidFill>
                  <a:schemeClr val="bg1"/>
                </a:solidFill>
                <a:latin typeface="Arial" panose="020B0604020202020204" pitchFamily="34" charset="0"/>
                <a:cs typeface="Arial" panose="020B0604020202020204" pitchFamily="34" charset="0"/>
              </a:defRPr>
            </a:lvl1pPr>
            <a:lvl2pPr marL="742950" indent="-285750" defTabSz="850900" eaLnBrk="0" hangingPunct="0">
              <a:defRPr b="1">
                <a:solidFill>
                  <a:schemeClr val="bg1"/>
                </a:solidFill>
                <a:latin typeface="Arial" panose="020B0604020202020204" pitchFamily="34" charset="0"/>
                <a:cs typeface="Arial" panose="020B0604020202020204" pitchFamily="34" charset="0"/>
              </a:defRPr>
            </a:lvl2pPr>
            <a:lvl3pPr marL="1143000" indent="-228600" defTabSz="850900" eaLnBrk="0" hangingPunct="0">
              <a:defRPr b="1">
                <a:solidFill>
                  <a:schemeClr val="bg1"/>
                </a:solidFill>
                <a:latin typeface="Arial" panose="020B0604020202020204" pitchFamily="34" charset="0"/>
                <a:cs typeface="Arial" panose="020B0604020202020204" pitchFamily="34" charset="0"/>
              </a:defRPr>
            </a:lvl3pPr>
            <a:lvl4pPr marL="1600200" indent="-228600" defTabSz="850900" eaLnBrk="0" hangingPunct="0">
              <a:defRPr b="1">
                <a:solidFill>
                  <a:schemeClr val="bg1"/>
                </a:solidFill>
                <a:latin typeface="Arial" panose="020B0604020202020204" pitchFamily="34" charset="0"/>
                <a:cs typeface="Arial" panose="020B0604020202020204" pitchFamily="34" charset="0"/>
              </a:defRPr>
            </a:lvl4pPr>
            <a:lvl5pPr marL="2057400" indent="-228600" defTabSz="850900"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850900"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850900"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850900"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850900"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lnSpc>
                <a:spcPct val="90000"/>
              </a:lnSpc>
            </a:pPr>
            <a:r>
              <a:rPr lang="en-US" altLang="en-US" sz="2000" b="0">
                <a:solidFill>
                  <a:srgbClr val="000000"/>
                </a:solidFill>
                <a:latin typeface="Arial Black" panose="020B0A04020102020204" pitchFamily="34" charset="0"/>
              </a:rPr>
              <a:t>Time</a:t>
            </a:r>
          </a:p>
        </p:txBody>
      </p:sp>
      <p:grpSp>
        <p:nvGrpSpPr>
          <p:cNvPr id="12295" name="Group 7"/>
          <p:cNvGrpSpPr>
            <a:grpSpLocks/>
          </p:cNvGrpSpPr>
          <p:nvPr/>
        </p:nvGrpSpPr>
        <p:grpSpPr bwMode="auto">
          <a:xfrm>
            <a:off x="230188" y="1055688"/>
            <a:ext cx="8913812" cy="1190625"/>
            <a:chOff x="145" y="665"/>
            <a:chExt cx="5615" cy="750"/>
          </a:xfrm>
        </p:grpSpPr>
        <p:sp>
          <p:nvSpPr>
            <p:cNvPr id="12296" name="Rectangle 8"/>
            <p:cNvSpPr>
              <a:spLocks noChangeArrowheads="1"/>
            </p:cNvSpPr>
            <p:nvPr/>
          </p:nvSpPr>
          <p:spPr bwMode="auto">
            <a:xfrm>
              <a:off x="145" y="1060"/>
              <a:ext cx="706" cy="35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228600" tIns="228600" rIns="228600" bIns="22860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endParaRPr lang="en-US" altLang="en-US" sz="2000">
                <a:solidFill>
                  <a:srgbClr val="000000"/>
                </a:solidFill>
                <a:latin typeface="Arial Narrow" panose="020B0606020202030204" pitchFamily="34" charset="0"/>
              </a:endParaRPr>
            </a:p>
          </p:txBody>
        </p:sp>
        <p:sp>
          <p:nvSpPr>
            <p:cNvPr id="12297" name="Rectangle 9"/>
            <p:cNvSpPr>
              <a:spLocks noChangeArrowheads="1"/>
            </p:cNvSpPr>
            <p:nvPr/>
          </p:nvSpPr>
          <p:spPr bwMode="auto">
            <a:xfrm>
              <a:off x="846" y="1060"/>
              <a:ext cx="1414" cy="35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228600" tIns="228600" rIns="228600" bIns="22860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endParaRPr lang="en-US" altLang="en-US">
                <a:solidFill>
                  <a:srgbClr val="000000"/>
                </a:solidFill>
              </a:endParaRPr>
            </a:p>
          </p:txBody>
        </p:sp>
        <p:sp>
          <p:nvSpPr>
            <p:cNvPr id="12298" name="Rectangle 10"/>
            <p:cNvSpPr>
              <a:spLocks noChangeArrowheads="1"/>
            </p:cNvSpPr>
            <p:nvPr/>
          </p:nvSpPr>
          <p:spPr bwMode="auto">
            <a:xfrm>
              <a:off x="2260" y="1060"/>
              <a:ext cx="2016" cy="35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228600" tIns="228600" rIns="228600" bIns="22860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endParaRPr lang="en-US" altLang="en-US">
                <a:solidFill>
                  <a:srgbClr val="000000"/>
                </a:solidFill>
              </a:endParaRPr>
            </a:p>
          </p:txBody>
        </p:sp>
        <p:sp>
          <p:nvSpPr>
            <p:cNvPr id="12299" name="Rectangle 11"/>
            <p:cNvSpPr>
              <a:spLocks noChangeArrowheads="1"/>
            </p:cNvSpPr>
            <p:nvPr/>
          </p:nvSpPr>
          <p:spPr bwMode="auto">
            <a:xfrm>
              <a:off x="4276" y="1060"/>
              <a:ext cx="1368" cy="35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228600" tIns="228600" rIns="228600" bIns="22860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eaLnBrk="1" hangingPunct="1"/>
              <a:endParaRPr lang="en-US" altLang="en-US">
                <a:solidFill>
                  <a:srgbClr val="000000"/>
                </a:solidFill>
              </a:endParaRPr>
            </a:p>
          </p:txBody>
        </p:sp>
        <p:sp>
          <p:nvSpPr>
            <p:cNvPr id="12300" name="Text Box 12"/>
            <p:cNvSpPr txBox="1">
              <a:spLocks noChangeArrowheads="1"/>
            </p:cNvSpPr>
            <p:nvPr/>
          </p:nvSpPr>
          <p:spPr bwMode="auto">
            <a:xfrm>
              <a:off x="894" y="1152"/>
              <a:ext cx="13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r>
                <a:rPr lang="en-US" altLang="en-US" sz="2000">
                  <a:solidFill>
                    <a:srgbClr val="000000"/>
                  </a:solidFill>
                  <a:latin typeface="Arial Narrow" panose="020B0606020202030204" pitchFamily="34" charset="0"/>
                </a:rPr>
                <a:t>Elaboration</a:t>
              </a:r>
            </a:p>
          </p:txBody>
        </p:sp>
        <p:sp>
          <p:nvSpPr>
            <p:cNvPr id="12301" name="Text Box 13"/>
            <p:cNvSpPr txBox="1">
              <a:spLocks noChangeArrowheads="1"/>
            </p:cNvSpPr>
            <p:nvPr/>
          </p:nvSpPr>
          <p:spPr bwMode="auto">
            <a:xfrm>
              <a:off x="2300" y="1152"/>
              <a:ext cx="19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r>
                <a:rPr lang="en-US" altLang="en-US" sz="2000">
                  <a:solidFill>
                    <a:srgbClr val="000000"/>
                  </a:solidFill>
                  <a:latin typeface="Arial Narrow" panose="020B0606020202030204" pitchFamily="34" charset="0"/>
                </a:rPr>
                <a:t>Construction</a:t>
              </a:r>
            </a:p>
          </p:txBody>
        </p:sp>
        <p:sp>
          <p:nvSpPr>
            <p:cNvPr id="12302" name="Text Box 14"/>
            <p:cNvSpPr txBox="1">
              <a:spLocks noChangeArrowheads="1"/>
            </p:cNvSpPr>
            <p:nvPr/>
          </p:nvSpPr>
          <p:spPr bwMode="auto">
            <a:xfrm>
              <a:off x="4288" y="1152"/>
              <a:ext cx="134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ctr"/>
              <a:r>
                <a:rPr lang="en-US" altLang="en-US" sz="2000">
                  <a:solidFill>
                    <a:srgbClr val="000000"/>
                  </a:solidFill>
                  <a:latin typeface="Arial Narrow" panose="020B0606020202030204" pitchFamily="34" charset="0"/>
                </a:rPr>
                <a:t>Transition</a:t>
              </a:r>
            </a:p>
          </p:txBody>
        </p:sp>
        <p:sp>
          <p:nvSpPr>
            <p:cNvPr id="2041871" name="AutoShape 15"/>
            <p:cNvSpPr>
              <a:spLocks noChangeArrowheads="1"/>
            </p:cNvSpPr>
            <p:nvPr/>
          </p:nvSpPr>
          <p:spPr bwMode="invGray">
            <a:xfrm>
              <a:off x="5508" y="891"/>
              <a:ext cx="252" cy="240"/>
            </a:xfrm>
            <a:prstGeom prst="star5">
              <a:avLst/>
            </a:prstGeom>
            <a:solidFill>
              <a:schemeClr val="hlink"/>
            </a:solidFill>
            <a:ln w="38100">
              <a:noFill/>
              <a:miter lim="800000"/>
              <a:headEnd/>
              <a:tailEnd/>
            </a:ln>
            <a:effectLst/>
          </p:spPr>
          <p:txBody>
            <a:bodyPr wrap="none" tIns="91440" bIns="91440" anchor="ctr"/>
            <a:lstStyle/>
            <a:p>
              <a:pPr algn="ctr">
                <a:defRPr/>
              </a:pPr>
              <a:endParaRPr lang="en-US" b="1">
                <a:solidFill>
                  <a:srgbClr val="000000"/>
                </a:solidFill>
                <a:latin typeface="Arial" panose="020B0604020202020204" pitchFamily="34" charset="0"/>
              </a:endParaRPr>
            </a:p>
          </p:txBody>
        </p:sp>
        <p:grpSp>
          <p:nvGrpSpPr>
            <p:cNvPr id="12304" name="Group 16"/>
            <p:cNvGrpSpPr>
              <a:grpSpLocks/>
            </p:cNvGrpSpPr>
            <p:nvPr/>
          </p:nvGrpSpPr>
          <p:grpSpPr bwMode="auto">
            <a:xfrm>
              <a:off x="722" y="665"/>
              <a:ext cx="5038" cy="466"/>
              <a:chOff x="722" y="665"/>
              <a:chExt cx="5038" cy="466"/>
            </a:xfrm>
          </p:grpSpPr>
          <p:sp>
            <p:nvSpPr>
              <p:cNvPr id="2041873" name="AutoShape 17"/>
              <p:cNvSpPr>
                <a:spLocks noChangeArrowheads="1"/>
              </p:cNvSpPr>
              <p:nvPr/>
            </p:nvSpPr>
            <p:spPr bwMode="invGray">
              <a:xfrm>
                <a:off x="722" y="891"/>
                <a:ext cx="252" cy="240"/>
              </a:xfrm>
              <a:prstGeom prst="star5">
                <a:avLst/>
              </a:prstGeom>
              <a:solidFill>
                <a:schemeClr val="hlink"/>
              </a:solidFill>
              <a:ln w="38100">
                <a:noFill/>
                <a:miter lim="800000"/>
                <a:headEnd/>
                <a:tailEnd/>
              </a:ln>
              <a:effectLst/>
            </p:spPr>
            <p:txBody>
              <a:bodyPr wrap="none" tIns="91440" bIns="91440" anchor="ctr"/>
              <a:lstStyle/>
              <a:p>
                <a:pPr algn="ctr">
                  <a:defRPr/>
                </a:pPr>
                <a:endParaRPr lang="en-US" b="1">
                  <a:solidFill>
                    <a:srgbClr val="000000"/>
                  </a:solidFill>
                  <a:latin typeface="Arial" panose="020B0604020202020204" pitchFamily="34" charset="0"/>
                </a:endParaRPr>
              </a:p>
            </p:txBody>
          </p:sp>
          <p:sp>
            <p:nvSpPr>
              <p:cNvPr id="2041874" name="AutoShape 18"/>
              <p:cNvSpPr>
                <a:spLocks noChangeArrowheads="1"/>
              </p:cNvSpPr>
              <p:nvPr/>
            </p:nvSpPr>
            <p:spPr bwMode="invGray">
              <a:xfrm>
                <a:off x="4151" y="891"/>
                <a:ext cx="252" cy="240"/>
              </a:xfrm>
              <a:prstGeom prst="star5">
                <a:avLst/>
              </a:prstGeom>
              <a:solidFill>
                <a:schemeClr val="hlink"/>
              </a:solidFill>
              <a:ln w="38100">
                <a:noFill/>
                <a:miter lim="800000"/>
                <a:headEnd/>
                <a:tailEnd/>
              </a:ln>
              <a:effectLst/>
            </p:spPr>
            <p:txBody>
              <a:bodyPr wrap="none" tIns="91440" bIns="91440" anchor="ctr"/>
              <a:lstStyle/>
              <a:p>
                <a:pPr algn="ctr">
                  <a:defRPr/>
                </a:pPr>
                <a:endParaRPr lang="en-US" b="1">
                  <a:solidFill>
                    <a:srgbClr val="000000"/>
                  </a:solidFill>
                  <a:latin typeface="Arial" panose="020B0604020202020204" pitchFamily="34" charset="0"/>
                </a:endParaRPr>
              </a:p>
            </p:txBody>
          </p:sp>
          <p:sp>
            <p:nvSpPr>
              <p:cNvPr id="2041875" name="AutoShape 19"/>
              <p:cNvSpPr>
                <a:spLocks noChangeArrowheads="1"/>
              </p:cNvSpPr>
              <p:nvPr/>
            </p:nvSpPr>
            <p:spPr bwMode="invGray">
              <a:xfrm>
                <a:off x="2128" y="891"/>
                <a:ext cx="252" cy="240"/>
              </a:xfrm>
              <a:prstGeom prst="star5">
                <a:avLst/>
              </a:prstGeom>
              <a:solidFill>
                <a:schemeClr val="hlink"/>
              </a:solidFill>
              <a:ln w="38100">
                <a:noFill/>
                <a:miter lim="800000"/>
                <a:headEnd/>
                <a:tailEnd/>
              </a:ln>
              <a:effectLst/>
            </p:spPr>
            <p:txBody>
              <a:bodyPr wrap="none" tIns="91440" bIns="91440" anchor="ctr"/>
              <a:lstStyle/>
              <a:p>
                <a:pPr algn="ctr">
                  <a:defRPr/>
                </a:pPr>
                <a:endParaRPr lang="en-US" b="1">
                  <a:solidFill>
                    <a:srgbClr val="000000"/>
                  </a:solidFill>
                  <a:latin typeface="Arial" panose="020B0604020202020204" pitchFamily="34" charset="0"/>
                </a:endParaRPr>
              </a:p>
            </p:txBody>
          </p:sp>
          <p:sp>
            <p:nvSpPr>
              <p:cNvPr id="12308" name="Rectangle 20"/>
              <p:cNvSpPr>
                <a:spLocks noChangeArrowheads="1"/>
              </p:cNvSpPr>
              <p:nvPr/>
            </p:nvSpPr>
            <p:spPr bwMode="auto">
              <a:xfrm>
                <a:off x="761" y="665"/>
                <a:ext cx="194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1pPr>
                <a:lvl2pPr marL="742950" indent="-285750" eaLnBrk="0" hangingPunct="0">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2pPr>
                <a:lvl3pPr marL="1143000" indent="-228600" eaLnBrk="0" hangingPunct="0">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3pPr>
                <a:lvl4pPr marL="1600200" indent="-228600" eaLnBrk="0" hangingPunct="0">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4pPr>
                <a:lvl5pPr marL="2057400" indent="-228600" eaLnBrk="0" hangingPunct="0">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tabLst>
                    <a:tab pos="285750" algn="l"/>
                    <a:tab pos="571500" algn="l"/>
                    <a:tab pos="857250" algn="l"/>
                    <a:tab pos="1143000" algn="l"/>
                    <a:tab pos="1428750" algn="l"/>
                    <a:tab pos="1714500" algn="l"/>
                    <a:tab pos="2000250" algn="l"/>
                    <a:tab pos="2286000" algn="l"/>
                  </a:tabLst>
                  <a:defRPr b="1">
                    <a:solidFill>
                      <a:schemeClr val="bg1"/>
                    </a:solidFill>
                    <a:latin typeface="Arial" panose="020B0604020202020204" pitchFamily="34" charset="0"/>
                    <a:cs typeface="Arial" panose="020B0604020202020204" pitchFamily="34" charset="0"/>
                  </a:defRPr>
                </a:lvl9pPr>
              </a:lstStyle>
              <a:p>
                <a:pPr>
                  <a:lnSpc>
                    <a:spcPct val="85000"/>
                  </a:lnSpc>
                </a:pPr>
                <a:r>
                  <a:rPr lang="en-US" altLang="en-US" sz="2000" b="0">
                    <a:solidFill>
                      <a:srgbClr val="000000"/>
                    </a:solidFill>
                    <a:latin typeface="Arial Black" panose="020B0A04020102020204" pitchFamily="34" charset="0"/>
                  </a:rPr>
                  <a:t>Major  Milestones</a:t>
                </a:r>
              </a:p>
            </p:txBody>
          </p:sp>
          <p:sp>
            <p:nvSpPr>
              <p:cNvPr id="2041877" name="AutoShape 21"/>
              <p:cNvSpPr>
                <a:spLocks noChangeArrowheads="1"/>
              </p:cNvSpPr>
              <p:nvPr/>
            </p:nvSpPr>
            <p:spPr bwMode="invGray">
              <a:xfrm>
                <a:off x="5508" y="882"/>
                <a:ext cx="252" cy="240"/>
              </a:xfrm>
              <a:prstGeom prst="star5">
                <a:avLst/>
              </a:prstGeom>
              <a:solidFill>
                <a:schemeClr val="hlink"/>
              </a:solidFill>
              <a:ln w="38100">
                <a:noFill/>
                <a:miter lim="800000"/>
                <a:headEnd/>
                <a:tailEnd/>
              </a:ln>
              <a:effectLst/>
            </p:spPr>
            <p:txBody>
              <a:bodyPr wrap="none" tIns="91440" bIns="91440" anchor="ctr"/>
              <a:lstStyle/>
              <a:p>
                <a:pPr algn="ctr">
                  <a:defRPr/>
                </a:pPr>
                <a:endParaRPr lang="en-US" b="1">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833351186"/>
      </p:ext>
    </p:extLst>
  </p:cSld>
  <p:clrMapOvr>
    <a:masterClrMapping/>
  </p:clrMapOvr>
  <p:transition>
    <p:wipe dir="d"/>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Freeform 1026"/>
          <p:cNvSpPr>
            <a:spLocks/>
          </p:cNvSpPr>
          <p:nvPr/>
        </p:nvSpPr>
        <p:spPr bwMode="invGray">
          <a:xfrm>
            <a:off x="5229225" y="3881438"/>
            <a:ext cx="836613" cy="273050"/>
          </a:xfrm>
          <a:custGeom>
            <a:avLst/>
            <a:gdLst>
              <a:gd name="T0" fmla="*/ 0 w 768"/>
              <a:gd name="T1" fmla="*/ 0 h 138"/>
              <a:gd name="T2" fmla="*/ 911355857 w 768"/>
              <a:gd name="T3" fmla="*/ 0 h 138"/>
              <a:gd name="T4" fmla="*/ 911355857 w 768"/>
              <a:gd name="T5" fmla="*/ 540263070 h 138"/>
              <a:gd name="T6" fmla="*/ 0 60000 65536"/>
              <a:gd name="T7" fmla="*/ 0 60000 65536"/>
              <a:gd name="T8" fmla="*/ 0 60000 65536"/>
              <a:gd name="T9" fmla="*/ 0 w 768"/>
              <a:gd name="T10" fmla="*/ 0 h 138"/>
              <a:gd name="T11" fmla="*/ 768 w 768"/>
              <a:gd name="T12" fmla="*/ 138 h 138"/>
            </a:gdLst>
            <a:ahLst/>
            <a:cxnLst>
              <a:cxn ang="T6">
                <a:pos x="T0" y="T1"/>
              </a:cxn>
              <a:cxn ang="T7">
                <a:pos x="T2" y="T3"/>
              </a:cxn>
              <a:cxn ang="T8">
                <a:pos x="T4" y="T5"/>
              </a:cxn>
            </a:cxnLst>
            <a:rect l="T9" t="T10" r="T11" b="T12"/>
            <a:pathLst>
              <a:path w="768" h="138">
                <a:moveTo>
                  <a:pt x="0" y="0"/>
                </a:moveTo>
                <a:lnTo>
                  <a:pt x="768" y="0"/>
                </a:lnTo>
                <a:lnTo>
                  <a:pt x="768" y="138"/>
                </a:lnTo>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tIns="91440" bIns="9144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31" name="Freeform 1027"/>
          <p:cNvSpPr>
            <a:spLocks/>
          </p:cNvSpPr>
          <p:nvPr/>
        </p:nvSpPr>
        <p:spPr bwMode="invGray">
          <a:xfrm>
            <a:off x="5286375" y="3776663"/>
            <a:ext cx="1990725" cy="990600"/>
          </a:xfrm>
          <a:custGeom>
            <a:avLst/>
            <a:gdLst>
              <a:gd name="T0" fmla="*/ 0 w 768"/>
              <a:gd name="T1" fmla="*/ 0 h 138"/>
              <a:gd name="T2" fmla="*/ 2147483647 w 768"/>
              <a:gd name="T3" fmla="*/ 0 h 138"/>
              <a:gd name="T4" fmla="*/ 2147483647 w 768"/>
              <a:gd name="T5" fmla="*/ 2147483647 h 138"/>
              <a:gd name="T6" fmla="*/ 0 60000 65536"/>
              <a:gd name="T7" fmla="*/ 0 60000 65536"/>
              <a:gd name="T8" fmla="*/ 0 60000 65536"/>
              <a:gd name="T9" fmla="*/ 0 w 768"/>
              <a:gd name="T10" fmla="*/ 0 h 138"/>
              <a:gd name="T11" fmla="*/ 768 w 768"/>
              <a:gd name="T12" fmla="*/ 138 h 138"/>
            </a:gdLst>
            <a:ahLst/>
            <a:cxnLst>
              <a:cxn ang="T6">
                <a:pos x="T0" y="T1"/>
              </a:cxn>
              <a:cxn ang="T7">
                <a:pos x="T2" y="T3"/>
              </a:cxn>
              <a:cxn ang="T8">
                <a:pos x="T4" y="T5"/>
              </a:cxn>
            </a:cxnLst>
            <a:rect l="T9" t="T10" r="T11" b="T12"/>
            <a:pathLst>
              <a:path w="768" h="138">
                <a:moveTo>
                  <a:pt x="0" y="0"/>
                </a:moveTo>
                <a:lnTo>
                  <a:pt x="768" y="0"/>
                </a:lnTo>
                <a:lnTo>
                  <a:pt x="768" y="138"/>
                </a:lnTo>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tIns="91440" bIns="9144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32" name="Freeform 1028"/>
          <p:cNvSpPr>
            <a:spLocks/>
          </p:cNvSpPr>
          <p:nvPr/>
        </p:nvSpPr>
        <p:spPr bwMode="invGray">
          <a:xfrm>
            <a:off x="5305425" y="3681413"/>
            <a:ext cx="3060700" cy="1828800"/>
          </a:xfrm>
          <a:custGeom>
            <a:avLst/>
            <a:gdLst>
              <a:gd name="T0" fmla="*/ 0 w 768"/>
              <a:gd name="T1" fmla="*/ 0 h 138"/>
              <a:gd name="T2" fmla="*/ 2147483647 w 768"/>
              <a:gd name="T3" fmla="*/ 0 h 138"/>
              <a:gd name="T4" fmla="*/ 2147483647 w 768"/>
              <a:gd name="T5" fmla="*/ 2147483647 h 138"/>
              <a:gd name="T6" fmla="*/ 0 60000 65536"/>
              <a:gd name="T7" fmla="*/ 0 60000 65536"/>
              <a:gd name="T8" fmla="*/ 0 60000 65536"/>
              <a:gd name="T9" fmla="*/ 0 w 768"/>
              <a:gd name="T10" fmla="*/ 0 h 138"/>
              <a:gd name="T11" fmla="*/ 768 w 768"/>
              <a:gd name="T12" fmla="*/ 138 h 138"/>
            </a:gdLst>
            <a:ahLst/>
            <a:cxnLst>
              <a:cxn ang="T6">
                <a:pos x="T0" y="T1"/>
              </a:cxn>
              <a:cxn ang="T7">
                <a:pos x="T2" y="T3"/>
              </a:cxn>
              <a:cxn ang="T8">
                <a:pos x="T4" y="T5"/>
              </a:cxn>
            </a:cxnLst>
            <a:rect l="T9" t="T10" r="T11" b="T12"/>
            <a:pathLst>
              <a:path w="768" h="138">
                <a:moveTo>
                  <a:pt x="0" y="0"/>
                </a:moveTo>
                <a:lnTo>
                  <a:pt x="768" y="0"/>
                </a:lnTo>
                <a:lnTo>
                  <a:pt x="768" y="138"/>
                </a:lnTo>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tIns="91440" bIns="91440"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33" name="Rectangle 1029"/>
          <p:cNvSpPr>
            <a:spLocks noChangeArrowheads="1"/>
          </p:cNvSpPr>
          <p:nvPr/>
        </p:nvSpPr>
        <p:spPr bwMode="ltGray">
          <a:xfrm>
            <a:off x="381000" y="3657600"/>
            <a:ext cx="4391025" cy="550863"/>
          </a:xfrm>
          <a:prstGeom prst="rect">
            <a:avLst/>
          </a:prstGeom>
          <a:gradFill rotWithShape="0">
            <a:gsLst>
              <a:gs pos="0">
                <a:schemeClr val="accent1"/>
              </a:gs>
              <a:gs pos="100000">
                <a:srgbClr val="00006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87000"/>
              </a:lnSpc>
            </a:pPr>
            <a:endParaRPr lang="en-US" altLang="en-US" sz="2400" b="0">
              <a:solidFill>
                <a:srgbClr val="FFFFFF"/>
              </a:solidFill>
              <a:latin typeface="Arial Narrow" panose="020B0606020202030204" pitchFamily="34" charset="0"/>
            </a:endParaRPr>
          </a:p>
        </p:txBody>
      </p:sp>
      <p:sp>
        <p:nvSpPr>
          <p:cNvPr id="1034" name="Rectangle 1030"/>
          <p:cNvSpPr>
            <a:spLocks noChangeArrowheads="1"/>
          </p:cNvSpPr>
          <p:nvPr/>
        </p:nvSpPr>
        <p:spPr bwMode="ltGray">
          <a:xfrm>
            <a:off x="381000" y="4343400"/>
            <a:ext cx="5508625" cy="550863"/>
          </a:xfrm>
          <a:prstGeom prst="rect">
            <a:avLst/>
          </a:prstGeom>
          <a:gradFill rotWithShape="0">
            <a:gsLst>
              <a:gs pos="0">
                <a:schemeClr val="accent1"/>
              </a:gs>
              <a:gs pos="100000">
                <a:srgbClr val="00006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87000"/>
              </a:lnSpc>
            </a:pPr>
            <a:endParaRPr lang="en-US" altLang="en-US" sz="2400" b="0">
              <a:solidFill>
                <a:srgbClr val="FFFFFF"/>
              </a:solidFill>
              <a:latin typeface="Arial Narrow" panose="020B0606020202030204" pitchFamily="34" charset="0"/>
            </a:endParaRPr>
          </a:p>
        </p:txBody>
      </p:sp>
      <p:sp>
        <p:nvSpPr>
          <p:cNvPr id="1035" name="Rectangle 1031"/>
          <p:cNvSpPr>
            <a:spLocks noChangeArrowheads="1"/>
          </p:cNvSpPr>
          <p:nvPr/>
        </p:nvSpPr>
        <p:spPr bwMode="ltGray">
          <a:xfrm>
            <a:off x="381000" y="5029200"/>
            <a:ext cx="6465888" cy="550863"/>
          </a:xfrm>
          <a:prstGeom prst="rect">
            <a:avLst/>
          </a:prstGeom>
          <a:gradFill rotWithShape="0">
            <a:gsLst>
              <a:gs pos="0">
                <a:schemeClr val="accent1"/>
              </a:gs>
              <a:gs pos="100000">
                <a:srgbClr val="00006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87000"/>
              </a:lnSpc>
            </a:pPr>
            <a:endParaRPr lang="en-US" altLang="en-US" sz="2400" b="0">
              <a:solidFill>
                <a:srgbClr val="FFFFFF"/>
              </a:solidFill>
              <a:latin typeface="Arial Narrow" panose="020B0606020202030204" pitchFamily="34" charset="0"/>
            </a:endParaRPr>
          </a:p>
        </p:txBody>
      </p:sp>
      <p:sp>
        <p:nvSpPr>
          <p:cNvPr id="1036" name="Rectangle 1032"/>
          <p:cNvSpPr>
            <a:spLocks noChangeArrowheads="1"/>
          </p:cNvSpPr>
          <p:nvPr/>
        </p:nvSpPr>
        <p:spPr bwMode="ltGray">
          <a:xfrm>
            <a:off x="381000" y="5715000"/>
            <a:ext cx="7843838" cy="550863"/>
          </a:xfrm>
          <a:prstGeom prst="rect">
            <a:avLst/>
          </a:prstGeom>
          <a:gradFill rotWithShape="0">
            <a:gsLst>
              <a:gs pos="0">
                <a:schemeClr val="accent1"/>
              </a:gs>
              <a:gs pos="100000">
                <a:srgbClr val="00006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87000"/>
              </a:lnSpc>
            </a:pPr>
            <a:endParaRPr lang="en-US" altLang="en-US" sz="2400" b="0">
              <a:solidFill>
                <a:srgbClr val="FFFFFF"/>
              </a:solidFill>
              <a:latin typeface="Arial Narrow" panose="020B0606020202030204" pitchFamily="34" charset="0"/>
            </a:endParaRPr>
          </a:p>
        </p:txBody>
      </p:sp>
      <p:sp>
        <p:nvSpPr>
          <p:cNvPr id="1037" name="Rectangle 1033"/>
          <p:cNvSpPr>
            <a:spLocks noGrp="1" noChangeArrowheads="1"/>
          </p:cNvSpPr>
          <p:nvPr>
            <p:ph type="title"/>
          </p:nvPr>
        </p:nvSpPr>
        <p:spPr>
          <a:xfrm>
            <a:off x="236537" y="116632"/>
            <a:ext cx="6446838" cy="792088"/>
          </a:xfrm>
        </p:spPr>
        <p:txBody>
          <a:bodyPr/>
          <a:lstStyle/>
          <a:p>
            <a:pPr eaLnBrk="1" hangingPunct="1"/>
            <a:r>
              <a:rPr lang="en-US" altLang="en-US" dirty="0" smtClean="0"/>
              <a:t>Use-Case Driven Development</a:t>
            </a:r>
          </a:p>
        </p:txBody>
      </p:sp>
      <p:sp>
        <p:nvSpPr>
          <p:cNvPr id="1038" name="Rectangle 1034"/>
          <p:cNvSpPr>
            <a:spLocks noGrp="1" noChangeArrowheads="1"/>
          </p:cNvSpPr>
          <p:nvPr>
            <p:ph idx="1"/>
          </p:nvPr>
        </p:nvSpPr>
        <p:spPr>
          <a:xfrm>
            <a:off x="75131" y="908720"/>
            <a:ext cx="7348537" cy="3902075"/>
          </a:xfrm>
        </p:spPr>
        <p:txBody>
          <a:bodyPr/>
          <a:lstStyle/>
          <a:p>
            <a:pPr eaLnBrk="1" hangingPunct="1"/>
            <a:r>
              <a:rPr lang="en-US" altLang="en-US" sz="1800" dirty="0" smtClean="0"/>
              <a:t>A use case describes complete and meaningful services that your system offers to users and other systems</a:t>
            </a:r>
          </a:p>
          <a:p>
            <a:pPr eaLnBrk="1" hangingPunct="1"/>
            <a:r>
              <a:rPr lang="en-US" altLang="en-US" sz="1800" dirty="0" smtClean="0"/>
              <a:t>Use cases drive the work through each iteration</a:t>
            </a:r>
          </a:p>
          <a:p>
            <a:pPr lvl="1" eaLnBrk="1" hangingPunct="1"/>
            <a:r>
              <a:rPr lang="en-US" altLang="en-US" dirty="0" smtClean="0"/>
              <a:t>Planning of iterations</a:t>
            </a:r>
          </a:p>
          <a:p>
            <a:pPr lvl="1" eaLnBrk="1" hangingPunct="1"/>
            <a:r>
              <a:rPr lang="en-US" altLang="en-US" dirty="0" smtClean="0"/>
              <a:t>Creation and validation of the architecture</a:t>
            </a:r>
          </a:p>
          <a:p>
            <a:pPr lvl="1" eaLnBrk="1" hangingPunct="1"/>
            <a:r>
              <a:rPr lang="en-US" altLang="en-US" dirty="0" smtClean="0"/>
              <a:t>Definition of test cases and procedures </a:t>
            </a:r>
          </a:p>
          <a:p>
            <a:pPr lvl="1" eaLnBrk="1" hangingPunct="1"/>
            <a:r>
              <a:rPr lang="en-US" altLang="en-US" dirty="0" smtClean="0"/>
              <a:t>Design of user interfaces and creation of user documentation</a:t>
            </a:r>
          </a:p>
        </p:txBody>
      </p:sp>
      <p:grpSp>
        <p:nvGrpSpPr>
          <p:cNvPr id="1039" name="Group 1035"/>
          <p:cNvGrpSpPr>
            <a:grpSpLocks/>
          </p:cNvGrpSpPr>
          <p:nvPr/>
        </p:nvGrpSpPr>
        <p:grpSpPr bwMode="auto">
          <a:xfrm>
            <a:off x="4406900" y="3659188"/>
            <a:ext cx="922338" cy="550862"/>
            <a:chOff x="1552" y="2305"/>
            <a:chExt cx="581" cy="347"/>
          </a:xfrm>
        </p:grpSpPr>
        <p:sp>
          <p:nvSpPr>
            <p:cNvPr id="1083" name="Rectangle 1036"/>
            <p:cNvSpPr>
              <a:spLocks noChangeArrowheads="1"/>
            </p:cNvSpPr>
            <p:nvPr/>
          </p:nvSpPr>
          <p:spPr bwMode="auto">
            <a:xfrm>
              <a:off x="1552" y="2305"/>
              <a:ext cx="581" cy="347"/>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lnSpc>
                  <a:spcPct val="87000"/>
                </a:lnSpc>
              </a:pPr>
              <a:endParaRPr lang="en-US" altLang="en-US" sz="2400" b="0">
                <a:solidFill>
                  <a:srgbClr val="FFFFFF"/>
                </a:solidFill>
                <a:latin typeface="Arial Narrow" panose="020B0606020202030204" pitchFamily="34" charset="0"/>
              </a:endParaRPr>
            </a:p>
          </p:txBody>
        </p:sp>
        <p:grpSp>
          <p:nvGrpSpPr>
            <p:cNvPr id="1084" name="Group 1037"/>
            <p:cNvGrpSpPr>
              <a:grpSpLocks/>
            </p:cNvGrpSpPr>
            <p:nvPr/>
          </p:nvGrpSpPr>
          <p:grpSpPr bwMode="auto">
            <a:xfrm>
              <a:off x="1623" y="2352"/>
              <a:ext cx="436" cy="253"/>
              <a:chOff x="2341" y="1295"/>
              <a:chExt cx="498" cy="362"/>
            </a:xfrm>
          </p:grpSpPr>
          <p:grpSp>
            <p:nvGrpSpPr>
              <p:cNvPr id="1085" name="Group 1038"/>
              <p:cNvGrpSpPr>
                <a:grpSpLocks/>
              </p:cNvGrpSpPr>
              <p:nvPr/>
            </p:nvGrpSpPr>
            <p:grpSpPr bwMode="auto">
              <a:xfrm>
                <a:off x="2341" y="1346"/>
                <a:ext cx="194" cy="261"/>
                <a:chOff x="2341" y="1346"/>
                <a:chExt cx="194" cy="261"/>
              </a:xfrm>
            </p:grpSpPr>
            <p:sp>
              <p:nvSpPr>
                <p:cNvPr id="1089" name="Freeform 1039"/>
                <p:cNvSpPr>
                  <a:spLocks/>
                </p:cNvSpPr>
                <p:nvPr/>
              </p:nvSpPr>
              <p:spPr bwMode="auto">
                <a:xfrm>
                  <a:off x="2396" y="1346"/>
                  <a:ext cx="84" cy="80"/>
                </a:xfrm>
                <a:custGeom>
                  <a:avLst/>
                  <a:gdLst>
                    <a:gd name="T0" fmla="*/ 41 w 84"/>
                    <a:gd name="T1" fmla="*/ 0 h 80"/>
                    <a:gd name="T2" fmla="*/ 58 w 84"/>
                    <a:gd name="T3" fmla="*/ 3 h 80"/>
                    <a:gd name="T4" fmla="*/ 71 w 84"/>
                    <a:gd name="T5" fmla="*/ 13 h 80"/>
                    <a:gd name="T6" fmla="*/ 79 w 84"/>
                    <a:gd name="T7" fmla="*/ 24 h 80"/>
                    <a:gd name="T8" fmla="*/ 83 w 84"/>
                    <a:gd name="T9" fmla="*/ 39 h 80"/>
                    <a:gd name="T10" fmla="*/ 79 w 84"/>
                    <a:gd name="T11" fmla="*/ 54 h 80"/>
                    <a:gd name="T12" fmla="*/ 71 w 84"/>
                    <a:gd name="T13" fmla="*/ 67 h 80"/>
                    <a:gd name="T14" fmla="*/ 58 w 84"/>
                    <a:gd name="T15" fmla="*/ 75 h 80"/>
                    <a:gd name="T16" fmla="*/ 41 w 84"/>
                    <a:gd name="T17" fmla="*/ 79 h 80"/>
                    <a:gd name="T18" fmla="*/ 24 w 84"/>
                    <a:gd name="T19" fmla="*/ 75 h 80"/>
                    <a:gd name="T20" fmla="*/ 11 w 84"/>
                    <a:gd name="T21" fmla="*/ 67 h 80"/>
                    <a:gd name="T22" fmla="*/ 3 w 84"/>
                    <a:gd name="T23" fmla="*/ 54 h 80"/>
                    <a:gd name="T24" fmla="*/ 0 w 84"/>
                    <a:gd name="T25" fmla="*/ 39 h 80"/>
                    <a:gd name="T26" fmla="*/ 3 w 84"/>
                    <a:gd name="T27" fmla="*/ 24 h 80"/>
                    <a:gd name="T28" fmla="*/ 11 w 84"/>
                    <a:gd name="T29" fmla="*/ 13 h 80"/>
                    <a:gd name="T30" fmla="*/ 24 w 84"/>
                    <a:gd name="T31" fmla="*/ 3 h 80"/>
                    <a:gd name="T32" fmla="*/ 41 w 84"/>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
                    <a:gd name="T52" fmla="*/ 0 h 80"/>
                    <a:gd name="T53" fmla="*/ 84 w 84"/>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 h="80">
                      <a:moveTo>
                        <a:pt x="41" y="0"/>
                      </a:moveTo>
                      <a:lnTo>
                        <a:pt x="58" y="3"/>
                      </a:lnTo>
                      <a:lnTo>
                        <a:pt x="71" y="13"/>
                      </a:lnTo>
                      <a:lnTo>
                        <a:pt x="79" y="24"/>
                      </a:lnTo>
                      <a:lnTo>
                        <a:pt x="83" y="39"/>
                      </a:lnTo>
                      <a:lnTo>
                        <a:pt x="79" y="54"/>
                      </a:lnTo>
                      <a:lnTo>
                        <a:pt x="71" y="67"/>
                      </a:lnTo>
                      <a:lnTo>
                        <a:pt x="58" y="75"/>
                      </a:lnTo>
                      <a:lnTo>
                        <a:pt x="41" y="79"/>
                      </a:lnTo>
                      <a:lnTo>
                        <a:pt x="24" y="75"/>
                      </a:lnTo>
                      <a:lnTo>
                        <a:pt x="11" y="67"/>
                      </a:lnTo>
                      <a:lnTo>
                        <a:pt x="3" y="54"/>
                      </a:lnTo>
                      <a:lnTo>
                        <a:pt x="0" y="39"/>
                      </a:lnTo>
                      <a:lnTo>
                        <a:pt x="3" y="24"/>
                      </a:lnTo>
                      <a:lnTo>
                        <a:pt x="11" y="13"/>
                      </a:lnTo>
                      <a:lnTo>
                        <a:pt x="24" y="3"/>
                      </a:lnTo>
                      <a:lnTo>
                        <a:pt x="41"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90" name="Line 1040"/>
                <p:cNvSpPr>
                  <a:spLocks noChangeShapeType="1"/>
                </p:cNvSpPr>
                <p:nvPr/>
              </p:nvSpPr>
              <p:spPr bwMode="auto">
                <a:xfrm>
                  <a:off x="2368" y="1449"/>
                  <a:ext cx="139"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091" name="Line 1041"/>
                <p:cNvSpPr>
                  <a:spLocks noChangeShapeType="1"/>
                </p:cNvSpPr>
                <p:nvPr/>
              </p:nvSpPr>
              <p:spPr bwMode="auto">
                <a:xfrm>
                  <a:off x="2439" y="1426"/>
                  <a:ext cx="0" cy="8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092" name="Freeform 1042"/>
                <p:cNvSpPr>
                  <a:spLocks/>
                </p:cNvSpPr>
                <p:nvPr/>
              </p:nvSpPr>
              <p:spPr bwMode="auto">
                <a:xfrm>
                  <a:off x="2341" y="1508"/>
                  <a:ext cx="194" cy="99"/>
                </a:xfrm>
                <a:custGeom>
                  <a:avLst/>
                  <a:gdLst>
                    <a:gd name="T0" fmla="*/ 0 w 194"/>
                    <a:gd name="T1" fmla="*/ 95 h 99"/>
                    <a:gd name="T2" fmla="*/ 96 w 194"/>
                    <a:gd name="T3" fmla="*/ 0 h 99"/>
                    <a:gd name="T4" fmla="*/ 193 w 194"/>
                    <a:gd name="T5" fmla="*/ 98 h 99"/>
                    <a:gd name="T6" fmla="*/ 0 60000 65536"/>
                    <a:gd name="T7" fmla="*/ 0 60000 65536"/>
                    <a:gd name="T8" fmla="*/ 0 60000 65536"/>
                    <a:gd name="T9" fmla="*/ 0 w 194"/>
                    <a:gd name="T10" fmla="*/ 0 h 99"/>
                    <a:gd name="T11" fmla="*/ 194 w 194"/>
                    <a:gd name="T12" fmla="*/ 99 h 99"/>
                  </a:gdLst>
                  <a:ahLst/>
                  <a:cxnLst>
                    <a:cxn ang="T6">
                      <a:pos x="T0" y="T1"/>
                    </a:cxn>
                    <a:cxn ang="T7">
                      <a:pos x="T2" y="T3"/>
                    </a:cxn>
                    <a:cxn ang="T8">
                      <a:pos x="T4" y="T5"/>
                    </a:cxn>
                  </a:cxnLst>
                  <a:rect l="T9" t="T10" r="T11" b="T12"/>
                  <a:pathLst>
                    <a:path w="194" h="99">
                      <a:moveTo>
                        <a:pt x="0" y="95"/>
                      </a:moveTo>
                      <a:lnTo>
                        <a:pt x="96" y="0"/>
                      </a:lnTo>
                      <a:lnTo>
                        <a:pt x="193" y="98"/>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1086" name="Group 1043"/>
              <p:cNvGrpSpPr>
                <a:grpSpLocks/>
              </p:cNvGrpSpPr>
              <p:nvPr/>
            </p:nvGrpSpPr>
            <p:grpSpPr bwMode="auto">
              <a:xfrm>
                <a:off x="2612" y="1295"/>
                <a:ext cx="227" cy="362"/>
                <a:chOff x="2612" y="1295"/>
                <a:chExt cx="227" cy="362"/>
              </a:xfrm>
            </p:grpSpPr>
            <p:sp>
              <p:nvSpPr>
                <p:cNvPr id="1087" name="Oval 1044"/>
                <p:cNvSpPr>
                  <a:spLocks noChangeArrowheads="1"/>
                </p:cNvSpPr>
                <p:nvPr/>
              </p:nvSpPr>
              <p:spPr bwMode="auto">
                <a:xfrm>
                  <a:off x="2612" y="1295"/>
                  <a:ext cx="227" cy="93"/>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88" name="Oval 1045"/>
                <p:cNvSpPr>
                  <a:spLocks noChangeArrowheads="1"/>
                </p:cNvSpPr>
                <p:nvPr/>
              </p:nvSpPr>
              <p:spPr bwMode="auto">
                <a:xfrm>
                  <a:off x="2612" y="1564"/>
                  <a:ext cx="227" cy="93"/>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grpSp>
      </p:grpSp>
      <p:sp>
        <p:nvSpPr>
          <p:cNvPr id="1040" name="Rectangle 1046"/>
          <p:cNvSpPr>
            <a:spLocks noChangeArrowheads="1"/>
          </p:cNvSpPr>
          <p:nvPr/>
        </p:nvSpPr>
        <p:spPr bwMode="auto">
          <a:xfrm>
            <a:off x="2633663" y="3790950"/>
            <a:ext cx="1808162"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nSpc>
                <a:spcPct val="85000"/>
              </a:lnSpc>
            </a:pPr>
            <a:r>
              <a:rPr lang="en-US" altLang="en-US" dirty="0">
                <a:latin typeface="Arial Narrow" panose="020B0606020202030204" pitchFamily="34" charset="0"/>
              </a:rPr>
              <a:t>Use-Case Model</a:t>
            </a:r>
          </a:p>
        </p:txBody>
      </p:sp>
      <p:sp>
        <p:nvSpPr>
          <p:cNvPr id="1041" name="Rectangle 1047"/>
          <p:cNvSpPr>
            <a:spLocks noChangeArrowheads="1"/>
          </p:cNvSpPr>
          <p:nvPr/>
        </p:nvSpPr>
        <p:spPr bwMode="auto">
          <a:xfrm>
            <a:off x="5540375" y="4189413"/>
            <a:ext cx="1058863" cy="698500"/>
          </a:xfrm>
          <a:prstGeom prst="rect">
            <a:avLst/>
          </a:prstGeom>
          <a:solidFill>
            <a:srgbClr val="FFFFFF"/>
          </a:solidFill>
          <a:ln w="12700">
            <a:solidFill>
              <a:srgbClr val="000000"/>
            </a:solidFill>
            <a:miter lim="800000"/>
            <a:headEnd/>
            <a:tailEnd/>
          </a:ln>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1042" name="Group 1048"/>
          <p:cNvGrpSpPr>
            <a:grpSpLocks/>
          </p:cNvGrpSpPr>
          <p:nvPr/>
        </p:nvGrpSpPr>
        <p:grpSpPr bwMode="auto">
          <a:xfrm>
            <a:off x="5675313" y="4413250"/>
            <a:ext cx="652462" cy="395288"/>
            <a:chOff x="3173" y="1824"/>
            <a:chExt cx="470" cy="357"/>
          </a:xfrm>
        </p:grpSpPr>
        <p:grpSp>
          <p:nvGrpSpPr>
            <p:cNvPr id="1072" name="Group 1049"/>
            <p:cNvGrpSpPr>
              <a:grpSpLocks/>
            </p:cNvGrpSpPr>
            <p:nvPr/>
          </p:nvGrpSpPr>
          <p:grpSpPr bwMode="auto">
            <a:xfrm>
              <a:off x="3175" y="1824"/>
              <a:ext cx="278" cy="215"/>
              <a:chOff x="3175" y="1824"/>
              <a:chExt cx="278" cy="215"/>
            </a:xfrm>
          </p:grpSpPr>
          <p:sp>
            <p:nvSpPr>
              <p:cNvPr id="1081" name="Rectangle 1050"/>
              <p:cNvSpPr>
                <a:spLocks noChangeArrowheads="1"/>
              </p:cNvSpPr>
              <p:nvPr/>
            </p:nvSpPr>
            <p:spPr bwMode="auto">
              <a:xfrm>
                <a:off x="3179" y="1879"/>
                <a:ext cx="274" cy="16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82" name="Freeform 1051"/>
              <p:cNvSpPr>
                <a:spLocks/>
              </p:cNvSpPr>
              <p:nvPr/>
            </p:nvSpPr>
            <p:spPr bwMode="auto">
              <a:xfrm>
                <a:off x="3175" y="1824"/>
                <a:ext cx="114" cy="52"/>
              </a:xfrm>
              <a:custGeom>
                <a:avLst/>
                <a:gdLst>
                  <a:gd name="T0" fmla="*/ 0 w 114"/>
                  <a:gd name="T1" fmla="*/ 51 h 52"/>
                  <a:gd name="T2" fmla="*/ 0 w 114"/>
                  <a:gd name="T3" fmla="*/ 0 h 52"/>
                  <a:gd name="T4" fmla="*/ 113 w 114"/>
                  <a:gd name="T5" fmla="*/ 0 h 52"/>
                  <a:gd name="T6" fmla="*/ 113 w 114"/>
                  <a:gd name="T7" fmla="*/ 51 h 52"/>
                  <a:gd name="T8" fmla="*/ 0 60000 65536"/>
                  <a:gd name="T9" fmla="*/ 0 60000 65536"/>
                  <a:gd name="T10" fmla="*/ 0 60000 65536"/>
                  <a:gd name="T11" fmla="*/ 0 60000 65536"/>
                  <a:gd name="T12" fmla="*/ 0 w 114"/>
                  <a:gd name="T13" fmla="*/ 0 h 52"/>
                  <a:gd name="T14" fmla="*/ 114 w 114"/>
                  <a:gd name="T15" fmla="*/ 52 h 52"/>
                </a:gdLst>
                <a:ahLst/>
                <a:cxnLst>
                  <a:cxn ang="T8">
                    <a:pos x="T0" y="T1"/>
                  </a:cxn>
                  <a:cxn ang="T9">
                    <a:pos x="T2" y="T3"/>
                  </a:cxn>
                  <a:cxn ang="T10">
                    <a:pos x="T4" y="T5"/>
                  </a:cxn>
                  <a:cxn ang="T11">
                    <a:pos x="T6" y="T7"/>
                  </a:cxn>
                </a:cxnLst>
                <a:rect l="T12" t="T13" r="T14" b="T15"/>
                <a:pathLst>
                  <a:path w="114" h="52">
                    <a:moveTo>
                      <a:pt x="0" y="51"/>
                    </a:moveTo>
                    <a:lnTo>
                      <a:pt x="0" y="0"/>
                    </a:lnTo>
                    <a:lnTo>
                      <a:pt x="113" y="0"/>
                    </a:lnTo>
                    <a:lnTo>
                      <a:pt x="113" y="51"/>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1073" name="Group 1052"/>
            <p:cNvGrpSpPr>
              <a:grpSpLocks/>
            </p:cNvGrpSpPr>
            <p:nvPr/>
          </p:nvGrpSpPr>
          <p:grpSpPr bwMode="auto">
            <a:xfrm>
              <a:off x="3173" y="2070"/>
              <a:ext cx="168" cy="111"/>
              <a:chOff x="3173" y="2070"/>
              <a:chExt cx="168" cy="111"/>
            </a:xfrm>
          </p:grpSpPr>
          <p:sp>
            <p:nvSpPr>
              <p:cNvPr id="1078" name="Rectangle 1053"/>
              <p:cNvSpPr>
                <a:spLocks noChangeArrowheads="1"/>
              </p:cNvSpPr>
              <p:nvPr/>
            </p:nvSpPr>
            <p:spPr bwMode="auto">
              <a:xfrm>
                <a:off x="3176" y="2070"/>
                <a:ext cx="162" cy="111"/>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9" name="Line 1054"/>
              <p:cNvSpPr>
                <a:spLocks noChangeShapeType="1"/>
              </p:cNvSpPr>
              <p:nvPr/>
            </p:nvSpPr>
            <p:spPr bwMode="auto">
              <a:xfrm>
                <a:off x="3173" y="2122"/>
                <a:ext cx="16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080" name="Line 1055"/>
              <p:cNvSpPr>
                <a:spLocks noChangeShapeType="1"/>
              </p:cNvSpPr>
              <p:nvPr/>
            </p:nvSpPr>
            <p:spPr bwMode="auto">
              <a:xfrm>
                <a:off x="3173" y="2155"/>
                <a:ext cx="16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1074" name="Group 1056"/>
            <p:cNvGrpSpPr>
              <a:grpSpLocks/>
            </p:cNvGrpSpPr>
            <p:nvPr/>
          </p:nvGrpSpPr>
          <p:grpSpPr bwMode="auto">
            <a:xfrm>
              <a:off x="3475" y="2070"/>
              <a:ext cx="168" cy="111"/>
              <a:chOff x="3475" y="2070"/>
              <a:chExt cx="168" cy="111"/>
            </a:xfrm>
          </p:grpSpPr>
          <p:sp>
            <p:nvSpPr>
              <p:cNvPr id="1075" name="Rectangle 1057"/>
              <p:cNvSpPr>
                <a:spLocks noChangeArrowheads="1"/>
              </p:cNvSpPr>
              <p:nvPr/>
            </p:nvSpPr>
            <p:spPr bwMode="auto">
              <a:xfrm>
                <a:off x="3479" y="2070"/>
                <a:ext cx="161" cy="111"/>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6" name="Line 1058"/>
              <p:cNvSpPr>
                <a:spLocks noChangeShapeType="1"/>
              </p:cNvSpPr>
              <p:nvPr/>
            </p:nvSpPr>
            <p:spPr bwMode="auto">
              <a:xfrm>
                <a:off x="3475" y="2122"/>
                <a:ext cx="16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077" name="Line 1059"/>
              <p:cNvSpPr>
                <a:spLocks noChangeShapeType="1"/>
              </p:cNvSpPr>
              <p:nvPr/>
            </p:nvSpPr>
            <p:spPr bwMode="auto">
              <a:xfrm>
                <a:off x="3475" y="2155"/>
                <a:ext cx="16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sp>
        <p:nvSpPr>
          <p:cNvPr id="1043" name="Rectangle 1060"/>
          <p:cNvSpPr>
            <a:spLocks noChangeArrowheads="1"/>
          </p:cNvSpPr>
          <p:nvPr/>
        </p:nvSpPr>
        <p:spPr bwMode="auto">
          <a:xfrm>
            <a:off x="3081338" y="4446588"/>
            <a:ext cx="242887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lnSpc>
                <a:spcPct val="85000"/>
              </a:lnSpc>
            </a:pPr>
            <a:r>
              <a:rPr lang="en-US" altLang="en-US" dirty="0">
                <a:latin typeface="Arial Narrow" panose="020B0606020202030204" pitchFamily="34" charset="0"/>
              </a:rPr>
              <a:t>Analysis &amp;</a:t>
            </a:r>
            <a:r>
              <a:rPr lang="en-US" altLang="en-US" dirty="0">
                <a:solidFill>
                  <a:schemeClr val="tx1"/>
                </a:solidFill>
                <a:latin typeface="Arial Narrow" panose="020B0606020202030204" pitchFamily="34" charset="0"/>
              </a:rPr>
              <a:t> </a:t>
            </a:r>
            <a:r>
              <a:rPr lang="en-US" altLang="en-US" dirty="0">
                <a:latin typeface="Arial Narrow" panose="020B0606020202030204" pitchFamily="34" charset="0"/>
              </a:rPr>
              <a:t>Design</a:t>
            </a:r>
            <a:r>
              <a:rPr lang="en-US" altLang="en-US" dirty="0">
                <a:solidFill>
                  <a:schemeClr val="tx1"/>
                </a:solidFill>
                <a:latin typeface="Arial Narrow" panose="020B0606020202030204" pitchFamily="34" charset="0"/>
              </a:rPr>
              <a:t> </a:t>
            </a:r>
            <a:r>
              <a:rPr lang="en-US" altLang="en-US" dirty="0">
                <a:latin typeface="Arial Narrow" panose="020B0606020202030204" pitchFamily="34" charset="0"/>
              </a:rPr>
              <a:t>Model</a:t>
            </a:r>
          </a:p>
        </p:txBody>
      </p:sp>
      <p:sp>
        <p:nvSpPr>
          <p:cNvPr id="1044" name="Rectangle 1061"/>
          <p:cNvSpPr>
            <a:spLocks noChangeArrowheads="1"/>
          </p:cNvSpPr>
          <p:nvPr/>
        </p:nvSpPr>
        <p:spPr bwMode="auto">
          <a:xfrm>
            <a:off x="6661150" y="4859338"/>
            <a:ext cx="1222375" cy="712787"/>
          </a:xfrm>
          <a:prstGeom prst="rect">
            <a:avLst/>
          </a:prstGeom>
          <a:solidFill>
            <a:srgbClr val="FFFFFF"/>
          </a:solidFill>
          <a:ln w="12700">
            <a:solidFill>
              <a:srgbClr val="000000"/>
            </a:solidFill>
            <a:miter lim="800000"/>
            <a:headEnd/>
            <a:tailEnd/>
          </a:ln>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1045" name="Group 1062"/>
          <p:cNvGrpSpPr>
            <a:grpSpLocks/>
          </p:cNvGrpSpPr>
          <p:nvPr/>
        </p:nvGrpSpPr>
        <p:grpSpPr bwMode="auto">
          <a:xfrm>
            <a:off x="6829425" y="5086350"/>
            <a:ext cx="581025" cy="417513"/>
            <a:chOff x="4005" y="2438"/>
            <a:chExt cx="418" cy="376"/>
          </a:xfrm>
        </p:grpSpPr>
        <p:grpSp>
          <p:nvGrpSpPr>
            <p:cNvPr id="1059" name="Group 1063"/>
            <p:cNvGrpSpPr>
              <a:grpSpLocks/>
            </p:cNvGrpSpPr>
            <p:nvPr/>
          </p:nvGrpSpPr>
          <p:grpSpPr bwMode="auto">
            <a:xfrm>
              <a:off x="4005" y="2438"/>
              <a:ext cx="278" cy="215"/>
              <a:chOff x="4005" y="2438"/>
              <a:chExt cx="278" cy="215"/>
            </a:xfrm>
          </p:grpSpPr>
          <p:sp>
            <p:nvSpPr>
              <p:cNvPr id="1070" name="Rectangle 1064"/>
              <p:cNvSpPr>
                <a:spLocks noChangeArrowheads="1"/>
              </p:cNvSpPr>
              <p:nvPr/>
            </p:nvSpPr>
            <p:spPr bwMode="auto">
              <a:xfrm>
                <a:off x="4009" y="2493"/>
                <a:ext cx="274" cy="16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1" name="Freeform 1065"/>
              <p:cNvSpPr>
                <a:spLocks/>
              </p:cNvSpPr>
              <p:nvPr/>
            </p:nvSpPr>
            <p:spPr bwMode="auto">
              <a:xfrm>
                <a:off x="4005" y="2438"/>
                <a:ext cx="114" cy="52"/>
              </a:xfrm>
              <a:custGeom>
                <a:avLst/>
                <a:gdLst>
                  <a:gd name="T0" fmla="*/ 0 w 114"/>
                  <a:gd name="T1" fmla="*/ 51 h 52"/>
                  <a:gd name="T2" fmla="*/ 0 w 114"/>
                  <a:gd name="T3" fmla="*/ 0 h 52"/>
                  <a:gd name="T4" fmla="*/ 113 w 114"/>
                  <a:gd name="T5" fmla="*/ 0 h 52"/>
                  <a:gd name="T6" fmla="*/ 113 w 114"/>
                  <a:gd name="T7" fmla="*/ 51 h 52"/>
                  <a:gd name="T8" fmla="*/ 0 60000 65536"/>
                  <a:gd name="T9" fmla="*/ 0 60000 65536"/>
                  <a:gd name="T10" fmla="*/ 0 60000 65536"/>
                  <a:gd name="T11" fmla="*/ 0 60000 65536"/>
                  <a:gd name="T12" fmla="*/ 0 w 114"/>
                  <a:gd name="T13" fmla="*/ 0 h 52"/>
                  <a:gd name="T14" fmla="*/ 114 w 114"/>
                  <a:gd name="T15" fmla="*/ 52 h 52"/>
                </a:gdLst>
                <a:ahLst/>
                <a:cxnLst>
                  <a:cxn ang="T8">
                    <a:pos x="T0" y="T1"/>
                  </a:cxn>
                  <a:cxn ang="T9">
                    <a:pos x="T2" y="T3"/>
                  </a:cxn>
                  <a:cxn ang="T10">
                    <a:pos x="T4" y="T5"/>
                  </a:cxn>
                  <a:cxn ang="T11">
                    <a:pos x="T6" y="T7"/>
                  </a:cxn>
                </a:cxnLst>
                <a:rect l="T12" t="T13" r="T14" b="T15"/>
                <a:pathLst>
                  <a:path w="114" h="52">
                    <a:moveTo>
                      <a:pt x="0" y="51"/>
                    </a:moveTo>
                    <a:lnTo>
                      <a:pt x="0" y="0"/>
                    </a:lnTo>
                    <a:lnTo>
                      <a:pt x="113" y="0"/>
                    </a:lnTo>
                    <a:lnTo>
                      <a:pt x="113" y="51"/>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1060" name="Group 1066"/>
            <p:cNvGrpSpPr>
              <a:grpSpLocks/>
            </p:cNvGrpSpPr>
            <p:nvPr/>
          </p:nvGrpSpPr>
          <p:grpSpPr bwMode="auto">
            <a:xfrm>
              <a:off x="4005" y="2681"/>
              <a:ext cx="93" cy="133"/>
              <a:chOff x="4005" y="2681"/>
              <a:chExt cx="93" cy="133"/>
            </a:xfrm>
          </p:grpSpPr>
          <p:sp>
            <p:nvSpPr>
              <p:cNvPr id="1066" name="Rectangle 1067"/>
              <p:cNvSpPr>
                <a:spLocks noChangeArrowheads="1"/>
              </p:cNvSpPr>
              <p:nvPr/>
            </p:nvSpPr>
            <p:spPr bwMode="auto">
              <a:xfrm>
                <a:off x="4009" y="2681"/>
                <a:ext cx="85" cy="1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67" name="Rectangle 1068"/>
              <p:cNvSpPr>
                <a:spLocks noChangeArrowheads="1"/>
              </p:cNvSpPr>
              <p:nvPr/>
            </p:nvSpPr>
            <p:spPr bwMode="auto">
              <a:xfrm>
                <a:off x="4009" y="2702"/>
                <a:ext cx="85" cy="1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68" name="Rectangle 1069"/>
              <p:cNvSpPr>
                <a:spLocks noChangeArrowheads="1"/>
              </p:cNvSpPr>
              <p:nvPr/>
            </p:nvSpPr>
            <p:spPr bwMode="auto">
              <a:xfrm>
                <a:off x="4009" y="2681"/>
                <a:ext cx="85" cy="13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69" name="Line 1070"/>
              <p:cNvSpPr>
                <a:spLocks noChangeShapeType="1"/>
              </p:cNvSpPr>
              <p:nvPr/>
            </p:nvSpPr>
            <p:spPr bwMode="auto">
              <a:xfrm>
                <a:off x="4005" y="2698"/>
                <a:ext cx="9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1061" name="Group 1071"/>
            <p:cNvGrpSpPr>
              <a:grpSpLocks/>
            </p:cNvGrpSpPr>
            <p:nvPr/>
          </p:nvGrpSpPr>
          <p:grpSpPr bwMode="auto">
            <a:xfrm>
              <a:off x="4301" y="2681"/>
              <a:ext cx="122" cy="133"/>
              <a:chOff x="4301" y="2681"/>
              <a:chExt cx="122" cy="133"/>
            </a:xfrm>
          </p:grpSpPr>
          <p:sp>
            <p:nvSpPr>
              <p:cNvPr id="1062" name="Rectangle 1072"/>
              <p:cNvSpPr>
                <a:spLocks noChangeArrowheads="1"/>
              </p:cNvSpPr>
              <p:nvPr/>
            </p:nvSpPr>
            <p:spPr bwMode="auto">
              <a:xfrm>
                <a:off x="4339" y="2681"/>
                <a:ext cx="84" cy="13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63" name="Oval 1073"/>
              <p:cNvSpPr>
                <a:spLocks noChangeArrowheads="1"/>
              </p:cNvSpPr>
              <p:nvPr/>
            </p:nvSpPr>
            <p:spPr bwMode="auto">
              <a:xfrm>
                <a:off x="4301" y="2696"/>
                <a:ext cx="69" cy="14"/>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64" name="Rectangle 1074"/>
              <p:cNvSpPr>
                <a:spLocks noChangeArrowheads="1"/>
              </p:cNvSpPr>
              <p:nvPr/>
            </p:nvSpPr>
            <p:spPr bwMode="auto">
              <a:xfrm>
                <a:off x="4301" y="2740"/>
                <a:ext cx="69" cy="1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65" name="Rectangle 1075"/>
              <p:cNvSpPr>
                <a:spLocks noChangeArrowheads="1"/>
              </p:cNvSpPr>
              <p:nvPr/>
            </p:nvSpPr>
            <p:spPr bwMode="auto">
              <a:xfrm>
                <a:off x="4301" y="2784"/>
                <a:ext cx="69" cy="1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grpSp>
      <p:sp>
        <p:nvSpPr>
          <p:cNvPr id="1046" name="Rectangle 1076"/>
          <p:cNvSpPr>
            <a:spLocks noChangeArrowheads="1"/>
          </p:cNvSpPr>
          <p:nvPr/>
        </p:nvSpPr>
        <p:spPr bwMode="auto">
          <a:xfrm>
            <a:off x="4479925" y="5160963"/>
            <a:ext cx="2176463"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nSpc>
                <a:spcPct val="85000"/>
              </a:lnSpc>
            </a:pPr>
            <a:r>
              <a:rPr lang="en-US" altLang="en-US" dirty="0">
                <a:latin typeface="Arial Narrow" panose="020B0606020202030204" pitchFamily="34" charset="0"/>
              </a:rPr>
              <a:t>Implementation</a:t>
            </a:r>
            <a:r>
              <a:rPr lang="en-US" altLang="en-US" dirty="0">
                <a:solidFill>
                  <a:schemeClr val="tx1"/>
                </a:solidFill>
                <a:latin typeface="Arial Narrow" panose="020B0606020202030204" pitchFamily="34" charset="0"/>
              </a:rPr>
              <a:t> </a:t>
            </a:r>
            <a:r>
              <a:rPr lang="en-US" altLang="en-US" dirty="0">
                <a:latin typeface="Arial Narrow" panose="020B0606020202030204" pitchFamily="34" charset="0"/>
              </a:rPr>
              <a:t>Model</a:t>
            </a:r>
          </a:p>
        </p:txBody>
      </p:sp>
      <p:sp>
        <p:nvSpPr>
          <p:cNvPr id="1047" name="Rectangle 1077"/>
          <p:cNvSpPr>
            <a:spLocks noChangeArrowheads="1"/>
          </p:cNvSpPr>
          <p:nvPr/>
        </p:nvSpPr>
        <p:spPr bwMode="auto">
          <a:xfrm>
            <a:off x="7886700" y="5583238"/>
            <a:ext cx="922338" cy="700087"/>
          </a:xfrm>
          <a:prstGeom prst="rect">
            <a:avLst/>
          </a:prstGeom>
          <a:solidFill>
            <a:srgbClr val="FFFFFF"/>
          </a:solidFill>
          <a:ln w="12700">
            <a:solidFill>
              <a:srgbClr val="000000"/>
            </a:solidFill>
            <a:miter lim="800000"/>
            <a:headEnd/>
            <a:tailEnd/>
          </a:ln>
        </p:spPr>
        <p:txBody>
          <a:bodyPr wrap="none" anchor="ct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1048" name="Group 1078"/>
          <p:cNvGrpSpPr>
            <a:grpSpLocks/>
          </p:cNvGrpSpPr>
          <p:nvPr/>
        </p:nvGrpSpPr>
        <p:grpSpPr bwMode="auto">
          <a:xfrm>
            <a:off x="8039100" y="5837238"/>
            <a:ext cx="628650" cy="382587"/>
            <a:chOff x="4814" y="2983"/>
            <a:chExt cx="452" cy="347"/>
          </a:xfrm>
        </p:grpSpPr>
        <p:graphicFrame>
          <p:nvGraphicFramePr>
            <p:cNvPr id="1026" name="Object 1024"/>
            <p:cNvGraphicFramePr>
              <a:graphicFrameLocks/>
            </p:cNvGraphicFramePr>
            <p:nvPr/>
          </p:nvGraphicFramePr>
          <p:xfrm>
            <a:off x="4814" y="2983"/>
            <a:ext cx="271" cy="165"/>
          </p:xfrm>
          <a:graphic>
            <a:graphicData uri="http://schemas.openxmlformats.org/presentationml/2006/ole">
              <mc:AlternateContent xmlns:mc="http://schemas.openxmlformats.org/markup-compatibility/2006">
                <mc:Choice xmlns:v="urn:schemas-microsoft-com:vml" Requires="v">
                  <p:oleObj spid="_x0000_s168006" name="CorelDRAW 6.0" r:id="rId4" imgW="691920" imgH="425160" progId="CorelDRAW.Graphic.6">
                    <p:embed/>
                  </p:oleObj>
                </mc:Choice>
                <mc:Fallback>
                  <p:oleObj name="CorelDRAW 6.0" r:id="rId4" imgW="691920" imgH="42516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4" y="2983"/>
                          <a:ext cx="271" cy="1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1025"/>
            <p:cNvGraphicFramePr>
              <a:graphicFrameLocks/>
            </p:cNvGraphicFramePr>
            <p:nvPr/>
          </p:nvGraphicFramePr>
          <p:xfrm>
            <a:off x="4874" y="3043"/>
            <a:ext cx="271" cy="166"/>
          </p:xfrm>
          <a:graphic>
            <a:graphicData uri="http://schemas.openxmlformats.org/presentationml/2006/ole">
              <mc:AlternateContent xmlns:mc="http://schemas.openxmlformats.org/markup-compatibility/2006">
                <mc:Choice xmlns:v="urn:schemas-microsoft-com:vml" Requires="v">
                  <p:oleObj spid="_x0000_s168007" name="CorelDRAW 6.0" r:id="rId6" imgW="691920" imgH="425160" progId="CorelDRAW.Graphic.6">
                    <p:embed/>
                  </p:oleObj>
                </mc:Choice>
                <mc:Fallback>
                  <p:oleObj name="CorelDRAW 6.0" r:id="rId6" imgW="691920" imgH="42516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4" y="3043"/>
                          <a:ext cx="271" cy="16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1026"/>
            <p:cNvGraphicFramePr>
              <a:graphicFrameLocks/>
            </p:cNvGraphicFramePr>
            <p:nvPr/>
          </p:nvGraphicFramePr>
          <p:xfrm>
            <a:off x="4935" y="3104"/>
            <a:ext cx="271" cy="165"/>
          </p:xfrm>
          <a:graphic>
            <a:graphicData uri="http://schemas.openxmlformats.org/presentationml/2006/ole">
              <mc:AlternateContent xmlns:mc="http://schemas.openxmlformats.org/markup-compatibility/2006">
                <mc:Choice xmlns:v="urn:schemas-microsoft-com:vml" Requires="v">
                  <p:oleObj spid="_x0000_s168008" name="CorelDRAW 6.0" r:id="rId7" imgW="691920" imgH="425160" progId="CorelDRAW.Graphic.6">
                    <p:embed/>
                  </p:oleObj>
                </mc:Choice>
                <mc:Fallback>
                  <p:oleObj name="CorelDRAW 6.0" r:id="rId7" imgW="691920" imgH="42516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5" y="3104"/>
                          <a:ext cx="271" cy="1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9" name="Object 1027"/>
            <p:cNvGraphicFramePr>
              <a:graphicFrameLocks/>
            </p:cNvGraphicFramePr>
            <p:nvPr/>
          </p:nvGraphicFramePr>
          <p:xfrm>
            <a:off x="4995" y="3164"/>
            <a:ext cx="271" cy="166"/>
          </p:xfrm>
          <a:graphic>
            <a:graphicData uri="http://schemas.openxmlformats.org/presentationml/2006/ole">
              <mc:AlternateContent xmlns:mc="http://schemas.openxmlformats.org/markup-compatibility/2006">
                <mc:Choice xmlns:v="urn:schemas-microsoft-com:vml" Requires="v">
                  <p:oleObj spid="_x0000_s168009" name="CorelDRAW 6.0" r:id="rId8" imgW="691920" imgH="425160" progId="CorelDRAW.Graphic.6">
                    <p:embed/>
                  </p:oleObj>
                </mc:Choice>
                <mc:Fallback>
                  <p:oleObj name="CorelDRAW 6.0" r:id="rId8" imgW="691920" imgH="42516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5" y="3164"/>
                          <a:ext cx="271" cy="16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49" name="Rectangle 1083"/>
          <p:cNvSpPr>
            <a:spLocks noChangeArrowheads="1"/>
          </p:cNvSpPr>
          <p:nvPr/>
        </p:nvSpPr>
        <p:spPr bwMode="auto">
          <a:xfrm>
            <a:off x="6683375" y="5857875"/>
            <a:ext cx="11763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nSpc>
                <a:spcPct val="85000"/>
              </a:lnSpc>
            </a:pPr>
            <a:r>
              <a:rPr lang="en-US" altLang="en-US" dirty="0">
                <a:latin typeface="Arial Narrow" panose="020B0606020202030204" pitchFamily="34" charset="0"/>
              </a:rPr>
              <a:t>Test</a:t>
            </a:r>
            <a:r>
              <a:rPr lang="en-US" altLang="en-US" dirty="0">
                <a:solidFill>
                  <a:schemeClr val="tx1"/>
                </a:solidFill>
                <a:latin typeface="Arial Narrow" panose="020B0606020202030204" pitchFamily="34" charset="0"/>
              </a:rPr>
              <a:t> </a:t>
            </a:r>
            <a:r>
              <a:rPr lang="en-US" altLang="en-US" dirty="0">
                <a:latin typeface="Arial Narrow" panose="020B0606020202030204" pitchFamily="34" charset="0"/>
              </a:rPr>
              <a:t>Model</a:t>
            </a:r>
          </a:p>
        </p:txBody>
      </p:sp>
      <p:sp>
        <p:nvSpPr>
          <p:cNvPr id="1050" name="Rectangle 1084"/>
          <p:cNvSpPr>
            <a:spLocks noChangeArrowheads="1"/>
          </p:cNvSpPr>
          <p:nvPr/>
        </p:nvSpPr>
        <p:spPr bwMode="auto">
          <a:xfrm>
            <a:off x="420688" y="3730625"/>
            <a:ext cx="13747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r>
              <a:rPr lang="en-US" altLang="en-US" sz="1700">
                <a:solidFill>
                  <a:schemeClr val="tx2"/>
                </a:solidFill>
                <a:latin typeface="Arial Narrow" panose="020B0606020202030204" pitchFamily="34" charset="0"/>
              </a:rPr>
              <a:t>Requirements</a:t>
            </a:r>
          </a:p>
        </p:txBody>
      </p:sp>
      <p:sp>
        <p:nvSpPr>
          <p:cNvPr id="1051" name="Rectangle 1085"/>
          <p:cNvSpPr>
            <a:spLocks noChangeArrowheads="1"/>
          </p:cNvSpPr>
          <p:nvPr/>
        </p:nvSpPr>
        <p:spPr bwMode="auto">
          <a:xfrm>
            <a:off x="5649913" y="4200525"/>
            <a:ext cx="10414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8851" tIns="0" rIns="48851" bIns="0">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r>
              <a:rPr lang="en-US" altLang="en-US" sz="1400">
                <a:latin typeface="Arial Narrow" panose="020B0606020202030204" pitchFamily="34" charset="0"/>
              </a:rPr>
              <a:t>realized by</a:t>
            </a:r>
          </a:p>
        </p:txBody>
      </p:sp>
      <p:sp>
        <p:nvSpPr>
          <p:cNvPr id="1052" name="Rectangle 1086"/>
          <p:cNvSpPr>
            <a:spLocks noChangeArrowheads="1"/>
          </p:cNvSpPr>
          <p:nvPr/>
        </p:nvSpPr>
        <p:spPr bwMode="auto">
          <a:xfrm>
            <a:off x="6661150" y="4860925"/>
            <a:ext cx="12112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8851" tIns="0" rIns="48851" bIns="0">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r>
              <a:rPr lang="en-US" altLang="en-US" sz="1400">
                <a:latin typeface="Arial Narrow" panose="020B0606020202030204" pitchFamily="34" charset="0"/>
              </a:rPr>
              <a:t>implemented by</a:t>
            </a:r>
          </a:p>
        </p:txBody>
      </p:sp>
      <p:sp>
        <p:nvSpPr>
          <p:cNvPr id="1053" name="Rectangle 1087"/>
          <p:cNvSpPr>
            <a:spLocks noChangeArrowheads="1"/>
          </p:cNvSpPr>
          <p:nvPr/>
        </p:nvSpPr>
        <p:spPr bwMode="auto">
          <a:xfrm>
            <a:off x="7934325" y="5597525"/>
            <a:ext cx="8302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8851" tIns="0" rIns="48851" bIns="0">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r>
              <a:rPr lang="en-US" altLang="en-US" sz="1400">
                <a:latin typeface="Arial Narrow" panose="020B0606020202030204" pitchFamily="34" charset="0"/>
              </a:rPr>
              <a:t>verified by</a:t>
            </a:r>
          </a:p>
        </p:txBody>
      </p:sp>
      <p:sp>
        <p:nvSpPr>
          <p:cNvPr id="1054" name="Rectangle 1088"/>
          <p:cNvSpPr>
            <a:spLocks noChangeArrowheads="1"/>
          </p:cNvSpPr>
          <p:nvPr/>
        </p:nvSpPr>
        <p:spPr bwMode="auto">
          <a:xfrm>
            <a:off x="420688" y="4411663"/>
            <a:ext cx="214471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r>
              <a:rPr lang="en-US" altLang="en-US" sz="1700">
                <a:solidFill>
                  <a:schemeClr val="tx2"/>
                </a:solidFill>
                <a:latin typeface="Arial Narrow" panose="020B0606020202030204" pitchFamily="34" charset="0"/>
              </a:rPr>
              <a:t>Analysis &amp; Design</a:t>
            </a:r>
          </a:p>
        </p:txBody>
      </p:sp>
      <p:sp>
        <p:nvSpPr>
          <p:cNvPr id="1055" name="Rectangle 1089"/>
          <p:cNvSpPr>
            <a:spLocks noChangeArrowheads="1"/>
          </p:cNvSpPr>
          <p:nvPr/>
        </p:nvSpPr>
        <p:spPr bwMode="auto">
          <a:xfrm>
            <a:off x="592138" y="4984750"/>
            <a:ext cx="15335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56" name="Rectangle 1090"/>
          <p:cNvSpPr>
            <a:spLocks noChangeArrowheads="1"/>
          </p:cNvSpPr>
          <p:nvPr/>
        </p:nvSpPr>
        <p:spPr bwMode="auto">
          <a:xfrm>
            <a:off x="420688" y="5095875"/>
            <a:ext cx="150336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r>
              <a:rPr lang="en-US" altLang="en-US" sz="1700">
                <a:solidFill>
                  <a:schemeClr val="tx2"/>
                </a:solidFill>
                <a:latin typeface="Arial Narrow" panose="020B0606020202030204" pitchFamily="34" charset="0"/>
              </a:rPr>
              <a:t>Implementation</a:t>
            </a:r>
          </a:p>
        </p:txBody>
      </p:sp>
      <p:sp>
        <p:nvSpPr>
          <p:cNvPr id="1057" name="Rectangle 1091"/>
          <p:cNvSpPr>
            <a:spLocks noChangeArrowheads="1"/>
          </p:cNvSpPr>
          <p:nvPr/>
        </p:nvSpPr>
        <p:spPr bwMode="auto">
          <a:xfrm>
            <a:off x="592138" y="5624513"/>
            <a:ext cx="153193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eaLnBrk="0" hangingPunct="0">
              <a:defRPr b="1">
                <a:solidFill>
                  <a:schemeClr val="bg1"/>
                </a:solidFill>
                <a:latin typeface="Arial" panose="020B0604020202020204" pitchFamily="34" charset="0"/>
                <a:cs typeface="Arial" panose="020B0604020202020204" pitchFamily="34" charset="0"/>
              </a:defRPr>
            </a:lvl1pPr>
            <a:lvl2pPr marL="742950" indent="-285750" eaLnBrk="0" hangingPunct="0">
              <a:defRPr b="1">
                <a:solidFill>
                  <a:schemeClr val="bg1"/>
                </a:solidFill>
                <a:latin typeface="Arial" panose="020B0604020202020204" pitchFamily="34" charset="0"/>
                <a:cs typeface="Arial" panose="020B0604020202020204" pitchFamily="34" charset="0"/>
              </a:defRPr>
            </a:lvl2pPr>
            <a:lvl3pPr marL="1143000" indent="-228600" eaLnBrk="0" hangingPunct="0">
              <a:defRPr b="1">
                <a:solidFill>
                  <a:schemeClr val="bg1"/>
                </a:solidFill>
                <a:latin typeface="Arial" panose="020B0604020202020204" pitchFamily="34" charset="0"/>
                <a:cs typeface="Arial" panose="020B0604020202020204" pitchFamily="34" charset="0"/>
              </a:defRPr>
            </a:lvl3pPr>
            <a:lvl4pPr marL="1600200" indent="-228600" eaLnBrk="0" hangingPunct="0">
              <a:defRPr b="1">
                <a:solidFill>
                  <a:schemeClr val="bg1"/>
                </a:solidFill>
                <a:latin typeface="Arial" panose="020B0604020202020204" pitchFamily="34" charset="0"/>
                <a:cs typeface="Arial" panose="020B0604020202020204" pitchFamily="34" charset="0"/>
              </a:defRPr>
            </a:lvl4pPr>
            <a:lvl5pPr marL="2057400" indent="-228600" eaLnBrk="0" hangingPunct="0">
              <a:defRPr b="1">
                <a:solidFill>
                  <a:schemeClr val="bg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58" name="Rectangle 1092"/>
          <p:cNvSpPr>
            <a:spLocks noChangeArrowheads="1"/>
          </p:cNvSpPr>
          <p:nvPr/>
        </p:nvSpPr>
        <p:spPr bwMode="auto">
          <a:xfrm>
            <a:off x="420688" y="5807075"/>
            <a:ext cx="560387"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701" tIns="48851" rIns="97701" bIns="48851">
            <a:spAutoFit/>
          </a:bodyPr>
          <a:lstStyle>
            <a:lvl1pPr defTabSz="969963" eaLnBrk="0" hangingPunct="0">
              <a:defRPr b="1">
                <a:solidFill>
                  <a:schemeClr val="bg1"/>
                </a:solidFill>
                <a:latin typeface="Arial" panose="020B0604020202020204" pitchFamily="34" charset="0"/>
                <a:cs typeface="Arial" panose="020B0604020202020204" pitchFamily="34" charset="0"/>
              </a:defRPr>
            </a:lvl1pPr>
            <a:lvl2pPr marL="742950" indent="-285750" defTabSz="969963" eaLnBrk="0" hangingPunct="0">
              <a:defRPr b="1">
                <a:solidFill>
                  <a:schemeClr val="bg1"/>
                </a:solidFill>
                <a:latin typeface="Arial" panose="020B0604020202020204" pitchFamily="34" charset="0"/>
                <a:cs typeface="Arial" panose="020B0604020202020204" pitchFamily="34" charset="0"/>
              </a:defRPr>
            </a:lvl2pPr>
            <a:lvl3pPr marL="1143000" indent="-228600" defTabSz="969963" eaLnBrk="0" hangingPunct="0">
              <a:defRPr b="1">
                <a:solidFill>
                  <a:schemeClr val="bg1"/>
                </a:solidFill>
                <a:latin typeface="Arial" panose="020B0604020202020204" pitchFamily="34" charset="0"/>
                <a:cs typeface="Arial" panose="020B0604020202020204" pitchFamily="34" charset="0"/>
              </a:defRPr>
            </a:lvl3pPr>
            <a:lvl4pPr marL="1600200" indent="-228600" defTabSz="969963" eaLnBrk="0" hangingPunct="0">
              <a:defRPr b="1">
                <a:solidFill>
                  <a:schemeClr val="bg1"/>
                </a:solidFill>
                <a:latin typeface="Arial" panose="020B0604020202020204" pitchFamily="34" charset="0"/>
                <a:cs typeface="Arial" panose="020B0604020202020204" pitchFamily="34" charset="0"/>
              </a:defRPr>
            </a:lvl4pPr>
            <a:lvl5pPr marL="2057400" indent="-228600" defTabSz="969963" eaLnBrk="0" hangingPunct="0">
              <a:defRPr b="1">
                <a:solidFill>
                  <a:schemeClr val="bg1"/>
                </a:solidFill>
                <a:latin typeface="Arial" panose="020B0604020202020204" pitchFamily="34" charset="0"/>
                <a:cs typeface="Arial" panose="020B0604020202020204" pitchFamily="34" charset="0"/>
              </a:defRPr>
            </a:lvl5pPr>
            <a:lvl6pPr marL="25146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6pPr>
            <a:lvl7pPr marL="29718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7pPr>
            <a:lvl8pPr marL="34290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8pPr>
            <a:lvl9pPr marL="3886200" indent="-228600" algn="ctr" defTabSz="969963" eaLnBrk="0" fontAlgn="base" hangingPunct="0">
              <a:spcBef>
                <a:spcPct val="0"/>
              </a:spcBef>
              <a:spcAft>
                <a:spcPct val="0"/>
              </a:spcAft>
              <a:defRPr b="1">
                <a:solidFill>
                  <a:schemeClr val="bg1"/>
                </a:solidFill>
                <a:latin typeface="Arial" panose="020B0604020202020204" pitchFamily="34" charset="0"/>
                <a:cs typeface="Arial" panose="020B0604020202020204" pitchFamily="34" charset="0"/>
              </a:defRPr>
            </a:lvl9pPr>
          </a:lstStyle>
          <a:p>
            <a:pPr algn="l"/>
            <a:r>
              <a:rPr lang="en-US" altLang="en-US" sz="1700">
                <a:solidFill>
                  <a:schemeClr val="tx2"/>
                </a:solidFill>
                <a:latin typeface="Arial Narrow" panose="020B0606020202030204" pitchFamily="34" charset="0"/>
              </a:rPr>
              <a:t>Test</a:t>
            </a:r>
          </a:p>
        </p:txBody>
      </p:sp>
    </p:spTree>
    <p:extLst>
      <p:ext uri="{BB962C8B-B14F-4D97-AF65-F5344CB8AC3E}">
        <p14:creationId xmlns:p14="http://schemas.microsoft.com/office/powerpoint/2010/main" val="3218999321"/>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8">
                                            <p:txEl>
                                              <p:pRg st="0" end="0"/>
                                            </p:txEl>
                                          </p:spTgt>
                                        </p:tgtEl>
                                        <p:attrNameLst>
                                          <p:attrName>style.visibility</p:attrName>
                                        </p:attrNameLst>
                                      </p:cBhvr>
                                      <p:to>
                                        <p:strVal val="visible"/>
                                      </p:to>
                                    </p:set>
                                    <p:anim calcmode="lin" valueType="num">
                                      <p:cBhvr additive="base">
                                        <p:cTn id="7" dur="500" fill="hold"/>
                                        <p:tgtEl>
                                          <p:spTgt spid="10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38">
                                            <p:txEl>
                                              <p:pRg st="1" end="1"/>
                                            </p:txEl>
                                          </p:spTgt>
                                        </p:tgtEl>
                                        <p:attrNameLst>
                                          <p:attrName>style.visibility</p:attrName>
                                        </p:attrNameLst>
                                      </p:cBhvr>
                                      <p:to>
                                        <p:strVal val="visible"/>
                                      </p:to>
                                    </p:set>
                                    <p:anim calcmode="lin" valueType="num">
                                      <p:cBhvr additive="base">
                                        <p:cTn id="13" dur="500" fill="hold"/>
                                        <p:tgtEl>
                                          <p:spTgt spid="103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3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38">
                                            <p:txEl>
                                              <p:pRg st="2" end="2"/>
                                            </p:txEl>
                                          </p:spTgt>
                                        </p:tgtEl>
                                        <p:attrNameLst>
                                          <p:attrName>style.visibility</p:attrName>
                                        </p:attrNameLst>
                                      </p:cBhvr>
                                      <p:to>
                                        <p:strVal val="visible"/>
                                      </p:to>
                                    </p:set>
                                    <p:anim calcmode="lin" valueType="num">
                                      <p:cBhvr additive="base">
                                        <p:cTn id="19" dur="500" fill="hold"/>
                                        <p:tgtEl>
                                          <p:spTgt spid="103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3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38">
                                            <p:txEl>
                                              <p:pRg st="3" end="3"/>
                                            </p:txEl>
                                          </p:spTgt>
                                        </p:tgtEl>
                                        <p:attrNameLst>
                                          <p:attrName>style.visibility</p:attrName>
                                        </p:attrNameLst>
                                      </p:cBhvr>
                                      <p:to>
                                        <p:strVal val="visible"/>
                                      </p:to>
                                    </p:set>
                                    <p:anim calcmode="lin" valueType="num">
                                      <p:cBhvr additive="base">
                                        <p:cTn id="25" dur="500" fill="hold"/>
                                        <p:tgtEl>
                                          <p:spTgt spid="103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3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38">
                                            <p:txEl>
                                              <p:pRg st="4" end="4"/>
                                            </p:txEl>
                                          </p:spTgt>
                                        </p:tgtEl>
                                        <p:attrNameLst>
                                          <p:attrName>style.visibility</p:attrName>
                                        </p:attrNameLst>
                                      </p:cBhvr>
                                      <p:to>
                                        <p:strVal val="visible"/>
                                      </p:to>
                                    </p:set>
                                    <p:anim calcmode="lin" valueType="num">
                                      <p:cBhvr additive="base">
                                        <p:cTn id="31" dur="500" fill="hold"/>
                                        <p:tgtEl>
                                          <p:spTgt spid="103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38">
                                            <p:txEl>
                                              <p:pRg st="5" end="5"/>
                                            </p:txEl>
                                          </p:spTgt>
                                        </p:tgtEl>
                                        <p:attrNameLst>
                                          <p:attrName>style.visibility</p:attrName>
                                        </p:attrNameLst>
                                      </p:cBhvr>
                                      <p:to>
                                        <p:strVal val="visible"/>
                                      </p:to>
                                    </p:set>
                                    <p:anim calcmode="lin" valueType="num">
                                      <p:cBhvr additive="base">
                                        <p:cTn id="37" dur="500" fill="hold"/>
                                        <p:tgtEl>
                                          <p:spTgt spid="103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3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a:xfrm>
            <a:off x="685800" y="-85725"/>
            <a:ext cx="7772400" cy="646113"/>
          </a:xfrm>
        </p:spPr>
        <p:txBody>
          <a:bodyPr>
            <a:spAutoFit/>
          </a:bodyPr>
          <a:lstStyle/>
          <a:p>
            <a:pPr eaLnBrk="1" hangingPunct="1"/>
            <a:r>
              <a:rPr lang="en-GB" altLang="en-US" dirty="0" smtClean="0"/>
              <a:t>Lean Development Cont.</a:t>
            </a:r>
          </a:p>
        </p:txBody>
      </p:sp>
      <p:sp>
        <p:nvSpPr>
          <p:cNvPr id="105474" name="Slide Number Placeholder 5"/>
          <p:cNvSpPr>
            <a:spLocks noGrp="1"/>
          </p:cNvSpPr>
          <p:nvPr>
            <p:ph type="sldNum" sz="quarter" idx="12"/>
          </p:nvPr>
        </p:nvSpPr>
        <p:spPr bwMode="auto">
          <a:xfrm>
            <a:off x="8566150" y="6246813"/>
            <a:ext cx="5778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E6DF9B7-F874-4916-9F44-A5C8FA3B24C9}"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58</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05476" name="Rectangle 4"/>
          <p:cNvSpPr>
            <a:spLocks noChangeArrowheads="1"/>
          </p:cNvSpPr>
          <p:nvPr/>
        </p:nvSpPr>
        <p:spPr bwMode="auto">
          <a:xfrm>
            <a:off x="7092950"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6F470529-AF7F-4EAF-A938-0BB33A2BE855}"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pic>
        <p:nvPicPr>
          <p:cNvPr id="10547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13"/>
            <a:ext cx="7038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noChangeArrowheads="1"/>
          </p:cNvSpPr>
          <p:nvPr>
            <p:ph type="title"/>
          </p:nvPr>
        </p:nvSpPr>
        <p:spPr>
          <a:xfrm>
            <a:off x="685800" y="-85725"/>
            <a:ext cx="7772400" cy="646113"/>
          </a:xfrm>
        </p:spPr>
        <p:txBody>
          <a:bodyPr>
            <a:spAutoFit/>
          </a:bodyPr>
          <a:lstStyle/>
          <a:p>
            <a:pPr eaLnBrk="1" hangingPunct="1"/>
            <a:r>
              <a:rPr lang="en-GB" altLang="en-US" dirty="0" smtClean="0"/>
              <a:t>Lean Development Cont.</a:t>
            </a:r>
          </a:p>
        </p:txBody>
      </p:sp>
      <p:sp>
        <p:nvSpPr>
          <p:cNvPr id="106498" name="Slide Number Placeholder 5"/>
          <p:cNvSpPr>
            <a:spLocks noGrp="1"/>
          </p:cNvSpPr>
          <p:nvPr>
            <p:ph type="sldNum" sz="quarter" idx="12"/>
          </p:nvPr>
        </p:nvSpPr>
        <p:spPr bwMode="auto">
          <a:xfrm>
            <a:off x="8566150" y="6321425"/>
            <a:ext cx="5778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5043836E-50E5-48D2-B36F-1E197721238C}"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59</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06500" name="Rectangle 4"/>
          <p:cNvSpPr>
            <a:spLocks noChangeArrowheads="1"/>
          </p:cNvSpPr>
          <p:nvPr/>
        </p:nvSpPr>
        <p:spPr bwMode="auto">
          <a:xfrm>
            <a:off x="7092950"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1D67AD2B-69EC-4876-AF16-C146C097D3BF}"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pic>
        <p:nvPicPr>
          <p:cNvPr id="10650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549275"/>
            <a:ext cx="7772400"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p:cNvSpPr>
            <a:spLocks noGrp="1" noChangeArrowheads="1"/>
          </p:cNvSpPr>
          <p:nvPr>
            <p:ph type="title"/>
          </p:nvPr>
        </p:nvSpPr>
        <p:spPr>
          <a:xfrm>
            <a:off x="685800" y="-85725"/>
            <a:ext cx="7772400" cy="646113"/>
          </a:xfrm>
        </p:spPr>
        <p:txBody>
          <a:bodyPr>
            <a:spAutoFit/>
          </a:bodyPr>
          <a:lstStyle/>
          <a:p>
            <a:pPr eaLnBrk="1" hangingPunct="1"/>
            <a:r>
              <a:rPr lang="en-GB" altLang="en-US" smtClean="0"/>
              <a:t>Lean development</a:t>
            </a:r>
          </a:p>
        </p:txBody>
      </p:sp>
      <p:sp>
        <p:nvSpPr>
          <p:cNvPr id="110594" name="Slide Number Placeholder 5"/>
          <p:cNvSpPr>
            <a:spLocks noGrp="1"/>
          </p:cNvSpPr>
          <p:nvPr>
            <p:ph type="sldNum" sz="quarter" idx="12"/>
          </p:nvPr>
        </p:nvSpPr>
        <p:spPr bwMode="auto">
          <a:xfrm>
            <a:off x="8604250" y="6248400"/>
            <a:ext cx="5397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A847C31A-8754-4AA0-9CE1-61D9A318361A}"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60</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10596" name="Rectangle 4"/>
          <p:cNvSpPr>
            <a:spLocks noChangeArrowheads="1"/>
          </p:cNvSpPr>
          <p:nvPr/>
        </p:nvSpPr>
        <p:spPr bwMode="auto">
          <a:xfrm>
            <a:off x="7092950"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F9880178-8543-4D6D-BD8A-95BF81276BF5}"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pic>
        <p:nvPicPr>
          <p:cNvPr id="11059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 y="981075"/>
            <a:ext cx="6961188"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a:xfrm>
            <a:off x="685800" y="-85725"/>
            <a:ext cx="7772400" cy="646113"/>
          </a:xfrm>
        </p:spPr>
        <p:txBody>
          <a:bodyPr>
            <a:spAutoFit/>
          </a:bodyPr>
          <a:lstStyle/>
          <a:p>
            <a:pPr eaLnBrk="1" hangingPunct="1"/>
            <a:r>
              <a:rPr lang="en-GB" altLang="en-US" smtClean="0"/>
              <a:t>Lean development</a:t>
            </a:r>
          </a:p>
        </p:txBody>
      </p:sp>
      <p:sp>
        <p:nvSpPr>
          <p:cNvPr id="111618" name="Slide Number Placeholder 5"/>
          <p:cNvSpPr>
            <a:spLocks noGrp="1"/>
          </p:cNvSpPr>
          <p:nvPr>
            <p:ph type="sldNum" sz="quarter" idx="12"/>
          </p:nvPr>
        </p:nvSpPr>
        <p:spPr bwMode="auto">
          <a:xfrm>
            <a:off x="8604250" y="6283325"/>
            <a:ext cx="5397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37F194B7-3B50-4A93-9F14-C4EA575C1113}"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61</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11620" name="Rectangle 4"/>
          <p:cNvSpPr>
            <a:spLocks noChangeArrowheads="1"/>
          </p:cNvSpPr>
          <p:nvPr/>
        </p:nvSpPr>
        <p:spPr bwMode="auto">
          <a:xfrm>
            <a:off x="7092950"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4B7CF11A-C6DF-424D-9FEA-D07585258F48}"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pic>
        <p:nvPicPr>
          <p:cNvPr id="1116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63" y="1052513"/>
            <a:ext cx="6859587"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ChangeArrowheads="1"/>
          </p:cNvSpPr>
          <p:nvPr>
            <p:ph type="title"/>
          </p:nvPr>
        </p:nvSpPr>
        <p:spPr>
          <a:xfrm>
            <a:off x="685800" y="-85725"/>
            <a:ext cx="7772400" cy="646113"/>
          </a:xfrm>
        </p:spPr>
        <p:txBody>
          <a:bodyPr>
            <a:spAutoFit/>
          </a:bodyPr>
          <a:lstStyle/>
          <a:p>
            <a:pPr eaLnBrk="1" hangingPunct="1"/>
            <a:r>
              <a:rPr lang="en-GB" altLang="en-US" smtClean="0"/>
              <a:t>Lean development</a:t>
            </a:r>
          </a:p>
        </p:txBody>
      </p:sp>
      <p:sp>
        <p:nvSpPr>
          <p:cNvPr id="112642" name="Slide Number Placeholder 5"/>
          <p:cNvSpPr>
            <a:spLocks noGrp="1"/>
          </p:cNvSpPr>
          <p:nvPr>
            <p:ph type="sldNum" sz="quarter" idx="12"/>
          </p:nvPr>
        </p:nvSpPr>
        <p:spPr bwMode="auto">
          <a:xfrm>
            <a:off x="8531225" y="6246813"/>
            <a:ext cx="61277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64AE7113-40EC-4E08-B1BC-5B3325834CCF}"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62</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112644" name="Rectangle 4"/>
          <p:cNvSpPr>
            <a:spLocks noChangeArrowheads="1"/>
          </p:cNvSpPr>
          <p:nvPr/>
        </p:nvSpPr>
        <p:spPr bwMode="auto">
          <a:xfrm>
            <a:off x="7092950"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3A96CE9E-E736-4622-A586-3C9E65BDCA29}"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pic>
        <p:nvPicPr>
          <p:cNvPr id="11264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981075"/>
            <a:ext cx="7146925"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a:xfrm>
            <a:off x="468313" y="333375"/>
            <a:ext cx="8229600" cy="796925"/>
          </a:xfrm>
        </p:spPr>
        <p:txBody>
          <a:bodyPr/>
          <a:lstStyle/>
          <a:p>
            <a:pPr eaLnBrk="1" hangingPunct="1"/>
            <a:r>
              <a:rPr lang="en-GB" altLang="en-US" smtClean="0"/>
              <a:t>Evolutionary Models</a:t>
            </a:r>
          </a:p>
        </p:txBody>
      </p:sp>
      <p:sp>
        <p:nvSpPr>
          <p:cNvPr id="80900" name="Rectangle 3"/>
          <p:cNvSpPr>
            <a:spLocks noGrp="1" noChangeArrowheads="1"/>
          </p:cNvSpPr>
          <p:nvPr>
            <p:ph idx="1"/>
          </p:nvPr>
        </p:nvSpPr>
        <p:spPr>
          <a:xfrm>
            <a:off x="539750" y="836613"/>
            <a:ext cx="8229600" cy="5113337"/>
          </a:xfrm>
        </p:spPr>
        <p:txBody>
          <a:bodyPr/>
          <a:lstStyle/>
          <a:p>
            <a:pPr eaLnBrk="1" hangingPunct="1">
              <a:buFontTx/>
              <a:buNone/>
            </a:pPr>
            <a:endParaRPr lang="en-GB" altLang="en-US" dirty="0" smtClean="0"/>
          </a:p>
          <a:p>
            <a:pPr lvl="1" eaLnBrk="1" hangingPunct="1"/>
            <a:r>
              <a:rPr lang="en-GB" altLang="en-US" sz="3200" dirty="0" smtClean="0"/>
              <a:t>Prototyping</a:t>
            </a:r>
          </a:p>
          <a:p>
            <a:pPr lvl="1" eaLnBrk="1" hangingPunct="1"/>
            <a:r>
              <a:rPr lang="en-GB" altLang="en-US" sz="3200" dirty="0" smtClean="0"/>
              <a:t>Spiral Model</a:t>
            </a:r>
          </a:p>
          <a:p>
            <a:pPr lvl="1" eaLnBrk="1" hangingPunct="1"/>
            <a:r>
              <a:rPr lang="en-GB" altLang="en-US" sz="3200" dirty="0" smtClean="0"/>
              <a:t>Rapid Application Development (RAD) Model</a:t>
            </a:r>
          </a:p>
          <a:p>
            <a:pPr lvl="1" eaLnBrk="1" hangingPunct="1"/>
            <a:r>
              <a:rPr lang="en-GB" altLang="en-US" sz="3200" dirty="0" smtClean="0"/>
              <a:t>Incremental Model</a:t>
            </a:r>
          </a:p>
          <a:p>
            <a:pPr lvl="1" eaLnBrk="1" hangingPunct="1"/>
            <a:r>
              <a:rPr lang="en-GB" altLang="en-US" sz="3200" dirty="0" smtClean="0"/>
              <a:t>(and now) Agile Programming</a:t>
            </a:r>
          </a:p>
          <a:p>
            <a:pPr eaLnBrk="1" hangingPunct="1"/>
            <a:endParaRPr lang="en-GB" altLang="en-US" dirty="0" smtClean="0"/>
          </a:p>
        </p:txBody>
      </p:sp>
      <p:sp>
        <p:nvSpPr>
          <p:cNvPr id="80898" name="Slide Number Placeholder 5"/>
          <p:cNvSpPr>
            <a:spLocks noGrp="1"/>
          </p:cNvSpPr>
          <p:nvPr>
            <p:ph type="sldNum" sz="quarter" idx="12"/>
          </p:nvPr>
        </p:nvSpPr>
        <p:spPr bwMode="auto">
          <a:xfrm>
            <a:off x="8604250" y="6165850"/>
            <a:ext cx="5397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5CDDF593-6DD9-45F8-8712-060B13E706BA}"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63</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80901" name="Rectangle 4"/>
          <p:cNvSpPr>
            <a:spLocks noChangeArrowheads="1"/>
          </p:cNvSpPr>
          <p:nvPr/>
        </p:nvSpPr>
        <p:spPr bwMode="auto">
          <a:xfrm>
            <a:off x="7164388"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9990B1C0-8C0F-4B72-BCC6-312D1BAD18CF}"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7161479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p:txBody>
          <a:bodyPr/>
          <a:lstStyle/>
          <a:p>
            <a:pPr eaLnBrk="1" hangingPunct="1"/>
            <a:r>
              <a:rPr lang="en-GB" altLang="en-US" smtClean="0"/>
              <a:t>The Prototyping Model </a:t>
            </a:r>
          </a:p>
        </p:txBody>
      </p:sp>
      <p:sp>
        <p:nvSpPr>
          <p:cNvPr id="81922" name="Slide Number Placeholder 4"/>
          <p:cNvSpPr>
            <a:spLocks noGrp="1"/>
          </p:cNvSpPr>
          <p:nvPr>
            <p:ph type="sldNum" sz="quarter" idx="12"/>
          </p:nvPr>
        </p:nvSpPr>
        <p:spPr bwMode="auto">
          <a:xfrm>
            <a:off x="8675688" y="6165850"/>
            <a:ext cx="468312"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1E70F062-5605-480F-950D-1708B45EFC60}"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64</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81924" name="Rectangle 3"/>
          <p:cNvSpPr>
            <a:spLocks noChangeArrowheads="1"/>
          </p:cNvSpPr>
          <p:nvPr/>
        </p:nvSpPr>
        <p:spPr bwMode="auto">
          <a:xfrm>
            <a:off x="1692275" y="2060575"/>
            <a:ext cx="2303463" cy="1223963"/>
          </a:xfrm>
          <a:prstGeom prst="rect">
            <a:avLst/>
          </a:prstGeom>
          <a:solidFill>
            <a:srgbClr val="FFFF00"/>
          </a:solidFill>
          <a:ln w="9525">
            <a:solidFill>
              <a:schemeClr val="tx1"/>
            </a:solidFill>
            <a:miter lim="800000"/>
            <a:headEnd/>
            <a:tailEnd/>
          </a:ln>
        </p:spPr>
        <p:txBody>
          <a:bodyPr wrap="none" anchor="ct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Interact/listen</a:t>
            </a:r>
          </a:p>
          <a:p>
            <a:pPr algn="ct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 to customer</a:t>
            </a:r>
          </a:p>
        </p:txBody>
      </p:sp>
      <p:sp>
        <p:nvSpPr>
          <p:cNvPr id="81925" name="Rectangle 4"/>
          <p:cNvSpPr>
            <a:spLocks noChangeArrowheads="1"/>
          </p:cNvSpPr>
          <p:nvPr/>
        </p:nvSpPr>
        <p:spPr bwMode="auto">
          <a:xfrm>
            <a:off x="5148263" y="2060575"/>
            <a:ext cx="2519362" cy="1223963"/>
          </a:xfrm>
          <a:prstGeom prst="rect">
            <a:avLst/>
          </a:prstGeom>
          <a:solidFill>
            <a:srgbClr val="FFFF00"/>
          </a:solidFill>
          <a:ln w="9525">
            <a:solidFill>
              <a:schemeClr val="tx1"/>
            </a:solidFill>
            <a:miter lim="800000"/>
            <a:headEnd/>
            <a:tailEnd/>
          </a:ln>
        </p:spPr>
        <p:txBody>
          <a:bodyPr wrap="none" anchor="ct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Build/revise</a:t>
            </a:r>
          </a:p>
          <a:p>
            <a:pPr algn="ct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Mock-up</a:t>
            </a:r>
          </a:p>
        </p:txBody>
      </p:sp>
      <p:sp>
        <p:nvSpPr>
          <p:cNvPr id="81926" name="Rectangle 5"/>
          <p:cNvSpPr>
            <a:spLocks noChangeArrowheads="1"/>
          </p:cNvSpPr>
          <p:nvPr/>
        </p:nvSpPr>
        <p:spPr bwMode="auto">
          <a:xfrm>
            <a:off x="2987675" y="4437063"/>
            <a:ext cx="3024188" cy="1512887"/>
          </a:xfrm>
          <a:prstGeom prst="rect">
            <a:avLst/>
          </a:prstGeom>
          <a:solidFill>
            <a:srgbClr val="FFFF00"/>
          </a:solidFill>
          <a:ln w="9525">
            <a:solidFill>
              <a:schemeClr val="tx1"/>
            </a:solidFill>
            <a:miter lim="800000"/>
            <a:headEnd/>
            <a:tailEnd/>
          </a:ln>
        </p:spPr>
        <p:txBody>
          <a:bodyPr wrap="none" anchor="ct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Customer</a:t>
            </a:r>
          </a:p>
          <a:p>
            <a:pPr algn="ct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‘test drives’</a:t>
            </a:r>
          </a:p>
          <a:p>
            <a:pPr algn="ct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Mock up</a:t>
            </a:r>
          </a:p>
        </p:txBody>
      </p:sp>
      <p:sp>
        <p:nvSpPr>
          <p:cNvPr id="81927" name="Line 6"/>
          <p:cNvSpPr>
            <a:spLocks noChangeShapeType="1"/>
          </p:cNvSpPr>
          <p:nvPr/>
        </p:nvSpPr>
        <p:spPr bwMode="auto">
          <a:xfrm>
            <a:off x="3995738" y="2492375"/>
            <a:ext cx="1152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1928" name="Line 7"/>
          <p:cNvSpPr>
            <a:spLocks noChangeShapeType="1"/>
          </p:cNvSpPr>
          <p:nvPr/>
        </p:nvSpPr>
        <p:spPr bwMode="auto">
          <a:xfrm>
            <a:off x="5651500" y="3284538"/>
            <a:ext cx="0" cy="1152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1929" name="Line 8"/>
          <p:cNvSpPr>
            <a:spLocks noChangeShapeType="1"/>
          </p:cNvSpPr>
          <p:nvPr/>
        </p:nvSpPr>
        <p:spPr bwMode="auto">
          <a:xfrm flipV="1">
            <a:off x="3492500" y="3284538"/>
            <a:ext cx="0" cy="1152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1930" name="Text Box 9"/>
          <p:cNvSpPr txBox="1">
            <a:spLocks noChangeArrowheads="1"/>
          </p:cNvSpPr>
          <p:nvPr/>
        </p:nvSpPr>
        <p:spPr bwMode="auto">
          <a:xfrm>
            <a:off x="1023938" y="1431925"/>
            <a:ext cx="1825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r>
              <a:rPr lang="en-GB" altLang="en-US">
                <a:solidFill>
                  <a:srgbClr val="000000"/>
                </a:solidFill>
                <a:latin typeface="Arial" panose="020B0604020202020204" pitchFamily="34" charset="0"/>
                <a:cs typeface="Times New Roman" panose="02020603050405020304" pitchFamily="18" charset="0"/>
              </a:rPr>
              <a:t>Project Initiation</a:t>
            </a:r>
          </a:p>
        </p:txBody>
      </p:sp>
      <p:sp>
        <p:nvSpPr>
          <p:cNvPr id="81931" name="Line 10"/>
          <p:cNvSpPr>
            <a:spLocks noChangeShapeType="1"/>
          </p:cNvSpPr>
          <p:nvPr/>
        </p:nvSpPr>
        <p:spPr bwMode="auto">
          <a:xfrm>
            <a:off x="2124075" y="1798638"/>
            <a:ext cx="431800" cy="2619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1932" name="Rectangle 11"/>
          <p:cNvSpPr>
            <a:spLocks noChangeArrowheads="1"/>
          </p:cNvSpPr>
          <p:nvPr/>
        </p:nvSpPr>
        <p:spPr bwMode="auto">
          <a:xfrm>
            <a:off x="7164388"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E8C39CE7-9A34-4EB5-9BD7-9768CBAA0162}"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
        <p:nvSpPr>
          <p:cNvPr id="81933" name="Marcador de Posição do Rodapé 3"/>
          <p:cNvSpPr txBox="1">
            <a:spLocks/>
          </p:cNvSpPr>
          <p:nvPr/>
        </p:nvSpPr>
        <p:spPr bwMode="auto">
          <a:xfrm>
            <a:off x="2555875" y="6461125"/>
            <a:ext cx="43926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r" eaLnBrk="1" hangingPunct="1">
              <a:spcBef>
                <a:spcPct val="0"/>
              </a:spcBef>
              <a:buClrTx/>
              <a:buSzTx/>
              <a:buFontTx/>
              <a:buNone/>
            </a:pPr>
            <a:r>
              <a:rPr lang="en-GB" altLang="en-US" sz="1200" dirty="0" smtClean="0">
                <a:solidFill>
                  <a:srgbClr val="000000"/>
                </a:solidFill>
              </a:rPr>
              <a:t>Systems</a:t>
            </a:r>
            <a:endParaRPr lang="pt-PT" altLang="en-US" sz="1200" dirty="0">
              <a:solidFill>
                <a:srgbClr val="000000"/>
              </a:solidFill>
            </a:endParaRPr>
          </a:p>
        </p:txBody>
      </p:sp>
    </p:spTree>
    <p:extLst>
      <p:ext uri="{BB962C8B-B14F-4D97-AF65-F5344CB8AC3E}">
        <p14:creationId xmlns:p14="http://schemas.microsoft.com/office/powerpoint/2010/main" val="20764217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pPr eaLnBrk="1" hangingPunct="1"/>
            <a:r>
              <a:rPr lang="en-GB" altLang="en-US" sz="4000" smtClean="0"/>
              <a:t>The Prototyping Model:</a:t>
            </a:r>
          </a:p>
        </p:txBody>
      </p:sp>
      <p:sp>
        <p:nvSpPr>
          <p:cNvPr id="82948" name="Rectangle 3"/>
          <p:cNvSpPr>
            <a:spLocks noGrp="1" noChangeArrowheads="1"/>
          </p:cNvSpPr>
          <p:nvPr>
            <p:ph idx="1"/>
          </p:nvPr>
        </p:nvSpPr>
        <p:spPr>
          <a:xfrm>
            <a:off x="323850" y="1484313"/>
            <a:ext cx="6446838" cy="3881437"/>
          </a:xfrm>
        </p:spPr>
        <p:txBody>
          <a:bodyPr>
            <a:normAutofit fontScale="92500"/>
          </a:bodyPr>
          <a:lstStyle/>
          <a:p>
            <a:pPr eaLnBrk="1" hangingPunct="1"/>
            <a:r>
              <a:rPr lang="en-GB" altLang="en-US" sz="3200" smtClean="0"/>
              <a:t>Sometimes viewed as a life cycle model</a:t>
            </a:r>
          </a:p>
          <a:p>
            <a:pPr eaLnBrk="1" hangingPunct="1"/>
            <a:r>
              <a:rPr lang="en-GB" altLang="en-US" sz="3200" smtClean="0"/>
              <a:t>More accurate to describe it as a technique for establishing user requirements</a:t>
            </a:r>
          </a:p>
          <a:p>
            <a:pPr eaLnBrk="1" hangingPunct="1"/>
            <a:r>
              <a:rPr lang="en-GB" altLang="en-US" sz="3200" smtClean="0"/>
              <a:t>Often used with other models (RAD, Spiral Model, Waterfall)</a:t>
            </a:r>
          </a:p>
        </p:txBody>
      </p:sp>
      <p:sp>
        <p:nvSpPr>
          <p:cNvPr id="82946" name="Slide Number Placeholder 5"/>
          <p:cNvSpPr>
            <a:spLocks noGrp="1"/>
          </p:cNvSpPr>
          <p:nvPr>
            <p:ph type="sldNum" sz="quarter" idx="12"/>
          </p:nvPr>
        </p:nvSpPr>
        <p:spPr bwMode="auto">
          <a:xfrm>
            <a:off x="8675688" y="6165850"/>
            <a:ext cx="468312"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C8F01A67-F6F3-4A90-B0E9-67360B5640AC}"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65</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82949" name="Rectangle 4"/>
          <p:cNvSpPr>
            <a:spLocks noChangeArrowheads="1"/>
          </p:cNvSpPr>
          <p:nvPr/>
        </p:nvSpPr>
        <p:spPr bwMode="auto">
          <a:xfrm>
            <a:off x="7164388"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C45FBA36-EF92-43B7-A92C-7F159C3A9412}"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634986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ChangeArrowheads="1"/>
          </p:cNvSpPr>
          <p:nvPr>
            <p:ph type="title"/>
          </p:nvPr>
        </p:nvSpPr>
        <p:spPr>
          <a:xfrm>
            <a:off x="1962150" y="163513"/>
            <a:ext cx="6446838" cy="1320800"/>
          </a:xfrm>
        </p:spPr>
        <p:txBody>
          <a:bodyPr/>
          <a:lstStyle/>
          <a:p>
            <a:pPr eaLnBrk="1" hangingPunct="1"/>
            <a:r>
              <a:rPr lang="en-GB" altLang="en-US" sz="4000" smtClean="0"/>
              <a:t>The Prototyping Model: continued</a:t>
            </a:r>
          </a:p>
        </p:txBody>
      </p:sp>
      <p:sp>
        <p:nvSpPr>
          <p:cNvPr id="441347" name="Rectangle 3"/>
          <p:cNvSpPr>
            <a:spLocks noGrp="1" noChangeArrowheads="1"/>
          </p:cNvSpPr>
          <p:nvPr>
            <p:ph idx="1"/>
          </p:nvPr>
        </p:nvSpPr>
        <p:spPr>
          <a:xfrm>
            <a:off x="1331640" y="1609300"/>
            <a:ext cx="8229600" cy="4525962"/>
          </a:xfrm>
        </p:spPr>
        <p:txBody>
          <a:bodyPr rtlCol="0">
            <a:normAutofit fontScale="92500" lnSpcReduction="20000"/>
          </a:bodyPr>
          <a:lstStyle/>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Will depend on whether the final software to be developed lends itself to prototyping</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Depends on the availability of appropriate prototyping tools to assist the process</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Begins with requirements gathering</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Quick design occurs</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Prototype is developed</a:t>
            </a:r>
          </a:p>
          <a:p>
            <a:pPr eaLnBrk="1" fontAlgn="auto" hangingPunct="1">
              <a:spcAft>
                <a:spcPts val="0"/>
              </a:spcAft>
              <a:buFont typeface="Wingdings 3" charset="2"/>
              <a:buChar char=""/>
              <a:defRPr/>
            </a:pPr>
            <a:r>
              <a:rPr lang="en-GB" altLang="en-US" sz="2800" dirty="0" smtClean="0">
                <a:solidFill>
                  <a:schemeClr val="tx1">
                    <a:lumMod val="75000"/>
                    <a:lumOff val="25000"/>
                  </a:schemeClr>
                </a:solidFill>
              </a:rPr>
              <a:t>Prototype is evaluated</a:t>
            </a:r>
          </a:p>
          <a:p>
            <a:pPr eaLnBrk="1" fontAlgn="auto" hangingPunct="1">
              <a:spcAft>
                <a:spcPts val="0"/>
              </a:spcAft>
              <a:buFont typeface="Wingdings 3" charset="2"/>
              <a:buChar char=""/>
              <a:defRPr/>
            </a:pPr>
            <a:r>
              <a:rPr lang="en-GB" altLang="en-US" sz="2800" i="1" dirty="0" smtClean="0">
                <a:solidFill>
                  <a:schemeClr val="tx1">
                    <a:lumMod val="75000"/>
                    <a:lumOff val="25000"/>
                  </a:schemeClr>
                </a:solidFill>
              </a:rPr>
              <a:t>Process is repeated </a:t>
            </a:r>
          </a:p>
          <a:p>
            <a:pPr eaLnBrk="1" fontAlgn="auto" hangingPunct="1">
              <a:spcAft>
                <a:spcPts val="0"/>
              </a:spcAft>
              <a:buFont typeface="Wingdings 3" charset="2"/>
              <a:buChar char=""/>
              <a:defRPr/>
            </a:pPr>
            <a:endParaRPr lang="en-GB" altLang="en-US" sz="2800" i="1" dirty="0" smtClean="0">
              <a:solidFill>
                <a:schemeClr val="tx1">
                  <a:lumMod val="75000"/>
                  <a:lumOff val="25000"/>
                </a:schemeClr>
              </a:solidFill>
            </a:endParaRPr>
          </a:p>
        </p:txBody>
      </p:sp>
      <p:sp>
        <p:nvSpPr>
          <p:cNvPr id="83970" name="Slide Number Placeholder 5"/>
          <p:cNvSpPr>
            <a:spLocks noGrp="1"/>
          </p:cNvSpPr>
          <p:nvPr>
            <p:ph type="sldNum" sz="quarter" idx="12"/>
          </p:nvPr>
        </p:nvSpPr>
        <p:spPr bwMode="auto">
          <a:xfrm>
            <a:off x="8748713" y="6165850"/>
            <a:ext cx="395287"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BEAFA55C-18E5-4894-A036-303C7B1E4615}" type="slidenum">
              <a:rPr lang="en-US"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66</a:t>
            </a:fld>
            <a:endParaRPr lang="en-US" altLang="en-US" sz="1400">
              <a:solidFill>
                <a:srgbClr val="000000"/>
              </a:solidFill>
              <a:latin typeface="Arial" panose="020B0604020202020204" pitchFamily="34" charset="0"/>
              <a:cs typeface="Times New Roman" panose="02020603050405020304" pitchFamily="18" charset="0"/>
            </a:endParaRPr>
          </a:p>
        </p:txBody>
      </p:sp>
      <p:sp>
        <p:nvSpPr>
          <p:cNvPr id="83973" name="Rectangle 4"/>
          <p:cNvSpPr>
            <a:spLocks noChangeArrowheads="1"/>
          </p:cNvSpPr>
          <p:nvPr/>
        </p:nvSpPr>
        <p:spPr bwMode="auto">
          <a:xfrm>
            <a:off x="7164388" y="6550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fld id="{DF6A80AA-7CA5-46A9-AA55-2DB2D7993E6E}" type="datetime1">
              <a:rPr lang="en-GB" altLang="en-US" sz="1400">
                <a:solidFill>
                  <a:srgbClr val="000000"/>
                </a:solidFill>
                <a:latin typeface="Arial" panose="020B0604020202020204" pitchFamily="34" charset="0"/>
                <a:cs typeface="Times New Roman" panose="02020603050405020304" pitchFamily="18" charset="0"/>
              </a:rPr>
              <a:pPr eaLnBrk="1" hangingPunct="1">
                <a:spcBef>
                  <a:spcPct val="0"/>
                </a:spcBef>
                <a:buClrTx/>
                <a:buSzTx/>
                <a:buFontTx/>
                <a:buNone/>
              </a:pPr>
              <a:t>25/11/2019</a:t>
            </a:fld>
            <a:endParaRPr lang="en-GB" altLang="en-US" sz="1400">
              <a:solidFill>
                <a:srgbClr val="000000"/>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8762422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41347">
                                            <p:txEl>
                                              <p:pRg st="0" end="0"/>
                                            </p:txEl>
                                          </p:spTgt>
                                        </p:tgtEl>
                                        <p:attrNameLst>
                                          <p:attrName>style.visibility</p:attrName>
                                        </p:attrNameLst>
                                      </p:cBhvr>
                                      <p:to>
                                        <p:strVal val="visible"/>
                                      </p:to>
                                    </p:set>
                                    <p:anim calcmode="lin" valueType="num">
                                      <p:cBhvr additive="base">
                                        <p:cTn id="7" dur="500" fill="hold"/>
                                        <p:tgtEl>
                                          <p:spTgt spid="441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1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41347">
                                            <p:txEl>
                                              <p:pRg st="1" end="1"/>
                                            </p:txEl>
                                          </p:spTgt>
                                        </p:tgtEl>
                                        <p:attrNameLst>
                                          <p:attrName>style.visibility</p:attrName>
                                        </p:attrNameLst>
                                      </p:cBhvr>
                                      <p:to>
                                        <p:strVal val="visible"/>
                                      </p:to>
                                    </p:set>
                                    <p:anim calcmode="lin" valueType="num">
                                      <p:cBhvr additive="base">
                                        <p:cTn id="13" dur="500" fill="hold"/>
                                        <p:tgtEl>
                                          <p:spTgt spid="441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1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41347">
                                            <p:txEl>
                                              <p:pRg st="2" end="2"/>
                                            </p:txEl>
                                          </p:spTgt>
                                        </p:tgtEl>
                                        <p:attrNameLst>
                                          <p:attrName>style.visibility</p:attrName>
                                        </p:attrNameLst>
                                      </p:cBhvr>
                                      <p:to>
                                        <p:strVal val="visible"/>
                                      </p:to>
                                    </p:set>
                                    <p:anim calcmode="lin" valueType="num">
                                      <p:cBhvr additive="base">
                                        <p:cTn id="19" dur="500" fill="hold"/>
                                        <p:tgtEl>
                                          <p:spTgt spid="4413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13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1347">
                                            <p:txEl>
                                              <p:pRg st="2" end="2"/>
                                            </p:txEl>
                                          </p:spTgt>
                                        </p:tgtEl>
                                        <p:attrNameLst>
                                          <p:attrName>style.visibility</p:attrName>
                                        </p:attrNameLst>
                                      </p:cBhvr>
                                      <p:to>
                                        <p:strVal val="visible"/>
                                      </p:to>
                                    </p:set>
                                    <p:anim calcmode="lin" valueType="num">
                                      <p:cBhvr additive="base">
                                        <p:cTn id="25" dur="500" fill="hold"/>
                                        <p:tgtEl>
                                          <p:spTgt spid="44134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1347">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41347">
                                            <p:txEl>
                                              <p:pRg st="3" end="3"/>
                                            </p:txEl>
                                          </p:spTgt>
                                        </p:tgtEl>
                                        <p:attrNameLst>
                                          <p:attrName>style.visibility</p:attrName>
                                        </p:attrNameLst>
                                      </p:cBhvr>
                                      <p:to>
                                        <p:strVal val="visible"/>
                                      </p:to>
                                    </p:set>
                                    <p:anim calcmode="lin" valueType="num">
                                      <p:cBhvr additive="base">
                                        <p:cTn id="29" dur="500" fill="hold"/>
                                        <p:tgtEl>
                                          <p:spTgt spid="44134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41347">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41347">
                                            <p:txEl>
                                              <p:pRg st="4" end="4"/>
                                            </p:txEl>
                                          </p:spTgt>
                                        </p:tgtEl>
                                        <p:attrNameLst>
                                          <p:attrName>style.visibility</p:attrName>
                                        </p:attrNameLst>
                                      </p:cBhvr>
                                      <p:to>
                                        <p:strVal val="visible"/>
                                      </p:to>
                                    </p:set>
                                    <p:anim calcmode="lin" valueType="num">
                                      <p:cBhvr additive="base">
                                        <p:cTn id="33" dur="500" fill="hold"/>
                                        <p:tgtEl>
                                          <p:spTgt spid="441347">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41347">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41347">
                                            <p:txEl>
                                              <p:pRg st="5" end="5"/>
                                            </p:txEl>
                                          </p:spTgt>
                                        </p:tgtEl>
                                        <p:attrNameLst>
                                          <p:attrName>style.visibility</p:attrName>
                                        </p:attrNameLst>
                                      </p:cBhvr>
                                      <p:to>
                                        <p:strVal val="visible"/>
                                      </p:to>
                                    </p:set>
                                    <p:anim calcmode="lin" valueType="num">
                                      <p:cBhvr additive="base">
                                        <p:cTn id="37" dur="500" fill="hold"/>
                                        <p:tgtEl>
                                          <p:spTgt spid="44134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1347">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41347">
                                            <p:txEl>
                                              <p:pRg st="6" end="6"/>
                                            </p:txEl>
                                          </p:spTgt>
                                        </p:tgtEl>
                                        <p:attrNameLst>
                                          <p:attrName>style.visibility</p:attrName>
                                        </p:attrNameLst>
                                      </p:cBhvr>
                                      <p:to>
                                        <p:strVal val="visible"/>
                                      </p:to>
                                    </p:set>
                                    <p:anim calcmode="lin" valueType="num">
                                      <p:cBhvr additive="base">
                                        <p:cTn id="41" dur="500" fill="hold"/>
                                        <p:tgtEl>
                                          <p:spTgt spid="441347">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413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itle 2"/>
          <p:cNvSpPr>
            <a:spLocks noGrp="1"/>
          </p:cNvSpPr>
          <p:nvPr>
            <p:ph type="title"/>
          </p:nvPr>
        </p:nvSpPr>
        <p:spPr/>
        <p:txBody>
          <a:bodyPr/>
          <a:lstStyle/>
          <a:p>
            <a:pPr eaLnBrk="1" hangingPunct="1"/>
            <a:r>
              <a:rPr lang="en-US" altLang="en-US" smtClean="0"/>
              <a:t>Kanban</a:t>
            </a:r>
          </a:p>
        </p:txBody>
      </p:sp>
      <p:sp>
        <p:nvSpPr>
          <p:cNvPr id="69634" name="Content Placeholder 1"/>
          <p:cNvSpPr>
            <a:spLocks noGrp="1"/>
          </p:cNvSpPr>
          <p:nvPr>
            <p:ph idx="1"/>
          </p:nvPr>
        </p:nvSpPr>
        <p:spPr>
          <a:xfrm>
            <a:off x="393700" y="1406525"/>
            <a:ext cx="7161213" cy="4533900"/>
          </a:xfrm>
        </p:spPr>
        <p:txBody>
          <a:bodyPr/>
          <a:lstStyle/>
          <a:p>
            <a:pPr eaLnBrk="1" hangingPunct="1"/>
            <a:r>
              <a:rPr lang="en-US" altLang="en-US" sz="2800" smtClean="0"/>
              <a:t>Technique that can be used in conjunction with scrum</a:t>
            </a:r>
          </a:p>
          <a:p>
            <a:pPr eaLnBrk="1" hangingPunct="1"/>
            <a:r>
              <a:rPr lang="en-US" altLang="en-US" sz="2800" smtClean="0"/>
              <a:t>Developed in Japan by Toyota Motor Corporation</a:t>
            </a:r>
          </a:p>
          <a:p>
            <a:pPr eaLnBrk="1" hangingPunct="1"/>
            <a:r>
              <a:rPr lang="en-US" altLang="en-US" sz="2800" smtClean="0"/>
              <a:t>Uses visual cues to guide workflow</a:t>
            </a:r>
          </a:p>
          <a:p>
            <a:pPr eaLnBrk="1" hangingPunct="1"/>
            <a:r>
              <a:rPr lang="en-US" altLang="en-US" sz="2800" smtClean="0"/>
              <a:t>Kanban cards show new work, work in progress, and work completed</a:t>
            </a:r>
          </a:p>
        </p:txBody>
      </p:sp>
      <p:sp>
        <p:nvSpPr>
          <p:cNvPr id="41988" name="Footer Placeholder 3"/>
          <p:cNvSpPr>
            <a:spLocks noGrp="1"/>
          </p:cNvSpPr>
          <p:nvPr>
            <p:ph type="ftr" sz="quarter" idx="11"/>
          </p:nvPr>
        </p:nvSpPr>
        <p:spPr bwMode="auto">
          <a:xfrm>
            <a:off x="5665788" y="6351588"/>
            <a:ext cx="3478212"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itchFamily="34" charset="0"/>
              </a:defRPr>
            </a:lvl1pPr>
            <a:lvl2pPr marL="742950" indent="-285750">
              <a:defRPr>
                <a:solidFill>
                  <a:schemeClr val="tx1"/>
                </a:solidFill>
                <a:latin typeface="Trebuchet MS" pitchFamily="34" charset="0"/>
              </a:defRPr>
            </a:lvl2pPr>
            <a:lvl3pPr marL="1143000" indent="-228600">
              <a:defRPr>
                <a:solidFill>
                  <a:schemeClr val="tx1"/>
                </a:solidFill>
                <a:latin typeface="Trebuchet MS" pitchFamily="34" charset="0"/>
              </a:defRPr>
            </a:lvl3pPr>
            <a:lvl4pPr marL="1600200" indent="-228600">
              <a:defRPr>
                <a:solidFill>
                  <a:schemeClr val="tx1"/>
                </a:solidFill>
                <a:latin typeface="Trebuchet MS" pitchFamily="34" charset="0"/>
              </a:defRPr>
            </a:lvl4pPr>
            <a:lvl5pPr marL="2057400" indent="-228600">
              <a:defRPr>
                <a:solidFill>
                  <a:schemeClr val="tx1"/>
                </a:solidFill>
                <a:latin typeface="Trebuchet MS" pitchFamily="34" charset="0"/>
              </a:defRPr>
            </a:lvl5pPr>
            <a:lvl6pPr marL="2514600" indent="-228600" fontAlgn="base">
              <a:spcBef>
                <a:spcPct val="0"/>
              </a:spcBef>
              <a:spcAft>
                <a:spcPct val="0"/>
              </a:spcAft>
              <a:defRPr>
                <a:solidFill>
                  <a:schemeClr val="tx1"/>
                </a:solidFill>
                <a:latin typeface="Trebuchet MS" pitchFamily="34" charset="0"/>
              </a:defRPr>
            </a:lvl6pPr>
            <a:lvl7pPr marL="2971800" indent="-228600" fontAlgn="base">
              <a:spcBef>
                <a:spcPct val="0"/>
              </a:spcBef>
              <a:spcAft>
                <a:spcPct val="0"/>
              </a:spcAft>
              <a:defRPr>
                <a:solidFill>
                  <a:schemeClr val="tx1"/>
                </a:solidFill>
                <a:latin typeface="Trebuchet MS" pitchFamily="34" charset="0"/>
              </a:defRPr>
            </a:lvl7pPr>
            <a:lvl8pPr marL="3429000" indent="-228600" fontAlgn="base">
              <a:spcBef>
                <a:spcPct val="0"/>
              </a:spcBef>
              <a:spcAft>
                <a:spcPct val="0"/>
              </a:spcAft>
              <a:defRPr>
                <a:solidFill>
                  <a:schemeClr val="tx1"/>
                </a:solidFill>
                <a:latin typeface="Trebuchet MS" pitchFamily="34" charset="0"/>
              </a:defRPr>
            </a:lvl8pPr>
            <a:lvl9pPr marL="3886200" indent="-228600" fontAlgn="base">
              <a:spcBef>
                <a:spcPct val="0"/>
              </a:spcBef>
              <a:spcAft>
                <a:spcPct val="0"/>
              </a:spcAft>
              <a:defRPr>
                <a:solidFill>
                  <a:schemeClr val="tx1"/>
                </a:solidFill>
                <a:latin typeface="Trebuchet MS" pitchFamily="34" charset="0"/>
              </a:defRPr>
            </a:lvl9pPr>
          </a:lstStyle>
          <a:p>
            <a:pPr algn="r" fontAlgn="base">
              <a:spcBef>
                <a:spcPct val="0"/>
              </a:spcBef>
              <a:spcAft>
                <a:spcPct val="0"/>
              </a:spcAft>
              <a:defRPr/>
            </a:pPr>
            <a:r>
              <a:rPr lang="en-US" altLang="en-US" dirty="0" smtClean="0">
                <a:solidFill>
                  <a:srgbClr val="898989"/>
                </a:solidFill>
              </a:rPr>
              <a:t>Information Technology Project Management, Eighth Edition</a:t>
            </a:r>
          </a:p>
        </p:txBody>
      </p:sp>
      <p:sp>
        <p:nvSpPr>
          <p:cNvPr id="41989" name="Slide Number Placeholder 4"/>
          <p:cNvSpPr>
            <a:spLocks noGrp="1"/>
          </p:cNvSpPr>
          <p:nvPr>
            <p:ph type="sldNum" sz="quarter" idx="12"/>
          </p:nvPr>
        </p:nvSpPr>
        <p:spPr bwMode="auto">
          <a:xfrm>
            <a:off x="0" y="6042025"/>
            <a:ext cx="4722813"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eaLnBrk="0" hangingPunct="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eaLnBrk="0" hangingPunct="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eaLnBrk="0" hangingPunct="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l" eaLnBrk="1" hangingPunct="1">
              <a:spcBef>
                <a:spcPct val="0"/>
              </a:spcBef>
              <a:buClrTx/>
              <a:buSzTx/>
              <a:buFontTx/>
              <a:buNone/>
            </a:pPr>
            <a:fld id="{8D47457D-FD9D-433D-9F5B-AB93E78B79C2}" type="slidenum">
              <a:rPr lang="en-US" altLang="en-US">
                <a:solidFill>
                  <a:srgbClr val="898989"/>
                </a:solidFill>
              </a:rPr>
              <a:pPr algn="l" eaLnBrk="1" hangingPunct="1">
                <a:spcBef>
                  <a:spcPct val="0"/>
                </a:spcBef>
                <a:buClrTx/>
                <a:buSzTx/>
                <a:buFontTx/>
                <a:buNone/>
              </a:pPr>
              <a:t>67</a:t>
            </a:fld>
            <a:endParaRPr lang="en-US" altLang="en-US">
              <a:solidFill>
                <a:srgbClr val="898989"/>
              </a:solidFill>
            </a:endParaRPr>
          </a:p>
        </p:txBody>
      </p:sp>
    </p:spTree>
    <p:extLst>
      <p:ext uri="{BB962C8B-B14F-4D97-AF65-F5344CB8AC3E}">
        <p14:creationId xmlns:p14="http://schemas.microsoft.com/office/powerpoint/2010/main" val="16850221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1259632" y="188640"/>
            <a:ext cx="7094910" cy="1320800"/>
          </a:xfrm>
        </p:spPr>
        <p:txBody>
          <a:bodyPr>
            <a:normAutofit/>
          </a:bodyPr>
          <a:lstStyle/>
          <a:p>
            <a:pPr eaLnBrk="1" hangingPunct="1"/>
            <a:r>
              <a:rPr lang="en-GB" altLang="en-US" sz="2800" dirty="0" smtClean="0"/>
              <a:t>If Agile methods have so many positive feedback from industry why IT projects still go wrong?</a:t>
            </a:r>
            <a:endParaRPr lang="en-US" altLang="en-US" sz="2800" dirty="0" smtClean="0"/>
          </a:p>
        </p:txBody>
      </p:sp>
      <p:sp>
        <p:nvSpPr>
          <p:cNvPr id="43012" name="Rectangle 3"/>
          <p:cNvSpPr>
            <a:spLocks noGrp="1" noChangeArrowheads="1"/>
          </p:cNvSpPr>
          <p:nvPr>
            <p:ph idx="1"/>
          </p:nvPr>
        </p:nvSpPr>
        <p:spPr>
          <a:xfrm>
            <a:off x="1043608" y="1628800"/>
            <a:ext cx="6912768" cy="4536504"/>
          </a:xfrm>
        </p:spPr>
        <p:txBody>
          <a:bodyPr/>
          <a:lstStyle/>
          <a:p>
            <a:pPr eaLnBrk="1" hangingPunct="1">
              <a:lnSpc>
                <a:spcPct val="90000"/>
              </a:lnSpc>
              <a:buFont typeface="Wingdings" panose="05000000000000000000" pitchFamily="2" charset="2"/>
              <a:buNone/>
            </a:pPr>
            <a:r>
              <a:rPr lang="en-GB" altLang="en-US" sz="2100" dirty="0" smtClean="0"/>
              <a:t>Interview with IT managers</a:t>
            </a:r>
          </a:p>
          <a:p>
            <a:pPr eaLnBrk="1" hangingPunct="1">
              <a:lnSpc>
                <a:spcPct val="90000"/>
              </a:lnSpc>
            </a:pPr>
            <a:r>
              <a:rPr lang="en-GB" altLang="en-US" sz="2100" dirty="0" smtClean="0"/>
              <a:t>Agile teams focus on features too much and forget the non-functional requirements are very important such as reliability, interface, also like staff training, decision making, allow customers change their requirements (each requirement most likely is fix price) but need to let them know that the schedule and budget will increase also may lead their business lose their market due to late delivery the project.</a:t>
            </a:r>
          </a:p>
          <a:p>
            <a:pPr eaLnBrk="1" hangingPunct="1">
              <a:lnSpc>
                <a:spcPct val="90000"/>
              </a:lnSpc>
            </a:pPr>
            <a:r>
              <a:rPr lang="en-GB" altLang="en-US" sz="2100" dirty="0" smtClean="0"/>
              <a:t>It would work on the large project but need every strong management skills. </a:t>
            </a:r>
          </a:p>
          <a:p>
            <a:pPr eaLnBrk="1" hangingPunct="1">
              <a:lnSpc>
                <a:spcPct val="90000"/>
              </a:lnSpc>
            </a:pPr>
            <a:r>
              <a:rPr lang="en-GB" altLang="en-US" sz="2100" dirty="0" smtClean="0"/>
              <a:t>It is like so many mini-waterfall iteration. Most Agile project will combine two or more agile methods to make a project work. It depends on manager’s experience most. </a:t>
            </a:r>
            <a:endParaRPr lang="en-US" altLang="en-US" sz="2100" dirty="0" smtClean="0"/>
          </a:p>
        </p:txBody>
      </p:sp>
    </p:spTree>
    <p:extLst>
      <p:ext uri="{BB962C8B-B14F-4D97-AF65-F5344CB8AC3E}">
        <p14:creationId xmlns:p14="http://schemas.microsoft.com/office/powerpoint/2010/main" val="18384995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Terms  Cont.</a:t>
            </a:r>
            <a:endParaRPr lang="en-GB" dirty="0"/>
          </a:p>
        </p:txBody>
      </p:sp>
      <p:sp>
        <p:nvSpPr>
          <p:cNvPr id="3" name="Content Placeholder 2"/>
          <p:cNvSpPr>
            <a:spLocks noGrp="1"/>
          </p:cNvSpPr>
          <p:nvPr>
            <p:ph idx="1"/>
          </p:nvPr>
        </p:nvSpPr>
        <p:spPr>
          <a:xfrm>
            <a:off x="530785" y="1412776"/>
            <a:ext cx="6446838" cy="4608512"/>
          </a:xfrm>
        </p:spPr>
        <p:txBody>
          <a:bodyPr>
            <a:normAutofit fontScale="85000" lnSpcReduction="10000"/>
          </a:bodyPr>
          <a:lstStyle/>
          <a:p>
            <a:r>
              <a:rPr lang="en-US" b="1" dirty="0" smtClean="0"/>
              <a:t>adaptive </a:t>
            </a:r>
            <a:r>
              <a:rPr lang="en-US" b="1" dirty="0"/>
              <a:t>software development (ASD) </a:t>
            </a:r>
            <a:r>
              <a:rPr lang="en-US" dirty="0"/>
              <a:t> A software development approach used when requirements cannot be clearly expressed early in the life cycle </a:t>
            </a:r>
            <a:endParaRPr lang="en-GB" dirty="0"/>
          </a:p>
          <a:p>
            <a:r>
              <a:rPr lang="en-US" b="1" dirty="0"/>
              <a:t>agile </a:t>
            </a:r>
            <a:r>
              <a:rPr lang="en-US" dirty="0"/>
              <a:t> Quick and coordinated in movement; a method based on iterative and incremental development, in which requirements and solutions evolve through collaboration </a:t>
            </a:r>
            <a:endParaRPr lang="en-GB" dirty="0"/>
          </a:p>
          <a:p>
            <a:r>
              <a:rPr lang="en-US" b="1" dirty="0"/>
              <a:t>agile software development </a:t>
            </a:r>
            <a:r>
              <a:rPr lang="en-US" dirty="0"/>
              <a:t> A method for software development that uses new approaches, focusing on close collaboration between programming teams and business experts </a:t>
            </a:r>
            <a:endParaRPr lang="en-GB" dirty="0"/>
          </a:p>
          <a:p>
            <a:r>
              <a:rPr lang="en-US" b="1" dirty="0"/>
              <a:t>champion </a:t>
            </a:r>
            <a:r>
              <a:rPr lang="en-US" dirty="0"/>
              <a:t> A senior manager who acts as a key proponent for a project </a:t>
            </a:r>
            <a:endParaRPr lang="en-GB" dirty="0"/>
          </a:p>
        </p:txBody>
      </p:sp>
    </p:spTree>
    <p:extLst>
      <p:ext uri="{BB962C8B-B14F-4D97-AF65-F5344CB8AC3E}">
        <p14:creationId xmlns:p14="http://schemas.microsoft.com/office/powerpoint/2010/main" val="186756383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Terms Cont.</a:t>
            </a:r>
            <a:endParaRPr lang="en-GB" dirty="0"/>
          </a:p>
        </p:txBody>
      </p:sp>
      <p:sp>
        <p:nvSpPr>
          <p:cNvPr id="3" name="Content Placeholder 2"/>
          <p:cNvSpPr>
            <a:spLocks noGrp="1"/>
          </p:cNvSpPr>
          <p:nvPr>
            <p:ph idx="1"/>
          </p:nvPr>
        </p:nvSpPr>
        <p:spPr>
          <a:xfrm>
            <a:off x="530785" y="1412776"/>
            <a:ext cx="6446838" cy="4608512"/>
          </a:xfrm>
        </p:spPr>
        <p:txBody>
          <a:bodyPr>
            <a:normAutofit fontScale="85000" lnSpcReduction="20000"/>
          </a:bodyPr>
          <a:lstStyle/>
          <a:p>
            <a:r>
              <a:rPr lang="en-US" b="1" dirty="0" smtClean="0"/>
              <a:t>deliverable</a:t>
            </a:r>
            <a:r>
              <a:rPr lang="en-US" b="1" dirty="0"/>
              <a:t> </a:t>
            </a:r>
            <a:r>
              <a:rPr lang="en-US" dirty="0"/>
              <a:t> A product or service, such as a technical report, a training session, a piece of hardware, or a segment of software code, produced or provided as part of a project </a:t>
            </a:r>
            <a:endParaRPr lang="en-GB" dirty="0"/>
          </a:p>
          <a:p>
            <a:r>
              <a:rPr lang="en-US" b="1" dirty="0"/>
              <a:t>executive steering committee </a:t>
            </a:r>
            <a:r>
              <a:rPr lang="en-US" dirty="0"/>
              <a:t> A group of senior executives from various parts of the organization who regularly review important corporate projects and issues </a:t>
            </a:r>
            <a:endParaRPr lang="en-GB" dirty="0"/>
          </a:p>
          <a:p>
            <a:r>
              <a:rPr lang="en-US" b="1" dirty="0"/>
              <a:t>functional organizational structure </a:t>
            </a:r>
            <a:r>
              <a:rPr lang="en-US" dirty="0"/>
              <a:t> An organizational structure that groups people by functional areas such as IT, manufacturing, engineering, and human resources </a:t>
            </a:r>
            <a:endParaRPr lang="en-GB" dirty="0"/>
          </a:p>
          <a:p>
            <a:r>
              <a:rPr lang="en-US" b="1" dirty="0"/>
              <a:t>human resources (HR) frame </a:t>
            </a:r>
            <a:r>
              <a:rPr lang="en-US" dirty="0"/>
              <a:t> A frame that focuses on producing harmony between the needs of the organization and the needs of people </a:t>
            </a:r>
            <a:endParaRPr lang="en-GB" dirty="0"/>
          </a:p>
        </p:txBody>
      </p:sp>
    </p:spTree>
    <p:extLst>
      <p:ext uri="{BB962C8B-B14F-4D97-AF65-F5344CB8AC3E}">
        <p14:creationId xmlns:p14="http://schemas.microsoft.com/office/powerpoint/2010/main" val="305872565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Terms  Cont.</a:t>
            </a:r>
            <a:endParaRPr lang="en-GB" dirty="0"/>
          </a:p>
        </p:txBody>
      </p:sp>
      <p:sp>
        <p:nvSpPr>
          <p:cNvPr id="3" name="Content Placeholder 2"/>
          <p:cNvSpPr>
            <a:spLocks noGrp="1"/>
          </p:cNvSpPr>
          <p:nvPr>
            <p:ph idx="1"/>
          </p:nvPr>
        </p:nvSpPr>
        <p:spPr>
          <a:xfrm>
            <a:off x="530785" y="1412776"/>
            <a:ext cx="6446838" cy="3881437"/>
          </a:xfrm>
        </p:spPr>
        <p:txBody>
          <a:bodyPr>
            <a:normAutofit fontScale="85000" lnSpcReduction="20000"/>
          </a:bodyPr>
          <a:lstStyle/>
          <a:p>
            <a:r>
              <a:rPr lang="en-US" b="1" dirty="0" smtClean="0"/>
              <a:t>IT </a:t>
            </a:r>
            <a:r>
              <a:rPr lang="en-US" b="1" dirty="0"/>
              <a:t>governance </a:t>
            </a:r>
            <a:r>
              <a:rPr lang="en-US" dirty="0"/>
              <a:t> The authority and control for key IT activities in organizations, including IT infrastructure, IT use, and project management </a:t>
            </a:r>
            <a:endParaRPr lang="en-GB" dirty="0"/>
          </a:p>
          <a:p>
            <a:r>
              <a:rPr lang="en-US" b="1" dirty="0"/>
              <a:t>kill point </a:t>
            </a:r>
            <a:r>
              <a:rPr lang="en-US" dirty="0"/>
              <a:t> A management review that should occur after each project phase to determine if projects should be continued, redirected, or terminated; also called a phase exit </a:t>
            </a:r>
            <a:endParaRPr lang="en-GB" dirty="0"/>
          </a:p>
          <a:p>
            <a:r>
              <a:rPr lang="en-US" b="1" dirty="0"/>
              <a:t>matrix organizational structure </a:t>
            </a:r>
            <a:r>
              <a:rPr lang="en-US" dirty="0"/>
              <a:t> An organizational structure in which employees are assigned both to functional and project managers </a:t>
            </a:r>
            <a:endParaRPr lang="en-GB" dirty="0"/>
          </a:p>
          <a:p>
            <a:r>
              <a:rPr lang="en-US" b="1" dirty="0"/>
              <a:t>offshoring </a:t>
            </a:r>
            <a:r>
              <a:rPr lang="en-US" dirty="0"/>
              <a:t> Outsourcing from another country </a:t>
            </a:r>
            <a:endParaRPr lang="en-GB" dirty="0"/>
          </a:p>
        </p:txBody>
      </p:sp>
    </p:spTree>
    <p:extLst>
      <p:ext uri="{BB962C8B-B14F-4D97-AF65-F5344CB8AC3E}">
        <p14:creationId xmlns:p14="http://schemas.microsoft.com/office/powerpoint/2010/main" val="60539304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Terms  Cont.</a:t>
            </a:r>
            <a:endParaRPr lang="en-GB" dirty="0"/>
          </a:p>
        </p:txBody>
      </p:sp>
      <p:sp>
        <p:nvSpPr>
          <p:cNvPr id="3" name="Content Placeholder 2"/>
          <p:cNvSpPr>
            <a:spLocks noGrp="1"/>
          </p:cNvSpPr>
          <p:nvPr>
            <p:ph idx="1"/>
          </p:nvPr>
        </p:nvSpPr>
        <p:spPr>
          <a:xfrm>
            <a:off x="530785" y="1412776"/>
            <a:ext cx="6446838" cy="3881437"/>
          </a:xfrm>
        </p:spPr>
        <p:txBody>
          <a:bodyPr>
            <a:normAutofit fontScale="85000" lnSpcReduction="10000"/>
          </a:bodyPr>
          <a:lstStyle/>
          <a:p>
            <a:r>
              <a:rPr lang="en-US" b="1" dirty="0" smtClean="0"/>
              <a:t>organizational </a:t>
            </a:r>
            <a:r>
              <a:rPr lang="en-US" b="1" dirty="0"/>
              <a:t>culture </a:t>
            </a:r>
            <a:r>
              <a:rPr lang="en-US" dirty="0"/>
              <a:t> A set of shared assumptions, values, and behaviors that characterize the functioning of an organization </a:t>
            </a:r>
            <a:endParaRPr lang="en-GB" dirty="0"/>
          </a:p>
          <a:p>
            <a:r>
              <a:rPr lang="en-US" b="1" dirty="0"/>
              <a:t>outsourcing </a:t>
            </a:r>
            <a:r>
              <a:rPr lang="en-US" dirty="0"/>
              <a:t> An organization’s acquisition of goods and services from an outside source </a:t>
            </a:r>
            <a:endParaRPr lang="en-GB" dirty="0"/>
          </a:p>
          <a:p>
            <a:r>
              <a:rPr lang="en-US" b="1" dirty="0"/>
              <a:t>phase exit </a:t>
            </a:r>
            <a:r>
              <a:rPr lang="en-US" dirty="0"/>
              <a:t> A management review that should occur after each project phase to determine if projects should be continued, redirected, or terminated; also called a kill point </a:t>
            </a:r>
            <a:endParaRPr lang="en-GB" dirty="0"/>
          </a:p>
          <a:p>
            <a:r>
              <a:rPr lang="en-US" b="1" dirty="0"/>
              <a:t>political frame </a:t>
            </a:r>
            <a:r>
              <a:rPr lang="en-US" dirty="0"/>
              <a:t> A frame that addresses organizational and personal politics </a:t>
            </a:r>
            <a:endParaRPr lang="en-GB" dirty="0"/>
          </a:p>
        </p:txBody>
      </p:sp>
    </p:spTree>
    <p:extLst>
      <p:ext uri="{BB962C8B-B14F-4D97-AF65-F5344CB8AC3E}">
        <p14:creationId xmlns:p14="http://schemas.microsoft.com/office/powerpoint/2010/main" val="4852855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548680"/>
            <a:ext cx="6446838" cy="1320800"/>
          </a:xfrm>
        </p:spPr>
        <p:txBody>
          <a:bodyPr/>
          <a:lstStyle/>
          <a:p>
            <a:r>
              <a:rPr lang="en-GB" dirty="0" smtClean="0"/>
              <a:t>Key Terms  Cont.</a:t>
            </a:r>
            <a:endParaRPr lang="en-GB" dirty="0"/>
          </a:p>
        </p:txBody>
      </p:sp>
      <p:sp>
        <p:nvSpPr>
          <p:cNvPr id="3" name="Content Placeholder 2"/>
          <p:cNvSpPr>
            <a:spLocks noGrp="1"/>
          </p:cNvSpPr>
          <p:nvPr>
            <p:ph idx="1"/>
          </p:nvPr>
        </p:nvSpPr>
        <p:spPr>
          <a:xfrm>
            <a:off x="530785" y="1412776"/>
            <a:ext cx="6446838" cy="3881437"/>
          </a:xfrm>
        </p:spPr>
        <p:txBody>
          <a:bodyPr>
            <a:normAutofit fontScale="85000" lnSpcReduction="20000"/>
          </a:bodyPr>
          <a:lstStyle/>
          <a:p>
            <a:r>
              <a:rPr lang="en-US" b="1" dirty="0" smtClean="0"/>
              <a:t>politics</a:t>
            </a:r>
            <a:r>
              <a:rPr lang="en-US" b="1" dirty="0"/>
              <a:t> </a:t>
            </a:r>
            <a:r>
              <a:rPr lang="en-US" dirty="0"/>
              <a:t> Competition between groups or individuals for power and leadership </a:t>
            </a:r>
            <a:endParaRPr lang="en-GB" dirty="0"/>
          </a:p>
          <a:p>
            <a:r>
              <a:rPr lang="en-US" b="1" dirty="0"/>
              <a:t>predictive life cycle </a:t>
            </a:r>
            <a:r>
              <a:rPr lang="en-US" dirty="0"/>
              <a:t> A software development approach used when the scope of the project can be articulated clearly and the schedule and cost can be predicted accurately </a:t>
            </a:r>
            <a:endParaRPr lang="en-GB" dirty="0"/>
          </a:p>
          <a:p>
            <a:r>
              <a:rPr lang="en-US" b="1" dirty="0"/>
              <a:t>project acquisition </a:t>
            </a:r>
            <a:r>
              <a:rPr lang="en-US" dirty="0"/>
              <a:t> The last two phases in a project (implementation and close-out) that focus on delivering the actual work </a:t>
            </a:r>
            <a:endParaRPr lang="en-GB" dirty="0"/>
          </a:p>
          <a:p>
            <a:r>
              <a:rPr lang="en-US" b="1" dirty="0"/>
              <a:t>project feasibility </a:t>
            </a:r>
            <a:r>
              <a:rPr lang="en-US" dirty="0"/>
              <a:t> The first two phases in a project (concept and development) that focus on planning </a:t>
            </a:r>
            <a:endParaRPr lang="en-GB" dirty="0"/>
          </a:p>
        </p:txBody>
      </p:sp>
    </p:spTree>
    <p:extLst>
      <p:ext uri="{BB962C8B-B14F-4D97-AF65-F5344CB8AC3E}">
        <p14:creationId xmlns:p14="http://schemas.microsoft.com/office/powerpoint/2010/main" val="31795303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Terms  Cont.</a:t>
            </a:r>
            <a:endParaRPr lang="en-GB" dirty="0"/>
          </a:p>
        </p:txBody>
      </p:sp>
      <p:sp>
        <p:nvSpPr>
          <p:cNvPr id="3" name="Content Placeholder 2"/>
          <p:cNvSpPr>
            <a:spLocks noGrp="1"/>
          </p:cNvSpPr>
          <p:nvPr>
            <p:ph idx="1"/>
          </p:nvPr>
        </p:nvSpPr>
        <p:spPr>
          <a:xfrm>
            <a:off x="530785" y="1412776"/>
            <a:ext cx="6446838" cy="3881437"/>
          </a:xfrm>
        </p:spPr>
        <p:txBody>
          <a:bodyPr>
            <a:normAutofit fontScale="77500" lnSpcReduction="20000"/>
          </a:bodyPr>
          <a:lstStyle/>
          <a:p>
            <a:r>
              <a:rPr lang="en-US" b="1" dirty="0" smtClean="0"/>
              <a:t>project </a:t>
            </a:r>
            <a:r>
              <a:rPr lang="en-US" b="1" dirty="0"/>
              <a:t>life cycle </a:t>
            </a:r>
            <a:r>
              <a:rPr lang="en-US" dirty="0"/>
              <a:t> A collection of project phases, such as concept, development, implementation, and close-out </a:t>
            </a:r>
            <a:endParaRPr lang="en-GB" dirty="0"/>
          </a:p>
          <a:p>
            <a:r>
              <a:rPr lang="en-US" b="1" dirty="0"/>
              <a:t>project organizational structure </a:t>
            </a:r>
            <a:r>
              <a:rPr lang="en-US" dirty="0"/>
              <a:t> An organizational structure that groups people by major projects </a:t>
            </a:r>
            <a:endParaRPr lang="en-GB" dirty="0"/>
          </a:p>
          <a:p>
            <a:r>
              <a:rPr lang="en-US" b="1" dirty="0"/>
              <a:t>Scrum </a:t>
            </a:r>
            <a:r>
              <a:rPr lang="en-US" dirty="0"/>
              <a:t> The leading agile development methodology for completing projects with a complex, innovative scope of work </a:t>
            </a:r>
            <a:endParaRPr lang="en-GB" dirty="0"/>
          </a:p>
          <a:p>
            <a:r>
              <a:rPr lang="en-US" b="1" dirty="0"/>
              <a:t>structural frame </a:t>
            </a:r>
            <a:r>
              <a:rPr lang="en-US" dirty="0"/>
              <a:t> A frame that deals with how the organization is structured (usually depicted in an organizational chart) and focuses on different groups’ roles and responsibilities to meet the goals and policies set by top management </a:t>
            </a:r>
          </a:p>
        </p:txBody>
      </p:sp>
    </p:spTree>
    <p:extLst>
      <p:ext uri="{BB962C8B-B14F-4D97-AF65-F5344CB8AC3E}">
        <p14:creationId xmlns:p14="http://schemas.microsoft.com/office/powerpoint/2010/main" val="18724989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Terms  Cont.</a:t>
            </a:r>
            <a:endParaRPr lang="en-GB" dirty="0"/>
          </a:p>
        </p:txBody>
      </p:sp>
      <p:sp>
        <p:nvSpPr>
          <p:cNvPr id="3" name="Content Placeholder 2"/>
          <p:cNvSpPr>
            <a:spLocks noGrp="1"/>
          </p:cNvSpPr>
          <p:nvPr>
            <p:ph idx="1"/>
          </p:nvPr>
        </p:nvSpPr>
        <p:spPr>
          <a:xfrm>
            <a:off x="530785" y="1412776"/>
            <a:ext cx="6446838" cy="3881437"/>
          </a:xfrm>
        </p:spPr>
        <p:txBody>
          <a:bodyPr>
            <a:normAutofit fontScale="77500" lnSpcReduction="20000"/>
          </a:bodyPr>
          <a:lstStyle/>
          <a:p>
            <a:r>
              <a:rPr lang="en-US" b="1" dirty="0" smtClean="0"/>
              <a:t>symbolic frame </a:t>
            </a:r>
            <a:r>
              <a:rPr lang="en-US" dirty="0" smtClean="0"/>
              <a:t> A frame that focuses on the symbols, meanings, and culture of an organization </a:t>
            </a:r>
            <a:endParaRPr lang="en-GB" dirty="0" smtClean="0"/>
          </a:p>
          <a:p>
            <a:r>
              <a:rPr lang="en-US" b="1" dirty="0" smtClean="0"/>
              <a:t>systems </a:t>
            </a:r>
            <a:r>
              <a:rPr lang="en-US" dirty="0" smtClean="0"/>
              <a:t> Sets of interacting components working within an environment to fulfill some purpose </a:t>
            </a:r>
            <a:endParaRPr lang="en-GB" dirty="0" smtClean="0"/>
          </a:p>
          <a:p>
            <a:r>
              <a:rPr lang="en-US" b="1" dirty="0" smtClean="0"/>
              <a:t>systems analysis </a:t>
            </a:r>
            <a:r>
              <a:rPr lang="en-US" dirty="0" smtClean="0"/>
              <a:t> A problem-solving approach that requires defining the scope of the system to be studied, and then dividing it into component parts for identifying and evaluating its problems, opportunities, constraints, and needs </a:t>
            </a:r>
            <a:endParaRPr lang="en-GB" dirty="0" smtClean="0"/>
          </a:p>
          <a:p>
            <a:r>
              <a:rPr lang="en-US" b="1" dirty="0" smtClean="0"/>
              <a:t>systems approach </a:t>
            </a:r>
            <a:r>
              <a:rPr lang="en-US" dirty="0" smtClean="0"/>
              <a:t> A holistic and analytical approach to solving complex problems that includes using a systems philosophy, systems analysis, and systems management </a:t>
            </a:r>
            <a:endParaRPr lang="en-GB" dirty="0" smtClean="0"/>
          </a:p>
        </p:txBody>
      </p:sp>
    </p:spTree>
    <p:extLst>
      <p:ext uri="{BB962C8B-B14F-4D97-AF65-F5344CB8AC3E}">
        <p14:creationId xmlns:p14="http://schemas.microsoft.com/office/powerpoint/2010/main" val="1349384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Terms  </a:t>
            </a:r>
            <a:endParaRPr lang="en-GB" dirty="0"/>
          </a:p>
        </p:txBody>
      </p:sp>
      <p:sp>
        <p:nvSpPr>
          <p:cNvPr id="3" name="Content Placeholder 2"/>
          <p:cNvSpPr>
            <a:spLocks noGrp="1"/>
          </p:cNvSpPr>
          <p:nvPr>
            <p:ph idx="1"/>
          </p:nvPr>
        </p:nvSpPr>
        <p:spPr>
          <a:xfrm>
            <a:off x="530785" y="1412776"/>
            <a:ext cx="6446838" cy="3881437"/>
          </a:xfrm>
        </p:spPr>
        <p:txBody>
          <a:bodyPr>
            <a:normAutofit fontScale="70000" lnSpcReduction="20000"/>
          </a:bodyPr>
          <a:lstStyle/>
          <a:p>
            <a:r>
              <a:rPr lang="en-US" b="1" dirty="0" smtClean="0"/>
              <a:t>systems development life cycle (SDLC) </a:t>
            </a:r>
            <a:r>
              <a:rPr lang="en-US" dirty="0" smtClean="0"/>
              <a:t> A framework for describing the phases involved in developing and maintaining information systems </a:t>
            </a:r>
            <a:endParaRPr lang="en-GB" dirty="0" smtClean="0"/>
          </a:p>
          <a:p>
            <a:r>
              <a:rPr lang="en-US" b="1" dirty="0" smtClean="0"/>
              <a:t>systems management </a:t>
            </a:r>
            <a:r>
              <a:rPr lang="en-US" dirty="0" smtClean="0"/>
              <a:t> Addressing the business, technological, and organizational issues associated with creating, maintaining, and modifying a system </a:t>
            </a:r>
            <a:endParaRPr lang="en-GB" dirty="0" smtClean="0"/>
          </a:p>
          <a:p>
            <a:r>
              <a:rPr lang="en-US" b="1" dirty="0" smtClean="0"/>
              <a:t>systems philosophy </a:t>
            </a:r>
            <a:r>
              <a:rPr lang="en-US" dirty="0" smtClean="0"/>
              <a:t> An overall model for thinking about things as systems </a:t>
            </a:r>
            <a:endParaRPr lang="en-GB" dirty="0" smtClean="0"/>
          </a:p>
          <a:p>
            <a:r>
              <a:rPr lang="en-US" b="1" dirty="0" smtClean="0"/>
              <a:t>systems thinking </a:t>
            </a:r>
            <a:r>
              <a:rPr lang="en-US" dirty="0" smtClean="0"/>
              <a:t> A holistic view of an organization to effectively handle complex situations </a:t>
            </a:r>
            <a:endParaRPr lang="en-GB" dirty="0" smtClean="0"/>
          </a:p>
          <a:p>
            <a:r>
              <a:rPr lang="en-US" b="1" dirty="0" smtClean="0"/>
              <a:t>virtual team </a:t>
            </a:r>
            <a:r>
              <a:rPr lang="en-US" dirty="0" smtClean="0"/>
              <a:t> A group of people who work together despite time and space boundaries using communication technologies </a:t>
            </a:r>
            <a:endParaRPr lang="en-GB" dirty="0" smtClean="0"/>
          </a:p>
          <a:p>
            <a:pPr marL="0" indent="0">
              <a:buNone/>
            </a:pPr>
            <a:endParaRPr lang="en-GB" dirty="0" smtClean="0"/>
          </a:p>
          <a:p>
            <a:endParaRPr lang="en-GB" dirty="0"/>
          </a:p>
        </p:txBody>
      </p:sp>
    </p:spTree>
    <p:extLst>
      <p:ext uri="{BB962C8B-B14F-4D97-AF65-F5344CB8AC3E}">
        <p14:creationId xmlns:p14="http://schemas.microsoft.com/office/powerpoint/2010/main" val="41012875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Useful videos</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hlinkClick r:id="rId2"/>
              </a:rPr>
              <a:t>Agile VS waterfall</a:t>
            </a:r>
          </a:p>
          <a:p>
            <a:r>
              <a:rPr lang="en-GB" dirty="0" smtClean="0">
                <a:hlinkClick r:id="rId2"/>
              </a:rPr>
              <a:t>https://www.youtube.com/watch?v=jL1VOF5JgPQ</a:t>
            </a:r>
            <a:endParaRPr lang="en-GB" dirty="0" smtClean="0"/>
          </a:p>
          <a:p>
            <a:r>
              <a:rPr lang="en-GB" dirty="0"/>
              <a:t>Discover whether your project is a candidate for Agile SAP implementation. Agile SAP provides the IT organization with the ability to be flexible and to respond to a changing business environment unlike traditional "Waterfall" approaches</a:t>
            </a:r>
            <a:r>
              <a:rPr lang="en-GB" dirty="0" smtClean="0"/>
              <a:t>. </a:t>
            </a:r>
            <a:r>
              <a:rPr lang="en-GB" dirty="0"/>
              <a:t>d</a:t>
            </a:r>
            <a:r>
              <a:rPr lang="en-GB" dirty="0" smtClean="0"/>
              <a:t>ata source from :</a:t>
            </a:r>
            <a:r>
              <a:rPr lang="en-GB" dirty="0"/>
              <a:t>Genesis </a:t>
            </a:r>
            <a:r>
              <a:rPr lang="en-GB" dirty="0" smtClean="0"/>
              <a:t>Consulting, accessed date:03/10/2016</a:t>
            </a:r>
          </a:p>
          <a:p>
            <a:endParaRPr lang="en-GB" dirty="0"/>
          </a:p>
          <a:p>
            <a:pPr marL="0" indent="0">
              <a:buNone/>
            </a:pPr>
            <a:endParaRPr lang="en-GB" dirty="0"/>
          </a:p>
        </p:txBody>
      </p:sp>
    </p:spTree>
    <p:extLst>
      <p:ext uri="{BB962C8B-B14F-4D97-AF65-F5344CB8AC3E}">
        <p14:creationId xmlns:p14="http://schemas.microsoft.com/office/powerpoint/2010/main" val="2857249754"/>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7.jpeg"/></Relationships>
</file>

<file path=ppt/theme/theme1.xml><?xml version="1.0" encoding="utf-8"?>
<a:theme xmlns:a="http://schemas.openxmlformats.org/drawingml/2006/main" name="28228_WhiteTemplate_UserGuide1">
  <a:themeElements>
    <a:clrScheme name="">
      <a:dk1>
        <a:srgbClr val="CCCCFF"/>
      </a:dk1>
      <a:lt1>
        <a:srgbClr val="FFFFFF"/>
      </a:lt1>
      <a:dk2>
        <a:srgbClr val="000000"/>
      </a:dk2>
      <a:lt2>
        <a:srgbClr val="808080"/>
      </a:lt2>
      <a:accent1>
        <a:srgbClr val="4B6BAF"/>
      </a:accent1>
      <a:accent2>
        <a:srgbClr val="0099CC"/>
      </a:accent2>
      <a:accent3>
        <a:srgbClr val="AAAAAA"/>
      </a:accent3>
      <a:accent4>
        <a:srgbClr val="DADADA"/>
      </a:accent4>
      <a:accent5>
        <a:srgbClr val="B1BAD4"/>
      </a:accent5>
      <a:accent6>
        <a:srgbClr val="008AB9"/>
      </a:accent6>
      <a:hlink>
        <a:srgbClr val="C0C0C0"/>
      </a:hlink>
      <a:folHlink>
        <a:srgbClr val="FF9900"/>
      </a:folHlink>
    </a:clrScheme>
    <a:fontScheme name="28228_WhiteTemplate_UserGuide1">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bg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38100" cap="flat"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bg1"/>
            </a:solidFill>
            <a:effectLst/>
            <a:latin typeface="Arial" pitchFamily="34" charset="0"/>
            <a:cs typeface="Arial" pitchFamily="34" charset="0"/>
          </a:defRPr>
        </a:defPPr>
      </a:lstStyle>
    </a:lnDef>
  </a:objectDefaults>
  <a:extraClrSchemeLst>
    <a:extraClrScheme>
      <a:clrScheme name="28228_WhiteTemplate_UserGuide1 1">
        <a:dk1>
          <a:srgbClr val="CCCCFF"/>
        </a:dk1>
        <a:lt1>
          <a:srgbClr val="FFFFFF"/>
        </a:lt1>
        <a:dk2>
          <a:srgbClr val="000000"/>
        </a:dk2>
        <a:lt2>
          <a:srgbClr val="808080"/>
        </a:lt2>
        <a:accent1>
          <a:srgbClr val="7889FB"/>
        </a:accent1>
        <a:accent2>
          <a:srgbClr val="2DB6B3"/>
        </a:accent2>
        <a:accent3>
          <a:srgbClr val="AAAAAA"/>
        </a:accent3>
        <a:accent4>
          <a:srgbClr val="DADADA"/>
        </a:accent4>
        <a:accent5>
          <a:srgbClr val="BEC4FD"/>
        </a:accent5>
        <a:accent6>
          <a:srgbClr val="28A5A2"/>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28228_WhiteTemplate_UserGuide1">
  <a:themeElements>
    <a:clrScheme name="">
      <a:dk1>
        <a:srgbClr val="CCCCFF"/>
      </a:dk1>
      <a:lt1>
        <a:srgbClr val="FFFFFF"/>
      </a:lt1>
      <a:dk2>
        <a:srgbClr val="000000"/>
      </a:dk2>
      <a:lt2>
        <a:srgbClr val="808080"/>
      </a:lt2>
      <a:accent1>
        <a:srgbClr val="4B6BAF"/>
      </a:accent1>
      <a:accent2>
        <a:srgbClr val="0099CC"/>
      </a:accent2>
      <a:accent3>
        <a:srgbClr val="AAAAAA"/>
      </a:accent3>
      <a:accent4>
        <a:srgbClr val="DADADA"/>
      </a:accent4>
      <a:accent5>
        <a:srgbClr val="B1BAD4"/>
      </a:accent5>
      <a:accent6>
        <a:srgbClr val="008AB9"/>
      </a:accent6>
      <a:hlink>
        <a:srgbClr val="C0C0C0"/>
      </a:hlink>
      <a:folHlink>
        <a:srgbClr val="FF9900"/>
      </a:folHlink>
    </a:clrScheme>
    <a:fontScheme name="28228_WhiteTemplate_UserGuide1">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bg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38100" cap="flat"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bg1"/>
            </a:solidFill>
            <a:effectLst/>
            <a:latin typeface="Arial" pitchFamily="34" charset="0"/>
            <a:cs typeface="Arial" pitchFamily="34" charset="0"/>
          </a:defRPr>
        </a:defPPr>
      </a:lstStyle>
    </a:lnDef>
  </a:objectDefaults>
  <a:extraClrSchemeLst>
    <a:extraClrScheme>
      <a:clrScheme name="28228_WhiteTemplate_UserGuide1 1">
        <a:dk1>
          <a:srgbClr val="CCCCFF"/>
        </a:dk1>
        <a:lt1>
          <a:srgbClr val="FFFFFF"/>
        </a:lt1>
        <a:dk2>
          <a:srgbClr val="000000"/>
        </a:dk2>
        <a:lt2>
          <a:srgbClr val="808080"/>
        </a:lt2>
        <a:accent1>
          <a:srgbClr val="7889FB"/>
        </a:accent1>
        <a:accent2>
          <a:srgbClr val="2DB6B3"/>
        </a:accent2>
        <a:accent3>
          <a:srgbClr val="AAAAAA"/>
        </a:accent3>
        <a:accent4>
          <a:srgbClr val="DADADA"/>
        </a:accent4>
        <a:accent5>
          <a:srgbClr val="BEC4FD"/>
        </a:accent5>
        <a:accent6>
          <a:srgbClr val="28A5A2"/>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573</TotalTime>
  <Words>4081</Words>
  <Application>Microsoft Office PowerPoint</Application>
  <PresentationFormat>On-screen Show (4:3)</PresentationFormat>
  <Paragraphs>686</Paragraphs>
  <Slides>77</Slides>
  <Notes>30</Notes>
  <HiddenSlides>0</HiddenSlides>
  <MMClips>0</MMClips>
  <ScaleCrop>false</ScaleCrop>
  <HeadingPairs>
    <vt:vector size="8" baseType="variant">
      <vt:variant>
        <vt:lpstr>Fonts Used</vt:lpstr>
      </vt:variant>
      <vt:variant>
        <vt:i4>14</vt:i4>
      </vt:variant>
      <vt:variant>
        <vt:lpstr>Theme</vt:lpstr>
      </vt:variant>
      <vt:variant>
        <vt:i4>3</vt:i4>
      </vt:variant>
      <vt:variant>
        <vt:lpstr>Embedded OLE Servers</vt:lpstr>
      </vt:variant>
      <vt:variant>
        <vt:i4>2</vt:i4>
      </vt:variant>
      <vt:variant>
        <vt:lpstr>Slide Titles</vt:lpstr>
      </vt:variant>
      <vt:variant>
        <vt:i4>77</vt:i4>
      </vt:variant>
    </vt:vector>
  </HeadingPairs>
  <TitlesOfParts>
    <vt:vector size="96" baseType="lpstr">
      <vt:lpstr>Arial</vt:lpstr>
      <vt:lpstr>Arial Black</vt:lpstr>
      <vt:lpstr>Arial Narrow</vt:lpstr>
      <vt:lpstr>Calibri</vt:lpstr>
      <vt:lpstr>Comic Sans MS</vt:lpstr>
      <vt:lpstr>굴림</vt:lpstr>
      <vt:lpstr>Lucida Console</vt:lpstr>
      <vt:lpstr>Lucida Sans Unicode</vt:lpstr>
      <vt:lpstr>Times New Roman</vt:lpstr>
      <vt:lpstr>Trebuchet MS</vt:lpstr>
      <vt:lpstr>Tw Cen MT</vt:lpstr>
      <vt:lpstr>Webdings</vt:lpstr>
      <vt:lpstr>Wingdings</vt:lpstr>
      <vt:lpstr>Wingdings 3</vt:lpstr>
      <vt:lpstr>28228_WhiteTemplate_UserGuide1</vt:lpstr>
      <vt:lpstr>1_28228_WhiteTemplate_UserGuide1</vt:lpstr>
      <vt:lpstr>Circuit</vt:lpstr>
      <vt:lpstr>Chart</vt:lpstr>
      <vt:lpstr>CorelDRAW 6.0</vt:lpstr>
      <vt:lpstr>Project Life cycle</vt:lpstr>
      <vt:lpstr>The Context of IT Projects</vt:lpstr>
      <vt:lpstr>Recent Trends Affecting IT Project Management</vt:lpstr>
      <vt:lpstr>Project Phases and the Project Life Cycle</vt:lpstr>
      <vt:lpstr>More on Project Phases</vt:lpstr>
      <vt:lpstr>Figure 2-1. Phases of the Traditional Project Life Cycle</vt:lpstr>
      <vt:lpstr>Systems Development projects</vt:lpstr>
      <vt:lpstr>Predictive Life Cycle Models</vt:lpstr>
      <vt:lpstr>PowerPoint Presentation</vt:lpstr>
      <vt:lpstr>PPDIOO Methodology (Cisco)</vt:lpstr>
      <vt:lpstr>Network Prototype </vt:lpstr>
      <vt:lpstr>Step 1: Reviewing the Requirements </vt:lpstr>
      <vt:lpstr>Step 2: Determining the Extent of the Prototype </vt:lpstr>
      <vt:lpstr>Step 3: Understanding Alternative Proposals </vt:lpstr>
      <vt:lpstr>Step 4: Developing a Test Plan </vt:lpstr>
      <vt:lpstr>Step 5. Purchasing and preparing equipment</vt:lpstr>
      <vt:lpstr>Step 6. Practicing</vt:lpstr>
      <vt:lpstr>Step 7.Conduct final test and demonstration</vt:lpstr>
      <vt:lpstr>Summary</vt:lpstr>
      <vt:lpstr>Figure 2-2. Waterfall and Spiral Life Cycle Models</vt:lpstr>
      <vt:lpstr>Waterfall Approach</vt:lpstr>
      <vt:lpstr>Waterfall Approach: Advantages</vt:lpstr>
      <vt:lpstr>Waterfall Development Lifecycle: disadvantages</vt:lpstr>
      <vt:lpstr>What Happens in Practice</vt:lpstr>
      <vt:lpstr>Waterfall: Hard to Scale up</vt:lpstr>
      <vt:lpstr>Agile Software Development</vt:lpstr>
      <vt:lpstr>Better Progress Profile</vt:lpstr>
      <vt:lpstr>Agile by attack</vt:lpstr>
      <vt:lpstr>Plan driven vs. Agile</vt:lpstr>
      <vt:lpstr>The “Inverted Pyramid” principle - as used by Newspapers around the world</vt:lpstr>
      <vt:lpstr>Feature Usage</vt:lpstr>
      <vt:lpstr>80% and 20% theory</vt:lpstr>
      <vt:lpstr>Agile Project</vt:lpstr>
      <vt:lpstr>Visibility into the project activities </vt:lpstr>
      <vt:lpstr>What is good quality software?</vt:lpstr>
      <vt:lpstr>Agile Value</vt:lpstr>
      <vt:lpstr>Agile method</vt:lpstr>
      <vt:lpstr>Scrum</vt:lpstr>
      <vt:lpstr>PowerPoint Presentation</vt:lpstr>
      <vt:lpstr>Figure 2-3. Scrum Framework</vt:lpstr>
      <vt:lpstr>SCRUM Introduction  Cont.</vt:lpstr>
      <vt:lpstr>SCRUM Introduction Cont. </vt:lpstr>
      <vt:lpstr>SCRUM Introduction Cont. </vt:lpstr>
      <vt:lpstr>SCRUM Introduction Cont. </vt:lpstr>
      <vt:lpstr>SCRUM Introduction Cont.</vt:lpstr>
      <vt:lpstr>SCRUM Introduction Cont.</vt:lpstr>
      <vt:lpstr>SCRUM Introduction Cont.</vt:lpstr>
      <vt:lpstr>XP Practices and main “cycles” of XP </vt:lpstr>
      <vt:lpstr>Extreme Programming (XP)</vt:lpstr>
      <vt:lpstr>XP2: The 12 Core Practices From Extreme Programming Explained Second Edition, Kent Beck, 2006</vt:lpstr>
      <vt:lpstr>XP2: The 12 Core Practices From Extreme Programming Explained Second Edition, Kent Beck, 2006</vt:lpstr>
      <vt:lpstr>XP2: The 12 Core Practices From Extreme Programming Explained Second Edition, Kent Beck, 2006</vt:lpstr>
      <vt:lpstr>Rational Unified Process (RUP) and UML</vt:lpstr>
      <vt:lpstr>Iterative Development</vt:lpstr>
      <vt:lpstr>RUP 9 principles and 4 phases</vt:lpstr>
      <vt:lpstr>Iterative Development Phases</vt:lpstr>
      <vt:lpstr>Use-Case Driven Development</vt:lpstr>
      <vt:lpstr>Lean Development Cont.</vt:lpstr>
      <vt:lpstr>Lean Development Cont.</vt:lpstr>
      <vt:lpstr>Lean development</vt:lpstr>
      <vt:lpstr>Lean development</vt:lpstr>
      <vt:lpstr>Lean development</vt:lpstr>
      <vt:lpstr>Evolutionary Models</vt:lpstr>
      <vt:lpstr>The Prototyping Model </vt:lpstr>
      <vt:lpstr>The Prototyping Model:</vt:lpstr>
      <vt:lpstr>The Prototyping Model: continued</vt:lpstr>
      <vt:lpstr>Kanban</vt:lpstr>
      <vt:lpstr>If Agile methods have so many positive feedback from industry why IT projects still go wrong?</vt:lpstr>
      <vt:lpstr>Key Terms  Cont.</vt:lpstr>
      <vt:lpstr>Key Terms Cont.</vt:lpstr>
      <vt:lpstr>Key Terms  Cont.</vt:lpstr>
      <vt:lpstr>Key Terms  Cont.</vt:lpstr>
      <vt:lpstr>Key Terms  Cont.</vt:lpstr>
      <vt:lpstr>Key Terms  Cont.</vt:lpstr>
      <vt:lpstr>Key Terms  Cont.</vt:lpstr>
      <vt:lpstr>Key Terms  </vt:lpstr>
      <vt:lpstr>Useful videos</vt:lpstr>
    </vt:vector>
  </TitlesOfParts>
  <Company>Glasgow Caledonian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Life cycle</dc:title>
  <dc:creator>GCU</dc:creator>
  <cp:lastModifiedBy>Arsalan Rashid</cp:lastModifiedBy>
  <cp:revision>56</cp:revision>
  <cp:lastPrinted>2016-09-30T12:42:43Z</cp:lastPrinted>
  <dcterms:created xsi:type="dcterms:W3CDTF">2016-09-29T16:14:23Z</dcterms:created>
  <dcterms:modified xsi:type="dcterms:W3CDTF">2019-11-25T15:50:50Z</dcterms:modified>
</cp:coreProperties>
</file>