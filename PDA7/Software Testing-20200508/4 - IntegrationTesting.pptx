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7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7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69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2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53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53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5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0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2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2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6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489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02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72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45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2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033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GB/library/aa292128(v=vs.71).aspx" TargetMode="External"/><Relationship Id="rId2" Type="http://schemas.openxmlformats.org/officeDocument/2006/relationships/hyperlink" Target="http://softwaretestingfundamentals.com/integration-test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Integration_te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4478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Software Testing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343912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Integration Testing</a:t>
            </a:r>
          </a:p>
        </p:txBody>
      </p:sp>
      <p:pic>
        <p:nvPicPr>
          <p:cNvPr id="5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794249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Integration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675467"/>
            <a:ext cx="7924800" cy="3450696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The testing of individual functional units has been done.</a:t>
            </a:r>
          </a:p>
          <a:p>
            <a:r>
              <a:rPr lang="en-GB" sz="3200" dirty="0" smtClean="0"/>
              <a:t>Individual functional units are being combined together.</a:t>
            </a:r>
          </a:p>
          <a:p>
            <a:r>
              <a:rPr lang="en-GB" sz="3200" dirty="0" smtClean="0"/>
              <a:t>Need to test that the units work together</a:t>
            </a:r>
          </a:p>
          <a:p>
            <a:r>
              <a:rPr lang="en-GB" sz="3200" i="1" dirty="0" smtClean="0"/>
              <a:t>An extension &amp; continuation of unit testing.</a:t>
            </a:r>
            <a:endParaRPr lang="en-GB" sz="3200" i="1" dirty="0"/>
          </a:p>
        </p:txBody>
      </p:sp>
    </p:spTree>
    <p:extLst>
      <p:ext uri="{BB962C8B-B14F-4D97-AF65-F5344CB8AC3E}">
        <p14:creationId xmlns:p14="http://schemas.microsoft.com/office/powerpoint/2010/main" val="21356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Integration Strategies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28801" y="2514600"/>
            <a:ext cx="5867399" cy="3611563"/>
          </a:xfrm>
        </p:spPr>
        <p:txBody>
          <a:bodyPr>
            <a:normAutofit/>
          </a:bodyPr>
          <a:lstStyle/>
          <a:p>
            <a:r>
              <a:rPr lang="en-GB" sz="4000" dirty="0" smtClean="0"/>
              <a:t>Big bang</a:t>
            </a:r>
          </a:p>
          <a:p>
            <a:r>
              <a:rPr lang="en-GB" sz="4000" dirty="0" smtClean="0"/>
              <a:t>Bottom-up</a:t>
            </a:r>
          </a:p>
          <a:p>
            <a:r>
              <a:rPr lang="en-GB" sz="4000" dirty="0" smtClean="0"/>
              <a:t>Top-down</a:t>
            </a:r>
          </a:p>
          <a:p>
            <a:r>
              <a:rPr lang="en-GB" sz="4000" dirty="0" smtClean="0"/>
              <a:t>Functional path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2849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Big Bang Integration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09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Wait until all (or most) of the components are </a:t>
            </a:r>
            <a:r>
              <a:rPr lang="en-GB" sz="3200" smtClean="0"/>
              <a:t>ready.</a:t>
            </a:r>
          </a:p>
          <a:p>
            <a:endParaRPr lang="en-GB" sz="3200" dirty="0" smtClean="0"/>
          </a:p>
          <a:p>
            <a:r>
              <a:rPr lang="en-GB" sz="3200" dirty="0" smtClean="0"/>
              <a:t>Integrate everything at once…</a:t>
            </a:r>
          </a:p>
          <a:p>
            <a:r>
              <a:rPr lang="en-GB" sz="3200" dirty="0" smtClean="0"/>
              <a:t>… and test!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5913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Problems with Big bang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Need to wait until (nearly) everything is implemented,</a:t>
            </a:r>
          </a:p>
          <a:p>
            <a:r>
              <a:rPr lang="en-GB" sz="3200" dirty="0" smtClean="0"/>
              <a:t>So a lot like the waterfall model,</a:t>
            </a:r>
          </a:p>
          <a:p>
            <a:r>
              <a:rPr lang="en-GB" sz="3200" dirty="0" smtClean="0"/>
              <a:t>Lots to test at once,</a:t>
            </a:r>
          </a:p>
          <a:p>
            <a:r>
              <a:rPr lang="en-GB" sz="3200" dirty="0" smtClean="0"/>
              <a:t>Can be hard to find the location of a problem.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3110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Bottom-Up Integration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0999" cy="3611563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Low level units are integrated first</a:t>
            </a:r>
          </a:p>
          <a:p>
            <a:r>
              <a:rPr lang="en-GB" sz="3200" dirty="0" smtClean="0"/>
              <a:t>To get the next level of the system</a:t>
            </a:r>
          </a:p>
          <a:p>
            <a:r>
              <a:rPr lang="en-GB" sz="3200" dirty="0" smtClean="0"/>
              <a:t>Progressively higher levels of the system are integrated and tested.</a:t>
            </a:r>
          </a:p>
          <a:p>
            <a:endParaRPr lang="en-GB" sz="3200" dirty="0"/>
          </a:p>
          <a:p>
            <a:r>
              <a:rPr lang="en-GB" sz="3200" dirty="0" smtClean="0"/>
              <a:t>Aligns well with bottom-up development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0900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Problems with Bottom-Up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4038600"/>
          </a:xfrm>
        </p:spPr>
        <p:txBody>
          <a:bodyPr>
            <a:normAutofit fontScale="92500"/>
          </a:bodyPr>
          <a:lstStyle/>
          <a:p>
            <a:r>
              <a:rPr lang="en-GB" sz="3200" dirty="0" smtClean="0"/>
              <a:t>Low level components sometimes need additional “driver” components to simulate the higher levels of the system during integration</a:t>
            </a:r>
          </a:p>
          <a:p>
            <a:r>
              <a:rPr lang="en-GB" sz="3200" dirty="0" smtClean="0"/>
              <a:t>High-level logic and data flow are tested late in system development</a:t>
            </a:r>
          </a:p>
          <a:p>
            <a:r>
              <a:rPr lang="en-GB" sz="3200" dirty="0" smtClean="0"/>
              <a:t>UI components are integrated late </a:t>
            </a:r>
            <a:r>
              <a:rPr lang="en-GB" sz="3200" smtClean="0"/>
              <a:t>in development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1306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Top-Down Integration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0999" cy="361156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High level units (</a:t>
            </a:r>
            <a:r>
              <a:rPr lang="en-GB" sz="3200" i="1" dirty="0" err="1" smtClean="0"/>
              <a:t>eg</a:t>
            </a:r>
            <a:r>
              <a:rPr lang="en-GB" sz="3200" dirty="0" smtClean="0"/>
              <a:t> user input) are tested first and integrated into the system</a:t>
            </a:r>
          </a:p>
          <a:p>
            <a:r>
              <a:rPr lang="en-GB" sz="3200" dirty="0" smtClean="0"/>
              <a:t>Progressively lower levels of functionality are gradually integrated into the system.</a:t>
            </a:r>
          </a:p>
          <a:p>
            <a:endParaRPr lang="en-GB" sz="3200" dirty="0"/>
          </a:p>
          <a:p>
            <a:r>
              <a:rPr lang="en-GB" sz="3200" dirty="0" smtClean="0"/>
              <a:t>Aligns well with top down development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0413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Problems with Top-Down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771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High level </a:t>
            </a:r>
            <a:r>
              <a:rPr lang="en-GB" sz="3200" dirty="0"/>
              <a:t>components </a:t>
            </a:r>
            <a:r>
              <a:rPr lang="en-GB" sz="3200" dirty="0" smtClean="0"/>
              <a:t>frequently need </a:t>
            </a:r>
            <a:r>
              <a:rPr lang="en-GB" sz="3200" dirty="0"/>
              <a:t>additional </a:t>
            </a:r>
            <a:r>
              <a:rPr lang="en-GB" sz="3200" dirty="0" smtClean="0"/>
              <a:t>“stub” </a:t>
            </a:r>
            <a:r>
              <a:rPr lang="en-GB" sz="3200" dirty="0"/>
              <a:t>components to simulate the </a:t>
            </a:r>
            <a:r>
              <a:rPr lang="en-GB" sz="3200" dirty="0" smtClean="0"/>
              <a:t>lower levels </a:t>
            </a:r>
            <a:r>
              <a:rPr lang="en-GB" sz="3200" dirty="0"/>
              <a:t>of the system during </a:t>
            </a:r>
            <a:r>
              <a:rPr lang="en-GB" sz="3200" dirty="0" smtClean="0"/>
              <a:t>integration</a:t>
            </a:r>
          </a:p>
          <a:p>
            <a:r>
              <a:rPr lang="en-GB" sz="3200" dirty="0" smtClean="0"/>
              <a:t>Low level utilities are tested late in system development.</a:t>
            </a:r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6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Agile Development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None of the approaches discussed so far fits well with the iterative and agile development methodology. </a:t>
            </a:r>
          </a:p>
          <a:p>
            <a:r>
              <a:rPr lang="en-GB" sz="3200" dirty="0" smtClean="0"/>
              <a:t>We need a different approach…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18711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 Path Integration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400" cy="38100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Identify a well defined and relatively self contained system function</a:t>
            </a:r>
          </a:p>
          <a:p>
            <a:r>
              <a:rPr lang="en-GB" sz="3200" dirty="0" smtClean="0"/>
              <a:t>Implement it</a:t>
            </a:r>
          </a:p>
          <a:p>
            <a:pPr lvl="1"/>
            <a:r>
              <a:rPr lang="en-GB" sz="3000" dirty="0" smtClean="0"/>
              <a:t>Low level utilities functions</a:t>
            </a:r>
          </a:p>
          <a:p>
            <a:pPr lvl="1"/>
            <a:r>
              <a:rPr lang="en-GB" sz="3000" dirty="0" smtClean="0"/>
              <a:t>Mid level logic</a:t>
            </a:r>
          </a:p>
          <a:p>
            <a:pPr lvl="1"/>
            <a:r>
              <a:rPr lang="en-GB" sz="3000" dirty="0" smtClean="0"/>
              <a:t>High level interface components</a:t>
            </a:r>
          </a:p>
          <a:p>
            <a:r>
              <a:rPr lang="en-GB" sz="3200" dirty="0" smtClean="0"/>
              <a:t>Integrate these components and test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8077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Use Cases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771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Functional path integration aligns well with “use case scenarios”</a:t>
            </a:r>
          </a:p>
          <a:p>
            <a:pPr lvl="1"/>
            <a:r>
              <a:rPr lang="en-GB" sz="3000" dirty="0" smtClean="0"/>
              <a:t>This is a common analysis technique used in iterative development</a:t>
            </a:r>
          </a:p>
          <a:p>
            <a:r>
              <a:rPr lang="en-GB" sz="3200" dirty="0" smtClean="0"/>
              <a:t>Needs less non-production support code.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509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8458200" cy="40386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800" i="1" dirty="0" smtClean="0"/>
              <a:t>Useful Introduction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2"/>
              </a:rPr>
              <a:t>http://softwaretestingfundamentals.com/integration-testing/</a:t>
            </a:r>
            <a:endParaRPr lang="en-GB" sz="2400" dirty="0"/>
          </a:p>
          <a:p>
            <a:pPr marL="0" indent="0">
              <a:buNone/>
            </a:pPr>
            <a:r>
              <a:rPr lang="en-GB" sz="2800" i="1" dirty="0"/>
              <a:t>Microsoft on </a:t>
            </a:r>
            <a:r>
              <a:rPr lang="en-GB" sz="2800" i="1" dirty="0" smtClean="0"/>
              <a:t>Integration Testing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3"/>
              </a:rPr>
              <a:t>http://msdn.microsoft.com/en-GB/library/aa292128(v=vs.71).</a:t>
            </a:r>
            <a:r>
              <a:rPr lang="en-GB" sz="2400" dirty="0" smtClean="0">
                <a:hlinkClick r:id="rId3"/>
              </a:rPr>
              <a:t>aspx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smtClean="0"/>
              <a:t>The </a:t>
            </a:r>
            <a:r>
              <a:rPr lang="en-GB" sz="2800" i="1" dirty="0"/>
              <a:t>Wiki </a:t>
            </a:r>
            <a:r>
              <a:rPr lang="en-GB" sz="2800" i="1" dirty="0" smtClean="0"/>
              <a:t>Overview</a:t>
            </a:r>
            <a:endParaRPr lang="en-GB" sz="2800" dirty="0"/>
          </a:p>
          <a:p>
            <a:pPr marL="301943" lvl="1" indent="0">
              <a:buNone/>
            </a:pPr>
            <a:r>
              <a:rPr lang="en-GB" sz="2400" dirty="0">
                <a:hlinkClick r:id="rId4"/>
              </a:rPr>
              <a:t>http://en.wikipedia.org/wiki/Integration_testing</a:t>
            </a:r>
            <a:endParaRPr lang="en-GB" sz="24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44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1243</TotalTime>
  <Words>362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Tw Cen MT</vt:lpstr>
      <vt:lpstr>Circuit</vt:lpstr>
      <vt:lpstr>Software Testing</vt:lpstr>
      <vt:lpstr>Integration Testing</vt:lpstr>
      <vt:lpstr>Integration Strategies</vt:lpstr>
      <vt:lpstr>Big Bang Integration</vt:lpstr>
      <vt:lpstr>Problems with Big bang</vt:lpstr>
      <vt:lpstr>Bottom-Up Integration</vt:lpstr>
      <vt:lpstr>Problems with Bottom-Up</vt:lpstr>
      <vt:lpstr>Top-Down Integration</vt:lpstr>
      <vt:lpstr>Problems with Top-Down</vt:lpstr>
      <vt:lpstr>Agile Development</vt:lpstr>
      <vt:lpstr>Functional Path Integration</vt:lpstr>
      <vt:lpstr>Use Cases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168</cp:revision>
  <dcterms:created xsi:type="dcterms:W3CDTF">2006-08-16T00:00:00Z</dcterms:created>
  <dcterms:modified xsi:type="dcterms:W3CDTF">2019-11-18T16:31:28Z</dcterms:modified>
</cp:coreProperties>
</file>