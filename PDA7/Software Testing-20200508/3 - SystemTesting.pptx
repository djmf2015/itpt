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5" r:id="rId3"/>
    <p:sldId id="276" r:id="rId4"/>
    <p:sldId id="291" r:id="rId5"/>
    <p:sldId id="278" r:id="rId6"/>
    <p:sldId id="279" r:id="rId7"/>
    <p:sldId id="280" r:id="rId8"/>
    <p:sldId id="281" r:id="rId9"/>
    <p:sldId id="282" r:id="rId10"/>
    <p:sldId id="290" r:id="rId11"/>
    <p:sldId id="284" r:id="rId12"/>
    <p:sldId id="285" r:id="rId13"/>
    <p:sldId id="286" r:id="rId14"/>
    <p:sldId id="287" r:id="rId15"/>
    <p:sldId id="288" r:id="rId16"/>
    <p:sldId id="289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5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27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2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18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49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0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5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2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7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38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013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15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93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04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5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7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00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sinessdictionary.com/definition/system-testing.html" TargetMode="External"/><Relationship Id="rId2" Type="http://schemas.openxmlformats.org/officeDocument/2006/relationships/hyperlink" Target="http://softwaretestingfundamentals.com/system-test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System_te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4478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Software Testing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362200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System Testing</a:t>
            </a:r>
          </a:p>
        </p:txBody>
      </p:sp>
      <p:pic>
        <p:nvPicPr>
          <p:cNvPr id="5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5720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800" cy="3733800"/>
          </a:xfrm>
        </p:spPr>
        <p:txBody>
          <a:bodyPr>
            <a:normAutofit fontScale="92500"/>
          </a:bodyPr>
          <a:lstStyle/>
          <a:p>
            <a:r>
              <a:rPr lang="en-GB" sz="3200" dirty="0" smtClean="0"/>
              <a:t>The system is complete and has been through all of:</a:t>
            </a:r>
          </a:p>
          <a:p>
            <a:pPr lvl="1"/>
            <a:r>
              <a:rPr lang="en-GB" sz="3000" dirty="0" smtClean="0"/>
              <a:t>Unit testing</a:t>
            </a:r>
          </a:p>
          <a:p>
            <a:pPr lvl="1"/>
            <a:r>
              <a:rPr lang="en-GB" sz="3000" dirty="0" smtClean="0"/>
              <a:t>Integration testing</a:t>
            </a:r>
          </a:p>
          <a:p>
            <a:pPr lvl="1"/>
            <a:r>
              <a:rPr lang="en-GB" sz="3000" dirty="0" smtClean="0"/>
              <a:t>Regression testing</a:t>
            </a:r>
          </a:p>
          <a:p>
            <a:r>
              <a:rPr lang="en-GB" sz="3200" dirty="0" smtClean="0"/>
              <a:t>The next stage is system testing.</a:t>
            </a:r>
          </a:p>
          <a:p>
            <a:pPr lvl="1"/>
            <a:r>
              <a:rPr lang="en-GB" sz="3000" dirty="0" smtClean="0"/>
              <a:t>Also called “end-to-end” testing</a:t>
            </a:r>
            <a:endParaRPr lang="en-GB" sz="3000" dirty="0"/>
          </a:p>
          <a:p>
            <a:pPr marL="0" indent="0">
              <a:buNone/>
            </a:pP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21356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Things to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5400" y="2514600"/>
            <a:ext cx="7467600" cy="37338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Installation </a:t>
            </a:r>
          </a:p>
          <a:p>
            <a:r>
              <a:rPr lang="en-GB" sz="3200" dirty="0" smtClean="0"/>
              <a:t>Sanity testing</a:t>
            </a:r>
          </a:p>
          <a:p>
            <a:r>
              <a:rPr lang="en-GB" sz="3200" dirty="0" smtClean="0"/>
              <a:t>Graphical user interface</a:t>
            </a:r>
          </a:p>
          <a:p>
            <a:r>
              <a:rPr lang="en-GB" sz="3200" dirty="0" smtClean="0"/>
              <a:t>Input/output </a:t>
            </a:r>
          </a:p>
          <a:p>
            <a:r>
              <a:rPr lang="en-GB" sz="3200" dirty="0" smtClean="0"/>
              <a:t>Usability </a:t>
            </a:r>
          </a:p>
          <a:p>
            <a:r>
              <a:rPr lang="en-GB" sz="3200" dirty="0" smtClean="0"/>
              <a:t>Accessibility</a:t>
            </a:r>
          </a:p>
          <a:p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41182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Things to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200" y="2679192"/>
            <a:ext cx="3886200" cy="3416808"/>
          </a:xfrm>
        </p:spPr>
        <p:txBody>
          <a:bodyPr>
            <a:normAutofit fontScale="92500" lnSpcReduction="20000"/>
          </a:bodyPr>
          <a:lstStyle/>
          <a:p>
            <a:r>
              <a:rPr lang="en-GB" sz="3000" dirty="0" smtClean="0"/>
              <a:t>Installation </a:t>
            </a:r>
          </a:p>
          <a:p>
            <a:r>
              <a:rPr lang="en-GB" sz="3000" dirty="0" smtClean="0"/>
              <a:t>Sanity testing</a:t>
            </a:r>
          </a:p>
          <a:p>
            <a:r>
              <a:rPr lang="en-GB" sz="3000" dirty="0" smtClean="0"/>
              <a:t>GUI</a:t>
            </a:r>
          </a:p>
          <a:p>
            <a:r>
              <a:rPr lang="en-GB" sz="3000" dirty="0" smtClean="0"/>
              <a:t>Input/output </a:t>
            </a:r>
          </a:p>
          <a:p>
            <a:r>
              <a:rPr lang="en-GB" sz="3000" dirty="0" smtClean="0"/>
              <a:t>Usability </a:t>
            </a:r>
          </a:p>
          <a:p>
            <a:r>
              <a:rPr lang="en-GB" sz="3000" dirty="0" smtClean="0"/>
              <a:t>Accessibility</a:t>
            </a:r>
          </a:p>
          <a:p>
            <a:endParaRPr lang="en-GB" sz="3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679192"/>
            <a:ext cx="3822192" cy="3447288"/>
          </a:xfrm>
        </p:spPr>
        <p:txBody>
          <a:bodyPr>
            <a:noAutofit/>
          </a:bodyPr>
          <a:lstStyle/>
          <a:p>
            <a:r>
              <a:rPr lang="en-GB" sz="3000" dirty="0"/>
              <a:t>Performance</a:t>
            </a:r>
          </a:p>
          <a:p>
            <a:r>
              <a:rPr lang="en-GB" sz="3000" dirty="0"/>
              <a:t>Exception handling</a:t>
            </a:r>
          </a:p>
          <a:p>
            <a:r>
              <a:rPr lang="en-GB" sz="3000" dirty="0"/>
              <a:t>System recovery</a:t>
            </a:r>
          </a:p>
          <a:p>
            <a:r>
              <a:rPr lang="en-GB" sz="3000" dirty="0"/>
              <a:t>Stress/Load</a:t>
            </a:r>
          </a:p>
          <a:p>
            <a:r>
              <a:rPr lang="en-GB" sz="3000" dirty="0"/>
              <a:t>Compatibility</a:t>
            </a:r>
          </a:p>
          <a:p>
            <a:r>
              <a:rPr lang="en-GB" sz="3000" dirty="0"/>
              <a:t>…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73058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Automation?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Some of these kinds of thing are difficult to automate,</a:t>
            </a:r>
          </a:p>
          <a:p>
            <a:r>
              <a:rPr lang="en-GB" sz="3200" dirty="0" smtClean="0"/>
              <a:t>Some of them have to be automated…</a:t>
            </a:r>
          </a:p>
          <a:p>
            <a:r>
              <a:rPr lang="en-GB" sz="3200" dirty="0" smtClean="0"/>
              <a:t>But some absolutely require human action.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6151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Installation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Does the system install correctly on the target platforms?</a:t>
            </a:r>
          </a:p>
          <a:p>
            <a:endParaRPr lang="en-GB" sz="3200" dirty="0" smtClean="0"/>
          </a:p>
          <a:p>
            <a:r>
              <a:rPr lang="en-GB" sz="3200" dirty="0" smtClean="0"/>
              <a:t>Vital test for shrink-wrap software.</a:t>
            </a:r>
          </a:p>
          <a:p>
            <a:r>
              <a:rPr lang="en-GB" sz="3200" dirty="0" smtClean="0"/>
              <a:t>Hard to automate.</a:t>
            </a:r>
          </a:p>
          <a:p>
            <a:r>
              <a:rPr lang="en-GB" sz="3200" dirty="0" smtClean="0"/>
              <a:t>Requires access to the target platforms.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86478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Sanity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Does the system start once it’s installed?</a:t>
            </a:r>
          </a:p>
          <a:p>
            <a:endParaRPr lang="en-GB" sz="3200" dirty="0" smtClean="0"/>
          </a:p>
          <a:p>
            <a:r>
              <a:rPr lang="en-GB" sz="3200" dirty="0" smtClean="0"/>
              <a:t>Can be automated in some variations.</a:t>
            </a:r>
          </a:p>
        </p:txBody>
      </p:sp>
    </p:spTree>
    <p:extLst>
      <p:ext uri="{BB962C8B-B14F-4D97-AF65-F5344CB8AC3E}">
        <p14:creationId xmlns:p14="http://schemas.microsoft.com/office/powerpoint/2010/main" val="252028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GUI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2514600"/>
            <a:ext cx="8610600" cy="3611563"/>
          </a:xfrm>
        </p:spPr>
        <p:txBody>
          <a:bodyPr>
            <a:normAutofit fontScale="92500"/>
          </a:bodyPr>
          <a:lstStyle/>
          <a:p>
            <a:r>
              <a:rPr lang="en-GB" sz="3200" dirty="0" smtClean="0"/>
              <a:t>Does the user interface work correctly?</a:t>
            </a:r>
          </a:p>
          <a:p>
            <a:endParaRPr lang="en-GB" sz="3200" dirty="0"/>
          </a:p>
          <a:p>
            <a:r>
              <a:rPr lang="en-GB" sz="3200" dirty="0" smtClean="0"/>
              <a:t>Difficult to automate, but some tools available.</a:t>
            </a:r>
          </a:p>
          <a:p>
            <a:r>
              <a:rPr lang="en-GB" sz="3200" dirty="0" smtClean="0"/>
              <a:t>Can be hard to test every aspect of a large system.</a:t>
            </a:r>
          </a:p>
          <a:p>
            <a:r>
              <a:rPr lang="en-GB" sz="3200" dirty="0" smtClean="0"/>
              <a:t>In most cases, these tests are done manually.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I/O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85000" lnSpcReduction="20000"/>
          </a:bodyPr>
          <a:lstStyle/>
          <a:p>
            <a:r>
              <a:rPr lang="en-GB" sz="3200" dirty="0" smtClean="0"/>
              <a:t>Does the system work correctly with all its input and output devices?</a:t>
            </a:r>
          </a:p>
          <a:p>
            <a:pPr lvl="1"/>
            <a:r>
              <a:rPr lang="en-GB" sz="3000" dirty="0" smtClean="0"/>
              <a:t>File systems,</a:t>
            </a:r>
          </a:p>
          <a:p>
            <a:pPr lvl="1"/>
            <a:r>
              <a:rPr lang="en-GB" sz="3000" dirty="0" smtClean="0"/>
              <a:t>Peripheral hardware.</a:t>
            </a:r>
          </a:p>
          <a:p>
            <a:pPr lvl="1"/>
            <a:endParaRPr lang="en-GB" sz="3000" dirty="0"/>
          </a:p>
          <a:p>
            <a:r>
              <a:rPr lang="en-GB" sz="3200" dirty="0" smtClean="0"/>
              <a:t>Some automation possible.</a:t>
            </a:r>
          </a:p>
          <a:p>
            <a:r>
              <a:rPr lang="en-GB" sz="3200" dirty="0" smtClean="0"/>
              <a:t>Difficult to automate every type of test.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How easy is the system to use?</a:t>
            </a:r>
          </a:p>
          <a:p>
            <a:endParaRPr lang="en-GB" sz="3200" dirty="0" smtClean="0"/>
          </a:p>
          <a:p>
            <a:r>
              <a:rPr lang="en-GB" sz="3200" dirty="0" smtClean="0"/>
              <a:t>Impossible to automate.</a:t>
            </a:r>
          </a:p>
          <a:p>
            <a:r>
              <a:rPr lang="en-GB" sz="3200" dirty="0" smtClean="0"/>
              <a:t>Requires humans to use the system.</a:t>
            </a:r>
          </a:p>
          <a:p>
            <a:r>
              <a:rPr lang="en-GB" sz="3200" dirty="0" smtClean="0"/>
              <a:t>Requires human assessment.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6484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Accessibility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How accessible is the system to users with some cognitive impairment?</a:t>
            </a:r>
          </a:p>
          <a:p>
            <a:endParaRPr lang="en-GB" sz="3200" dirty="0"/>
          </a:p>
          <a:p>
            <a:r>
              <a:rPr lang="en-GB" sz="3200" dirty="0" smtClean="0"/>
              <a:t>Some aspects can be automated:</a:t>
            </a:r>
          </a:p>
          <a:p>
            <a:pPr lvl="1"/>
            <a:r>
              <a:rPr lang="en-GB" sz="3000" dirty="0" smtClean="0"/>
              <a:t>Colour contrast analysis</a:t>
            </a:r>
          </a:p>
          <a:p>
            <a:r>
              <a:rPr lang="en-GB" sz="3200" dirty="0" smtClean="0"/>
              <a:t>Most aspects require human evaluation.</a:t>
            </a:r>
          </a:p>
          <a:p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Performance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2514600"/>
            <a:ext cx="8534400" cy="3611563"/>
          </a:xfrm>
        </p:spPr>
        <p:txBody>
          <a:bodyPr>
            <a:normAutofit fontScale="85000" lnSpcReduction="20000"/>
          </a:bodyPr>
          <a:lstStyle/>
          <a:p>
            <a:r>
              <a:rPr lang="en-GB" sz="3200" dirty="0" smtClean="0"/>
              <a:t>How quickly does the system respond?</a:t>
            </a:r>
          </a:p>
          <a:p>
            <a:r>
              <a:rPr lang="en-GB" sz="3200" dirty="0" smtClean="0"/>
              <a:t>How quickly does the system process data? </a:t>
            </a:r>
          </a:p>
          <a:p>
            <a:endParaRPr lang="en-GB" sz="3200" dirty="0"/>
          </a:p>
          <a:p>
            <a:r>
              <a:rPr lang="en-GB" sz="3200" dirty="0" smtClean="0"/>
              <a:t>Need to be repeatable, so some automation required.</a:t>
            </a:r>
          </a:p>
          <a:p>
            <a:r>
              <a:rPr lang="en-GB" sz="3200" dirty="0" smtClean="0"/>
              <a:t>Typically have a large test harness that simulates various types of usage.</a:t>
            </a:r>
          </a:p>
          <a:p>
            <a:r>
              <a:rPr lang="en-GB" sz="3200" dirty="0" smtClean="0"/>
              <a:t>Vital tests for real-time systems.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Exception Handling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Does the system handle errors gracefully?</a:t>
            </a:r>
          </a:p>
          <a:p>
            <a:endParaRPr lang="en-GB" sz="3200" dirty="0"/>
          </a:p>
          <a:p>
            <a:r>
              <a:rPr lang="en-GB" sz="3200" dirty="0" smtClean="0"/>
              <a:t>Force the system into error states and then evaluate its behaviour.</a:t>
            </a:r>
          </a:p>
          <a:p>
            <a:r>
              <a:rPr lang="en-GB" sz="3200" dirty="0" smtClean="0"/>
              <a:t>Need a clear idea of what kinds of errors are critical and which can be handled.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Recovery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Does the system recover well from a crash or outage?</a:t>
            </a:r>
          </a:p>
          <a:p>
            <a:endParaRPr lang="en-GB" sz="3200" dirty="0"/>
          </a:p>
          <a:p>
            <a:r>
              <a:rPr lang="en-GB" sz="3200" dirty="0" smtClean="0"/>
              <a:t>Deliberately break the system (switch off the computer!)</a:t>
            </a:r>
          </a:p>
          <a:p>
            <a:r>
              <a:rPr lang="en-GB" sz="3200" dirty="0" smtClean="0"/>
              <a:t>Does it restart smoothly?</a:t>
            </a:r>
          </a:p>
          <a:p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Stress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How well does the system cope with heavy load?</a:t>
            </a:r>
          </a:p>
          <a:p>
            <a:endParaRPr lang="en-GB" sz="3200" dirty="0"/>
          </a:p>
          <a:p>
            <a:r>
              <a:rPr lang="en-GB" sz="3200" dirty="0" smtClean="0"/>
              <a:t>Typically needs a test harness setup.</a:t>
            </a:r>
          </a:p>
          <a:p>
            <a:r>
              <a:rPr lang="en-GB" sz="3200" dirty="0" smtClean="0"/>
              <a:t>Build a log of system activity and analyse.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Compatibility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 fontScale="92500"/>
          </a:bodyPr>
          <a:lstStyle/>
          <a:p>
            <a:r>
              <a:rPr lang="en-GB" sz="3200" dirty="0" smtClean="0"/>
              <a:t>Is the system fully compatible with all the systems it needs to work with?</a:t>
            </a:r>
          </a:p>
          <a:p>
            <a:endParaRPr lang="en-GB" sz="3200" dirty="0"/>
          </a:p>
          <a:p>
            <a:r>
              <a:rPr lang="en-GB" sz="3200" dirty="0" smtClean="0"/>
              <a:t>Hard to automate.</a:t>
            </a:r>
          </a:p>
          <a:p>
            <a:r>
              <a:rPr lang="en-GB" sz="3200" dirty="0" smtClean="0"/>
              <a:t>Could need access to a wide range of platforms.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613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8458200" cy="40386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800" i="1" dirty="0" smtClean="0"/>
              <a:t>Useful Introduction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2"/>
              </a:rPr>
              <a:t>http://softwaretestingfundamentals.com/system-testing</a:t>
            </a:r>
            <a:r>
              <a:rPr lang="en-GB" sz="2400" dirty="0" smtClean="0">
                <a:hlinkClick r:id="rId2"/>
              </a:rPr>
              <a:t>/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smtClean="0"/>
              <a:t>The Business Dictionary </a:t>
            </a:r>
            <a:r>
              <a:rPr lang="en-GB" sz="2800" i="1" dirty="0"/>
              <a:t>on </a:t>
            </a:r>
            <a:r>
              <a:rPr lang="en-GB" sz="2800" i="1" dirty="0" smtClean="0"/>
              <a:t>System Testing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3"/>
              </a:rPr>
              <a:t>http://</a:t>
            </a:r>
            <a:r>
              <a:rPr lang="en-GB" sz="2400" dirty="0" smtClean="0">
                <a:hlinkClick r:id="rId3"/>
              </a:rPr>
              <a:t>www.businessdictionary.com/definition/system-testing.html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smtClean="0"/>
              <a:t>The </a:t>
            </a:r>
            <a:r>
              <a:rPr lang="en-GB" sz="2800" i="1" dirty="0"/>
              <a:t>Wiki </a:t>
            </a:r>
            <a:r>
              <a:rPr lang="en-GB" sz="2800" i="1" dirty="0" smtClean="0"/>
              <a:t>Overview</a:t>
            </a:r>
            <a:endParaRPr lang="en-GB" sz="2800" dirty="0"/>
          </a:p>
          <a:p>
            <a:pPr marL="301943" lvl="1" indent="0">
              <a:buNone/>
            </a:pPr>
            <a:r>
              <a:rPr lang="en-GB" sz="2400" dirty="0">
                <a:hlinkClick r:id="rId4"/>
              </a:rPr>
              <a:t>http://</a:t>
            </a:r>
            <a:r>
              <a:rPr lang="en-GB" sz="2400" dirty="0" smtClean="0">
                <a:hlinkClick r:id="rId4"/>
              </a:rPr>
              <a:t>en.wikipedia.org/wiki/System_testing</a:t>
            </a:r>
            <a:r>
              <a:rPr lang="en-GB" sz="2400" dirty="0" smtClean="0"/>
              <a:t>	</a:t>
            </a:r>
          </a:p>
          <a:p>
            <a:pPr marL="301943" lvl="1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44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1235</TotalTime>
  <Words>462</Words>
  <Application>Microsoft Office PowerPoint</Application>
  <PresentationFormat>On-screen Show (4:3)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Tw Cen MT</vt:lpstr>
      <vt:lpstr>Circuit</vt:lpstr>
      <vt:lpstr>Software Testing</vt:lpstr>
      <vt:lpstr>System Testing</vt:lpstr>
      <vt:lpstr>Things to Test</vt:lpstr>
      <vt:lpstr>Things to Test</vt:lpstr>
      <vt:lpstr>Automation?</vt:lpstr>
      <vt:lpstr>Installation Test</vt:lpstr>
      <vt:lpstr>Sanity Test</vt:lpstr>
      <vt:lpstr>GUI Test</vt:lpstr>
      <vt:lpstr>I/O Test</vt:lpstr>
      <vt:lpstr>Usability Test</vt:lpstr>
      <vt:lpstr>Accessibility Test</vt:lpstr>
      <vt:lpstr>Performance Test</vt:lpstr>
      <vt:lpstr>Exception Handling Test</vt:lpstr>
      <vt:lpstr>System Recovery Test</vt:lpstr>
      <vt:lpstr>Stress Test</vt:lpstr>
      <vt:lpstr>Compatibility Test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217</cp:revision>
  <dcterms:created xsi:type="dcterms:W3CDTF">2006-08-16T00:00:00Z</dcterms:created>
  <dcterms:modified xsi:type="dcterms:W3CDTF">2019-11-18T16:36:05Z</dcterms:modified>
</cp:coreProperties>
</file>