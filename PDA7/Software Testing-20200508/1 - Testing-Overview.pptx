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81" r:id="rId3"/>
    <p:sldId id="267" r:id="rId4"/>
    <p:sldId id="268" r:id="rId5"/>
    <p:sldId id="278" r:id="rId6"/>
    <p:sldId id="269" r:id="rId7"/>
    <p:sldId id="270" r:id="rId8"/>
    <p:sldId id="271" r:id="rId9"/>
    <p:sldId id="275" r:id="rId10"/>
    <p:sldId id="277" r:id="rId11"/>
    <p:sldId id="272" r:id="rId12"/>
    <p:sldId id="273" r:id="rId13"/>
    <p:sldId id="274" r:id="rId14"/>
    <p:sldId id="276" r:id="rId15"/>
    <p:sldId id="279" r:id="rId16"/>
    <p:sldId id="28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2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9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8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85035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64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5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26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4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6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5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11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7339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38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5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0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9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94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52.com/testtalk/2014/08/07/5-reasons-we-need-software-testing/" TargetMode="External"/><Relationship Id="rId2" Type="http://schemas.openxmlformats.org/officeDocument/2006/relationships/hyperlink" Target="http://www.testingexcellence.com/software-testing-beginners-guide-effective-testin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5240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Testing Software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286000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Overview of Testing Strategies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192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Do </a:t>
            </a:r>
            <a:r>
              <a:rPr lang="en-GB" smtClean="0"/>
              <a:t>We Test?</a:t>
            </a:r>
            <a:endParaRPr lang="en-GB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675467"/>
            <a:ext cx="8077199" cy="3450696"/>
          </a:xfrm>
        </p:spPr>
        <p:txBody>
          <a:bodyPr>
            <a:normAutofit/>
          </a:bodyPr>
          <a:lstStyle/>
          <a:p>
            <a:r>
              <a:rPr lang="en-GB" sz="3200" dirty="0">
                <a:hlinkClick r:id="rId2"/>
              </a:rPr>
              <a:t>http://www.testingexcellence.com/software-testing-beginners-guide-effective-testing/</a:t>
            </a:r>
            <a:endParaRPr lang="en-GB" sz="3200" dirty="0" smtClean="0">
              <a:hlinkClick r:id="rId2"/>
            </a:endParaRPr>
          </a:p>
          <a:p>
            <a:endParaRPr lang="en-GB" sz="3200" dirty="0">
              <a:hlinkClick r:id="rId2"/>
            </a:endParaRPr>
          </a:p>
          <a:p>
            <a:r>
              <a:rPr lang="en-GB" sz="3200" dirty="0" smtClean="0">
                <a:hlinkClick r:id="rId3"/>
              </a:rPr>
              <a:t>http</a:t>
            </a:r>
            <a:r>
              <a:rPr lang="en-GB" sz="3200" dirty="0">
                <a:hlinkClick r:id="rId3"/>
              </a:rPr>
              <a:t>://www.te52.com/testtalk/2014/08/07/5-reasons-we-need-software-testing</a:t>
            </a:r>
            <a:r>
              <a:rPr lang="en-GB" sz="3200" dirty="0" smtClean="0">
                <a:hlinkClick r:id="rId3"/>
              </a:rPr>
              <a:t>/</a:t>
            </a:r>
            <a:endParaRPr lang="en-GB" sz="32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68202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Test Strategy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0" y="1905000"/>
            <a:ext cx="7620001" cy="4724400"/>
          </a:xfrm>
        </p:spPr>
        <p:txBody>
          <a:bodyPr>
            <a:noAutofit/>
          </a:bodyPr>
          <a:lstStyle/>
          <a:p>
            <a:r>
              <a:rPr lang="en-GB" sz="3200" dirty="0" smtClean="0"/>
              <a:t>Sanity Testing</a:t>
            </a:r>
          </a:p>
          <a:p>
            <a:r>
              <a:rPr lang="en-GB" sz="3200" dirty="0" smtClean="0"/>
              <a:t>Unit Testing</a:t>
            </a:r>
          </a:p>
          <a:p>
            <a:r>
              <a:rPr lang="en-GB" sz="3200" dirty="0" smtClean="0"/>
              <a:t>Integration Testing</a:t>
            </a:r>
          </a:p>
          <a:p>
            <a:r>
              <a:rPr lang="en-GB" sz="3200" dirty="0" smtClean="0"/>
              <a:t>Regression Testing</a:t>
            </a:r>
          </a:p>
          <a:p>
            <a:r>
              <a:rPr lang="en-GB" sz="3200" dirty="0" smtClean="0"/>
              <a:t>Verification Testing</a:t>
            </a:r>
          </a:p>
          <a:p>
            <a:r>
              <a:rPr lang="en-GB" sz="3200" dirty="0" smtClean="0"/>
              <a:t>System Testing</a:t>
            </a:r>
          </a:p>
          <a:p>
            <a:r>
              <a:rPr lang="en-GB" sz="3200" dirty="0" smtClean="0"/>
              <a:t>Acceptance Testing</a:t>
            </a:r>
          </a:p>
          <a:p>
            <a:r>
              <a:rPr lang="en-GB" sz="3200" dirty="0" smtClean="0"/>
              <a:t>…</a:t>
            </a:r>
          </a:p>
          <a:p>
            <a:endParaRPr lang="en-GB" sz="3200" dirty="0" smtClean="0"/>
          </a:p>
          <a:p>
            <a:endParaRPr lang="en-GB" sz="32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7855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 Strategies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438400"/>
            <a:ext cx="8153399" cy="3687763"/>
          </a:xfrm>
        </p:spPr>
        <p:txBody>
          <a:bodyPr>
            <a:normAutofit/>
          </a:bodyPr>
          <a:lstStyle/>
          <a:p>
            <a:r>
              <a:rPr lang="en-GB" sz="3600" dirty="0" smtClean="0"/>
              <a:t>Not a choice…</a:t>
            </a:r>
          </a:p>
          <a:p>
            <a:r>
              <a:rPr lang="en-GB" sz="3600" dirty="0" smtClean="0"/>
              <a:t>A robust process will include all of those strategies</a:t>
            </a:r>
          </a:p>
          <a:p>
            <a:r>
              <a:rPr lang="en-GB" sz="3600" dirty="0" smtClean="0"/>
              <a:t>Different strategies are appropriate at different stages of the lifecycle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67866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Sanity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962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Also known as </a:t>
            </a:r>
            <a:r>
              <a:rPr lang="en-GB" sz="3200" i="1" dirty="0" smtClean="0"/>
              <a:t>smoke testing</a:t>
            </a:r>
          </a:p>
          <a:p>
            <a:pPr lvl="1"/>
            <a:r>
              <a:rPr lang="en-GB" sz="3000" dirty="0" smtClean="0"/>
              <a:t>I don’t know why!</a:t>
            </a:r>
          </a:p>
          <a:p>
            <a:r>
              <a:rPr lang="en-GB" sz="3200" dirty="0" smtClean="0"/>
              <a:t>Tests whether it is possible &amp; reasonable to continue with further testing</a:t>
            </a:r>
          </a:p>
          <a:p>
            <a:pPr lvl="1"/>
            <a:r>
              <a:rPr lang="en-GB" sz="3000" dirty="0" smtClean="0"/>
              <a:t>Does the system compile?</a:t>
            </a:r>
          </a:p>
          <a:p>
            <a:pPr lvl="1"/>
            <a:r>
              <a:rPr lang="en-GB" sz="3000" dirty="0" smtClean="0"/>
              <a:t>Does the system run?</a:t>
            </a:r>
          </a:p>
        </p:txBody>
      </p:sp>
    </p:spTree>
    <p:extLst>
      <p:ext uri="{BB962C8B-B14F-4D97-AF65-F5344CB8AC3E}">
        <p14:creationId xmlns:p14="http://schemas.microsoft.com/office/powerpoint/2010/main" val="202507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450696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Low level testing</a:t>
            </a:r>
          </a:p>
          <a:p>
            <a:r>
              <a:rPr lang="en-GB" sz="3200" dirty="0" smtClean="0"/>
              <a:t>Tests individual functional units</a:t>
            </a:r>
          </a:p>
          <a:p>
            <a:r>
              <a:rPr lang="en-GB" sz="3200" dirty="0" smtClean="0"/>
              <a:t>Should be automated</a:t>
            </a:r>
          </a:p>
          <a:p>
            <a:r>
              <a:rPr lang="en-GB" sz="3200" dirty="0" smtClean="0"/>
              <a:t>Good unit testing is the foundation of a robust system</a:t>
            </a:r>
          </a:p>
          <a:p>
            <a:r>
              <a:rPr lang="en-GB" sz="3200" i="1" dirty="0" smtClean="0"/>
              <a:t>Write some code – write a test</a:t>
            </a:r>
            <a:endParaRPr lang="en-GB" sz="3200" i="1" dirty="0"/>
          </a:p>
        </p:txBody>
      </p:sp>
    </p:spTree>
    <p:extLst>
      <p:ext uri="{BB962C8B-B14F-4D97-AF65-F5344CB8AC3E}">
        <p14:creationId xmlns:p14="http://schemas.microsoft.com/office/powerpoint/2010/main" val="42506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Integration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450696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 that functional units, which have already passed their unit tests, integrate correctly</a:t>
            </a:r>
          </a:p>
          <a:p>
            <a:r>
              <a:rPr lang="en-GB" sz="3200" dirty="0" smtClean="0"/>
              <a:t>Can usually be automated in the same way as unit tests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82507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153400" cy="41148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Ensure that </a:t>
            </a:r>
            <a:r>
              <a:rPr lang="en-GB" sz="3200" i="1" dirty="0" smtClean="0"/>
              <a:t>any</a:t>
            </a:r>
            <a:r>
              <a:rPr lang="en-GB" sz="3200" dirty="0" smtClean="0"/>
              <a:t> changes…</a:t>
            </a:r>
          </a:p>
          <a:p>
            <a:pPr lvl="1"/>
            <a:r>
              <a:rPr lang="en-GB" sz="3000" dirty="0" smtClean="0"/>
              <a:t>Enhancements</a:t>
            </a:r>
          </a:p>
          <a:p>
            <a:pPr lvl="1"/>
            <a:r>
              <a:rPr lang="en-GB" sz="3000" dirty="0" smtClean="0"/>
              <a:t>New functions</a:t>
            </a:r>
          </a:p>
          <a:p>
            <a:pPr lvl="1"/>
            <a:r>
              <a:rPr lang="en-GB" sz="3000" dirty="0" smtClean="0"/>
              <a:t>Bug fixes</a:t>
            </a:r>
          </a:p>
          <a:p>
            <a:r>
              <a:rPr lang="en-GB" sz="3200" dirty="0" smtClean="0"/>
              <a:t>…do not break the system.</a:t>
            </a:r>
          </a:p>
          <a:p>
            <a:r>
              <a:rPr lang="en-GB" sz="3200" dirty="0" smtClean="0"/>
              <a:t>Automated repeat of unit and integration tests</a:t>
            </a:r>
          </a:p>
        </p:txBody>
      </p:sp>
    </p:spTree>
    <p:extLst>
      <p:ext uri="{BB962C8B-B14F-4D97-AF65-F5344CB8AC3E}">
        <p14:creationId xmlns:p14="http://schemas.microsoft.com/office/powerpoint/2010/main" val="81810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Lifecycle Considerations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0771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Sanity, unit, integration and regression tests</a:t>
            </a:r>
          </a:p>
          <a:p>
            <a:pPr lvl="1"/>
            <a:r>
              <a:rPr lang="en-GB" sz="3000" dirty="0" smtClean="0"/>
              <a:t>Carried out continuously throughout development</a:t>
            </a:r>
          </a:p>
          <a:p>
            <a:pPr lvl="1"/>
            <a:r>
              <a:rPr lang="en-GB" sz="3000" dirty="0" smtClean="0"/>
              <a:t>Should ensure that the base functionality of the system is bug free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64350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Daily Build &amp; Test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Best practice involves running tests every day</a:t>
            </a:r>
          </a:p>
          <a:p>
            <a:pPr lvl="1"/>
            <a:r>
              <a:rPr lang="en-GB" sz="3000" dirty="0" smtClean="0"/>
              <a:t>Make sure the whole system builds</a:t>
            </a:r>
          </a:p>
          <a:p>
            <a:pPr lvl="1"/>
            <a:r>
              <a:rPr lang="en-GB" sz="3000" dirty="0" smtClean="0"/>
              <a:t>Make sure nothing is broken</a:t>
            </a:r>
          </a:p>
          <a:p>
            <a:pPr lvl="1"/>
            <a:r>
              <a:rPr lang="en-GB" sz="3000" dirty="0" smtClean="0"/>
              <a:t>Run all the </a:t>
            </a:r>
            <a:r>
              <a:rPr lang="en-GB" sz="3000" smtClean="0"/>
              <a:t>automated tests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34976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Verification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Given a clear set of requirements for the software</a:t>
            </a:r>
          </a:p>
          <a:p>
            <a:r>
              <a:rPr lang="en-GB" sz="3200" dirty="0" smtClean="0"/>
              <a:t>These tests ensure the software meets the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94466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9624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Tests a complete, integrated system</a:t>
            </a:r>
          </a:p>
          <a:p>
            <a:r>
              <a:rPr lang="en-GB" sz="3200" dirty="0" smtClean="0"/>
              <a:t>Includes verification testing</a:t>
            </a:r>
          </a:p>
          <a:p>
            <a:r>
              <a:rPr lang="en-GB" sz="3200" dirty="0" smtClean="0"/>
              <a:t>Also tests:</a:t>
            </a:r>
          </a:p>
          <a:p>
            <a:pPr lvl="1"/>
            <a:r>
              <a:rPr lang="en-GB" sz="3000" dirty="0" smtClean="0"/>
              <a:t>User interface</a:t>
            </a:r>
          </a:p>
          <a:p>
            <a:pPr lvl="1"/>
            <a:r>
              <a:rPr lang="en-GB" sz="3000" dirty="0" smtClean="0"/>
              <a:t>Usability</a:t>
            </a:r>
          </a:p>
          <a:p>
            <a:pPr lvl="1"/>
            <a:r>
              <a:rPr lang="en-GB" sz="3000" dirty="0" smtClean="0"/>
              <a:t>Exception handling</a:t>
            </a:r>
          </a:p>
          <a:p>
            <a:pPr lvl="1"/>
            <a:r>
              <a:rPr lang="en-GB" sz="3000" dirty="0" smtClean="0"/>
              <a:t>…</a:t>
            </a:r>
          </a:p>
          <a:p>
            <a:pPr lvl="1"/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11686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Acceptance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2514600"/>
            <a:ext cx="7594600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All other testing should be complete</a:t>
            </a:r>
          </a:p>
          <a:p>
            <a:r>
              <a:rPr lang="en-GB" sz="3200" dirty="0"/>
              <a:t>Software is tested by the </a:t>
            </a:r>
            <a:r>
              <a:rPr lang="en-GB" sz="3200" dirty="0" smtClean="0"/>
              <a:t>client to ensure</a:t>
            </a:r>
          </a:p>
          <a:p>
            <a:pPr lvl="1"/>
            <a:r>
              <a:rPr lang="en-GB" sz="3000" dirty="0" smtClean="0"/>
              <a:t>It really meets their requirements</a:t>
            </a:r>
          </a:p>
          <a:p>
            <a:pPr lvl="1"/>
            <a:r>
              <a:rPr lang="en-GB" sz="3000" dirty="0" smtClean="0"/>
              <a:t>It performs correctly in their environment</a:t>
            </a:r>
            <a:endParaRPr lang="en-GB" sz="30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9426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Lifecycle Considerations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514600"/>
            <a:ext cx="7620000" cy="38100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Verification testing</a:t>
            </a:r>
          </a:p>
          <a:p>
            <a:pPr lvl="1"/>
            <a:r>
              <a:rPr lang="en-GB" sz="3000" dirty="0" smtClean="0"/>
              <a:t>Can be performed on partial systems</a:t>
            </a:r>
          </a:p>
          <a:p>
            <a:pPr lvl="1"/>
            <a:r>
              <a:rPr lang="en-GB" sz="3000" dirty="0" smtClean="0"/>
              <a:t>Particularly in an </a:t>
            </a:r>
            <a:r>
              <a:rPr lang="en-GB" sz="3000" i="1" dirty="0" smtClean="0"/>
              <a:t>incremental development </a:t>
            </a:r>
            <a:r>
              <a:rPr lang="en-GB" sz="3000" dirty="0" smtClean="0"/>
              <a:t>process</a:t>
            </a:r>
          </a:p>
          <a:p>
            <a:r>
              <a:rPr lang="en-GB" sz="3200" dirty="0" smtClean="0"/>
              <a:t>System &amp; acceptance testing</a:t>
            </a:r>
          </a:p>
          <a:p>
            <a:pPr lvl="1"/>
            <a:r>
              <a:rPr lang="en-GB" sz="3000" dirty="0" smtClean="0"/>
              <a:t>Require a complete system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94983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Other Kinds of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90600" y="2514600"/>
            <a:ext cx="7408333" cy="3962400"/>
          </a:xfrm>
        </p:spPr>
        <p:txBody>
          <a:bodyPr>
            <a:normAutofit fontScale="85000" lnSpcReduction="20000"/>
          </a:bodyPr>
          <a:lstStyle/>
          <a:p>
            <a:r>
              <a:rPr lang="en-GB" sz="3200" dirty="0" smtClean="0"/>
              <a:t>Accessibility Testing</a:t>
            </a:r>
          </a:p>
          <a:p>
            <a:r>
              <a:rPr lang="en-GB" sz="3200" dirty="0" smtClean="0"/>
              <a:t>Benchmark Testing</a:t>
            </a:r>
          </a:p>
          <a:p>
            <a:r>
              <a:rPr lang="en-GB" sz="3200" dirty="0" smtClean="0"/>
              <a:t>Data Flow Testing</a:t>
            </a:r>
          </a:p>
          <a:p>
            <a:r>
              <a:rPr lang="en-GB" sz="3200" dirty="0" smtClean="0"/>
              <a:t>Fuzz Testing</a:t>
            </a:r>
          </a:p>
          <a:p>
            <a:r>
              <a:rPr lang="en-GB" sz="3200" dirty="0" smtClean="0"/>
              <a:t>Internationalization Testing</a:t>
            </a:r>
          </a:p>
          <a:p>
            <a:r>
              <a:rPr lang="en-GB" sz="3200" dirty="0"/>
              <a:t>Stress </a:t>
            </a:r>
            <a:r>
              <a:rPr lang="en-GB" sz="3200" dirty="0" smtClean="0"/>
              <a:t>Testing</a:t>
            </a:r>
          </a:p>
          <a:p>
            <a:r>
              <a:rPr lang="en-GB" sz="3200" dirty="0" smtClean="0"/>
              <a:t>…</a:t>
            </a:r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8978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4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9" dur="indefinite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4" dur="indefinite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9" dur="indefinit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4" dur="indefinite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9" dur="indefinite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0" dur="indefinite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 Driven Development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57600"/>
          </a:xfrm>
        </p:spPr>
        <p:txBody>
          <a:bodyPr>
            <a:normAutofit fontScale="77500" lnSpcReduction="20000"/>
          </a:bodyPr>
          <a:lstStyle/>
          <a:p>
            <a:r>
              <a:rPr lang="en-GB" sz="3200" dirty="0" smtClean="0"/>
              <a:t>Start with a test</a:t>
            </a:r>
          </a:p>
          <a:p>
            <a:pPr lvl="1"/>
            <a:r>
              <a:rPr lang="en-GB" sz="3000" dirty="0" smtClean="0"/>
              <a:t>The test fails</a:t>
            </a:r>
          </a:p>
          <a:p>
            <a:pPr lvl="1"/>
            <a:r>
              <a:rPr lang="en-GB" sz="3000" dirty="0" smtClean="0"/>
              <a:t>Write code to make the test pass</a:t>
            </a:r>
          </a:p>
          <a:p>
            <a:r>
              <a:rPr lang="en-GB" sz="3200" dirty="0" smtClean="0"/>
              <a:t>In TDD </a:t>
            </a:r>
          </a:p>
          <a:p>
            <a:pPr lvl="1"/>
            <a:r>
              <a:rPr lang="en-GB" sz="3000" dirty="0"/>
              <a:t>U</a:t>
            </a:r>
            <a:r>
              <a:rPr lang="en-GB" sz="3000" dirty="0" smtClean="0"/>
              <a:t>nit tests form a significant proportion of the design</a:t>
            </a:r>
          </a:p>
          <a:p>
            <a:pPr lvl="1"/>
            <a:r>
              <a:rPr lang="en-GB" sz="3000" dirty="0" smtClean="0"/>
              <a:t>Acceptance tests form a significant proportion of the requirements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630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675</TotalTime>
  <Words>380</Words>
  <Application>Microsoft Office PowerPoint</Application>
  <PresentationFormat>On-screen Show (4:3)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Tw Cen MT</vt:lpstr>
      <vt:lpstr>Circuit</vt:lpstr>
      <vt:lpstr>Testing Software</vt:lpstr>
      <vt:lpstr>Why Do We Test?</vt:lpstr>
      <vt:lpstr>Types of Test Strategy</vt:lpstr>
      <vt:lpstr>Test Strategies</vt:lpstr>
      <vt:lpstr>Sanity Testing</vt:lpstr>
      <vt:lpstr>Unit Testing</vt:lpstr>
      <vt:lpstr>Integration Testing</vt:lpstr>
      <vt:lpstr>Regression Testing</vt:lpstr>
      <vt:lpstr>Lifecycle Considerations</vt:lpstr>
      <vt:lpstr>The Daily Build &amp; Test</vt:lpstr>
      <vt:lpstr>Verification Testing</vt:lpstr>
      <vt:lpstr>System Testing</vt:lpstr>
      <vt:lpstr>Acceptance Testing</vt:lpstr>
      <vt:lpstr>Lifecycle Considerations</vt:lpstr>
      <vt:lpstr>Other Kinds of Testing</vt:lpstr>
      <vt:lpstr>Test Driven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115</cp:revision>
  <dcterms:created xsi:type="dcterms:W3CDTF">2006-08-16T00:00:00Z</dcterms:created>
  <dcterms:modified xsi:type="dcterms:W3CDTF">2019-11-18T16:42:00Z</dcterms:modified>
</cp:coreProperties>
</file>