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5" r:id="rId3"/>
    <p:sldId id="276" r:id="rId4"/>
    <p:sldId id="277" r:id="rId5"/>
    <p:sldId id="278" r:id="rId6"/>
    <p:sldId id="282" r:id="rId7"/>
    <p:sldId id="279" r:id="rId8"/>
    <p:sldId id="280" r:id="rId9"/>
    <p:sldId id="281" r:id="rId10"/>
    <p:sldId id="27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5" autoAdjust="0"/>
    <p:restoredTop sz="94628" autoAdjust="0"/>
  </p:normalViewPr>
  <p:slideViewPr>
    <p:cSldViewPr>
      <p:cViewPr varScale="1">
        <p:scale>
          <a:sx n="105" d="100"/>
          <a:sy n="105" d="100"/>
        </p:scale>
        <p:origin x="118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9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951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99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62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48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03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94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77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4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51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9977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014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1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39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47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49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58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914400"/>
          </a:xfrm>
        </p:spPr>
        <p:txBody>
          <a:bodyPr>
            <a:normAutofit/>
          </a:bodyPr>
          <a:lstStyle/>
          <a:p>
            <a:r>
              <a:rPr lang="en-GB" dirty="0" smtClean="0"/>
              <a:t>Software Testing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43201"/>
            <a:ext cx="6400800" cy="914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Test Documentation</a:t>
            </a:r>
          </a:p>
        </p:txBody>
      </p:sp>
      <p:pic>
        <p:nvPicPr>
          <p:cNvPr id="5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5763769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System Testing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514600"/>
            <a:ext cx="8305800" cy="3733800"/>
          </a:xfrm>
        </p:spPr>
        <p:txBody>
          <a:bodyPr>
            <a:normAutofit lnSpcReduction="10000"/>
          </a:bodyPr>
          <a:lstStyle/>
          <a:p>
            <a:r>
              <a:rPr lang="en-GB" sz="3200" dirty="0" smtClean="0"/>
              <a:t>Because most system testing still has to be performed manually</a:t>
            </a:r>
          </a:p>
          <a:p>
            <a:r>
              <a:rPr lang="en-GB" sz="3200" dirty="0" smtClean="0"/>
              <a:t>Good documentation is critical</a:t>
            </a:r>
          </a:p>
          <a:p>
            <a:r>
              <a:rPr lang="en-GB" sz="3200" dirty="0" smtClean="0"/>
              <a:t>Tests must be: </a:t>
            </a:r>
          </a:p>
          <a:p>
            <a:pPr lvl="1"/>
            <a:r>
              <a:rPr lang="en-GB" sz="3000" dirty="0" smtClean="0"/>
              <a:t>Clear and unambiguous</a:t>
            </a:r>
          </a:p>
          <a:p>
            <a:pPr lvl="1"/>
            <a:r>
              <a:rPr lang="en-GB" sz="3000" dirty="0" smtClean="0"/>
              <a:t>Reproducible</a:t>
            </a:r>
            <a:endParaRPr lang="en-GB" sz="2800" dirty="0"/>
          </a:p>
          <a:p>
            <a:pPr marL="0" indent="0">
              <a:buNone/>
            </a:pPr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213562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IEEE 29119-3 Documentation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228600" y="2679192"/>
            <a:ext cx="4270247" cy="3447288"/>
          </a:xfrm>
        </p:spPr>
        <p:txBody>
          <a:bodyPr>
            <a:noAutofit/>
          </a:bodyPr>
          <a:lstStyle/>
          <a:p>
            <a:r>
              <a:rPr lang="en-GB" sz="1600" b="1" dirty="0" smtClean="0"/>
              <a:t>Organizational </a:t>
            </a:r>
            <a:r>
              <a:rPr lang="en-GB" sz="1600" b="1" dirty="0"/>
              <a:t>Test Process </a:t>
            </a:r>
            <a:r>
              <a:rPr lang="en-GB" sz="1600" b="1" dirty="0" smtClean="0"/>
              <a:t>Documentation</a:t>
            </a:r>
          </a:p>
          <a:p>
            <a:pPr lvl="1"/>
            <a:r>
              <a:rPr lang="en-GB" sz="1600" dirty="0" smtClean="0"/>
              <a:t>Test Policy</a:t>
            </a:r>
          </a:p>
          <a:p>
            <a:pPr lvl="1"/>
            <a:r>
              <a:rPr lang="en-GB" sz="1600" dirty="0" smtClean="0"/>
              <a:t>Organizational </a:t>
            </a:r>
            <a:r>
              <a:rPr lang="en-GB" sz="1600" dirty="0"/>
              <a:t>Test </a:t>
            </a:r>
            <a:r>
              <a:rPr lang="en-GB" sz="1600" dirty="0" smtClean="0"/>
              <a:t>Strategy</a:t>
            </a:r>
          </a:p>
          <a:p>
            <a:pPr lvl="1"/>
            <a:endParaRPr lang="en-GB" sz="1600" dirty="0"/>
          </a:p>
          <a:p>
            <a:r>
              <a:rPr lang="en-GB" sz="1600" b="1" dirty="0"/>
              <a:t>Test Management Process </a:t>
            </a:r>
            <a:r>
              <a:rPr lang="en-GB" sz="1600" b="1" dirty="0" smtClean="0"/>
              <a:t>Documentation</a:t>
            </a:r>
          </a:p>
          <a:p>
            <a:pPr lvl="1"/>
            <a:r>
              <a:rPr lang="en-GB" sz="1600" dirty="0" smtClean="0"/>
              <a:t>Test </a:t>
            </a:r>
            <a:r>
              <a:rPr lang="en-GB" sz="1600" dirty="0"/>
              <a:t>Plan (including a Test </a:t>
            </a:r>
            <a:r>
              <a:rPr lang="en-GB" sz="1600" dirty="0" smtClean="0"/>
              <a:t>Strategy)</a:t>
            </a:r>
          </a:p>
          <a:p>
            <a:pPr lvl="1"/>
            <a:r>
              <a:rPr lang="en-GB" sz="1600" dirty="0" smtClean="0"/>
              <a:t>Test </a:t>
            </a:r>
            <a:r>
              <a:rPr lang="en-GB" sz="1600" dirty="0"/>
              <a:t>Status </a:t>
            </a:r>
            <a:r>
              <a:rPr lang="en-GB" sz="1600" dirty="0" smtClean="0"/>
              <a:t>Report</a:t>
            </a:r>
          </a:p>
          <a:p>
            <a:pPr lvl="1"/>
            <a:r>
              <a:rPr lang="en-GB" sz="1600" dirty="0" smtClean="0"/>
              <a:t>Test </a:t>
            </a:r>
            <a:r>
              <a:rPr lang="en-GB" sz="1600" dirty="0"/>
              <a:t>Completion </a:t>
            </a:r>
            <a:r>
              <a:rPr lang="en-GB" sz="1600" dirty="0" smtClean="0"/>
              <a:t>Report</a:t>
            </a:r>
            <a:endParaRPr lang="en-GB" sz="1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679192"/>
            <a:ext cx="4117848" cy="3950208"/>
          </a:xfrm>
        </p:spPr>
        <p:txBody>
          <a:bodyPr>
            <a:noAutofit/>
          </a:bodyPr>
          <a:lstStyle/>
          <a:p>
            <a:r>
              <a:rPr lang="en-GB" sz="1600" b="1" dirty="0"/>
              <a:t>Dynamic Test Process Documentation</a:t>
            </a:r>
          </a:p>
          <a:p>
            <a:pPr lvl="1"/>
            <a:r>
              <a:rPr lang="en-GB" sz="1600" dirty="0"/>
              <a:t>Test Design Specification</a:t>
            </a:r>
          </a:p>
          <a:p>
            <a:pPr lvl="1"/>
            <a:r>
              <a:rPr lang="en-GB" sz="1600" dirty="0"/>
              <a:t>Test Case Specification</a:t>
            </a:r>
          </a:p>
          <a:p>
            <a:pPr lvl="1"/>
            <a:r>
              <a:rPr lang="en-GB" sz="1600" dirty="0"/>
              <a:t>Test Procedure Specification</a:t>
            </a:r>
          </a:p>
          <a:p>
            <a:pPr lvl="1"/>
            <a:r>
              <a:rPr lang="en-GB" sz="1600" dirty="0"/>
              <a:t>Test Data Requirements</a:t>
            </a:r>
          </a:p>
          <a:p>
            <a:pPr lvl="1"/>
            <a:r>
              <a:rPr lang="en-GB" sz="1600" dirty="0"/>
              <a:t>Test Data Readiness Report</a:t>
            </a:r>
          </a:p>
          <a:p>
            <a:pPr lvl="1"/>
            <a:r>
              <a:rPr lang="en-GB" sz="1600" dirty="0"/>
              <a:t>Test Environment Requirements</a:t>
            </a:r>
          </a:p>
          <a:p>
            <a:pPr lvl="1"/>
            <a:r>
              <a:rPr lang="en-GB" sz="1600" dirty="0"/>
              <a:t>Test Environment Readiness Report</a:t>
            </a:r>
          </a:p>
          <a:p>
            <a:pPr lvl="1"/>
            <a:r>
              <a:rPr lang="en-GB" sz="1600" dirty="0"/>
              <a:t>Actual Results</a:t>
            </a:r>
          </a:p>
          <a:p>
            <a:pPr lvl="1"/>
            <a:r>
              <a:rPr lang="en-GB" sz="1600" dirty="0"/>
              <a:t>Test Result</a:t>
            </a:r>
          </a:p>
          <a:p>
            <a:pPr lvl="1"/>
            <a:r>
              <a:rPr lang="en-GB" sz="1600" dirty="0"/>
              <a:t>Test Execution Log</a:t>
            </a:r>
          </a:p>
          <a:p>
            <a:pPr lvl="1"/>
            <a:r>
              <a:rPr lang="en-GB" sz="1600" dirty="0"/>
              <a:t>Test Incident </a:t>
            </a:r>
            <a:r>
              <a:rPr lang="en-GB" sz="1600" dirty="0" smtClean="0"/>
              <a:t>Report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34144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IEEE 29119-3 Documentation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r>
              <a:rPr lang="en-GB" sz="3600" b="1" dirty="0" smtClean="0"/>
              <a:t>Yikes!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97790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Our Required Documentation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47800" y="2514600"/>
            <a:ext cx="6324601" cy="3611563"/>
          </a:xfrm>
        </p:spPr>
        <p:txBody>
          <a:bodyPr>
            <a:noAutofit/>
          </a:bodyPr>
          <a:lstStyle/>
          <a:p>
            <a:r>
              <a:rPr lang="en-GB" sz="3600" dirty="0" smtClean="0"/>
              <a:t>Test Strategy</a:t>
            </a:r>
          </a:p>
          <a:p>
            <a:r>
              <a:rPr lang="en-GB" sz="3600" dirty="0" smtClean="0"/>
              <a:t>Test plan</a:t>
            </a:r>
          </a:p>
          <a:p>
            <a:r>
              <a:rPr lang="en-GB" sz="3600" dirty="0" smtClean="0"/>
              <a:t>Test data</a:t>
            </a:r>
          </a:p>
          <a:p>
            <a:r>
              <a:rPr lang="en-GB" sz="3600" dirty="0" smtClean="0"/>
              <a:t>Test log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97790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Test Strategy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High-level document</a:t>
            </a:r>
          </a:p>
          <a:p>
            <a:r>
              <a:rPr lang="en-GB" sz="3200" dirty="0" smtClean="0"/>
              <a:t>Scope of the tests</a:t>
            </a:r>
          </a:p>
          <a:p>
            <a:pPr lvl="1"/>
            <a:r>
              <a:rPr lang="en-GB" sz="3000" dirty="0" smtClean="0"/>
              <a:t>What parts of the system are going to be tested?</a:t>
            </a:r>
          </a:p>
          <a:p>
            <a:r>
              <a:rPr lang="en-GB" sz="3200" dirty="0" smtClean="0"/>
              <a:t>What kinds of test are going to be used?</a:t>
            </a:r>
          </a:p>
          <a:p>
            <a:endParaRPr lang="en-GB" sz="3200" dirty="0" smtClean="0"/>
          </a:p>
          <a:p>
            <a:endParaRPr lang="en-GB" sz="3200" dirty="0" smtClean="0"/>
          </a:p>
        </p:txBody>
      </p:sp>
    </p:spTree>
    <p:extLst>
      <p:ext uri="{BB962C8B-B14F-4D97-AF65-F5344CB8AC3E}">
        <p14:creationId xmlns:p14="http://schemas.microsoft.com/office/powerpoint/2010/main" val="4234698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Test Plan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Test number (must be unique)</a:t>
            </a:r>
          </a:p>
          <a:p>
            <a:r>
              <a:rPr lang="en-GB" sz="3200" dirty="0" smtClean="0"/>
              <a:t>Purpose/type of test (description)</a:t>
            </a:r>
          </a:p>
          <a:p>
            <a:r>
              <a:rPr lang="en-GB" sz="3200" dirty="0" smtClean="0"/>
              <a:t>Input (cross-ref to the test data document)</a:t>
            </a:r>
          </a:p>
          <a:p>
            <a:r>
              <a:rPr lang="en-GB" sz="3200" dirty="0" smtClean="0"/>
              <a:t>Expected result (what the spec says)</a:t>
            </a:r>
          </a:p>
        </p:txBody>
      </p:sp>
    </p:spTree>
    <p:extLst>
      <p:ext uri="{BB962C8B-B14F-4D97-AF65-F5344CB8AC3E}">
        <p14:creationId xmlns:p14="http://schemas.microsoft.com/office/powerpoint/2010/main" val="1972608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Test Data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962400"/>
          </a:xfrm>
        </p:spPr>
        <p:txBody>
          <a:bodyPr>
            <a:normAutofit fontScale="92500" lnSpcReduction="10000"/>
          </a:bodyPr>
          <a:lstStyle/>
          <a:p>
            <a:r>
              <a:rPr lang="en-GB" sz="3200" dirty="0" smtClean="0"/>
              <a:t>Exact format depends on the data</a:t>
            </a:r>
          </a:p>
          <a:p>
            <a:r>
              <a:rPr lang="en-GB" sz="3200" dirty="0" smtClean="0"/>
              <a:t>Should specify all the inputs required for a specific test</a:t>
            </a:r>
          </a:p>
          <a:p>
            <a:r>
              <a:rPr lang="en-GB" sz="3200" dirty="0" smtClean="0"/>
              <a:t>Generally:</a:t>
            </a:r>
          </a:p>
          <a:p>
            <a:pPr lvl="1"/>
            <a:r>
              <a:rPr lang="en-GB" sz="3000" dirty="0" smtClean="0"/>
              <a:t>Start with several good inputs</a:t>
            </a:r>
          </a:p>
          <a:p>
            <a:pPr lvl="1"/>
            <a:r>
              <a:rPr lang="en-GB" sz="3000" dirty="0" smtClean="0"/>
              <a:t>Introduce boundary and exceptional data to test the validation</a:t>
            </a:r>
          </a:p>
        </p:txBody>
      </p:sp>
    </p:spTree>
    <p:extLst>
      <p:ext uri="{BB962C8B-B14F-4D97-AF65-F5344CB8AC3E}">
        <p14:creationId xmlns:p14="http://schemas.microsoft.com/office/powerpoint/2010/main" val="148325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 Test Log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153399" cy="3611563"/>
          </a:xfrm>
        </p:spPr>
        <p:txBody>
          <a:bodyPr>
            <a:normAutofit/>
          </a:bodyPr>
          <a:lstStyle/>
          <a:p>
            <a:r>
              <a:rPr lang="en-GB" sz="3200" dirty="0"/>
              <a:t>Test number </a:t>
            </a:r>
            <a:r>
              <a:rPr lang="en-GB" sz="3200" dirty="0" smtClean="0"/>
              <a:t>(x-ref to Test Plan)</a:t>
            </a:r>
            <a:endParaRPr lang="en-GB" sz="3200" dirty="0"/>
          </a:p>
          <a:p>
            <a:r>
              <a:rPr lang="en-GB" sz="3200" dirty="0" smtClean="0"/>
              <a:t>Actual </a:t>
            </a:r>
            <a:r>
              <a:rPr lang="en-GB" sz="3200" dirty="0"/>
              <a:t>result (what the system does)</a:t>
            </a:r>
          </a:p>
          <a:p>
            <a:r>
              <a:rPr lang="en-GB" sz="3200" dirty="0"/>
              <a:t>Pass/Fail (the result of the test</a:t>
            </a:r>
            <a:r>
              <a:rPr lang="en-GB" sz="3200" dirty="0" smtClean="0"/>
              <a:t>)</a:t>
            </a:r>
          </a:p>
          <a:p>
            <a:r>
              <a:rPr lang="en-GB" sz="3200" dirty="0" smtClean="0"/>
              <a:t>Comment (what has failed)</a:t>
            </a:r>
            <a:endParaRPr lang="en-GB" sz="3200" dirty="0"/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018181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Resources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2362200"/>
            <a:ext cx="8458200" cy="4038600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GB" sz="2800" i="1" dirty="0" smtClean="0"/>
              <a:t>Good Presentation on Testing</a:t>
            </a:r>
            <a:endParaRPr lang="en-GB" sz="2800" dirty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400" dirty="0"/>
              <a:t>http://www.slideshare.net/VishwakSolutions/strategies-for-software-test-documentation</a:t>
            </a:r>
            <a:endParaRPr lang="en-GB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GB" sz="2800" i="1" dirty="0" err="1" smtClean="0"/>
              <a:t>TutorialsPoint</a:t>
            </a:r>
            <a:r>
              <a:rPr lang="en-GB" sz="2800" i="1" dirty="0" smtClean="0"/>
              <a:t> on test documentation</a:t>
            </a:r>
            <a:endParaRPr lang="en-GB" sz="2800" dirty="0" smtClean="0"/>
          </a:p>
          <a:p>
            <a:pPr marL="301943" lvl="1" indent="0">
              <a:spcAft>
                <a:spcPts val="600"/>
              </a:spcAft>
              <a:buNone/>
            </a:pPr>
            <a:r>
              <a:rPr lang="en-GB" sz="2400" dirty="0" smtClean="0"/>
              <a:t>http</a:t>
            </a:r>
            <a:r>
              <a:rPr lang="en-GB" sz="2400" dirty="0"/>
              <a:t>://www.tutorialspoint.com/software_testing/testing_documentation.htm</a:t>
            </a:r>
            <a:endParaRPr lang="en-GB" sz="2400" dirty="0" smtClean="0"/>
          </a:p>
          <a:p>
            <a:pPr marL="0" indent="0">
              <a:spcAft>
                <a:spcPts val="600"/>
              </a:spcAft>
              <a:buNone/>
            </a:pPr>
            <a:r>
              <a:rPr lang="en-GB" sz="2800" i="1" dirty="0"/>
              <a:t>The Wiki Overview of the IEEE 829 Specification </a:t>
            </a:r>
            <a:endParaRPr lang="en-GB" sz="2800" dirty="0" smtClean="0"/>
          </a:p>
          <a:p>
            <a:pPr marL="301943" lvl="1" indent="0">
              <a:buNone/>
            </a:pPr>
            <a:r>
              <a:rPr lang="en-GB" sz="2400" dirty="0"/>
              <a:t>http://en.wikipedia.org/wiki/IEEE_829</a:t>
            </a:r>
            <a:r>
              <a:rPr lang="en-GB" sz="2400" dirty="0" smtClean="0"/>
              <a:t>	</a:t>
            </a:r>
          </a:p>
          <a:p>
            <a:pPr marL="301943" lvl="1" indent="0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44952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1334</TotalTime>
  <Words>268</Words>
  <Application>Microsoft Office PowerPoint</Application>
  <PresentationFormat>On-screen Show (4:3)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Circuit</vt:lpstr>
      <vt:lpstr>Software Testing</vt:lpstr>
      <vt:lpstr>System Testing</vt:lpstr>
      <vt:lpstr>IEEE 29119-3 Documentation</vt:lpstr>
      <vt:lpstr>IEEE 29119-3 Documentation</vt:lpstr>
      <vt:lpstr>Our Required Documentation</vt:lpstr>
      <vt:lpstr>The Test Strategy</vt:lpstr>
      <vt:lpstr>The Test Plan</vt:lpstr>
      <vt:lpstr>The Test Data</vt:lpstr>
      <vt:lpstr>The Test Log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Analysis &amp; Design</dc:title>
  <dc:creator>andreas.schoter</dc:creator>
  <cp:lastModifiedBy>Arsalan Rashid</cp:lastModifiedBy>
  <cp:revision>246</cp:revision>
  <dcterms:created xsi:type="dcterms:W3CDTF">2006-08-16T00:00:00Z</dcterms:created>
  <dcterms:modified xsi:type="dcterms:W3CDTF">2019-11-18T16:38:20Z</dcterms:modified>
</cp:coreProperties>
</file>