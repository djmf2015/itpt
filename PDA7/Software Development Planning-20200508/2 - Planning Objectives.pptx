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924" autoAdjust="0"/>
    <p:restoredTop sz="88489" autoAdjust="0"/>
  </p:normalViewPr>
  <p:slideViewPr>
    <p:cSldViewPr>
      <p:cViewPr varScale="1">
        <p:scale>
          <a:sx n="98" d="100"/>
          <a:sy n="98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16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79CE3-82F2-4C59-9B51-4CFDFDE58B1D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F59F5-1873-461B-9802-048F31C2C6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9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ABA71-EE8A-433D-BA80-CF02CF96BD1B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9273C-A690-42D9-B484-F858C74B18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infoadmin/comms/Shared%20Images/College%20Logos/FVC%20Logo.jp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3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20"/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21" name="Picture 120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72014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0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4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4977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5293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4237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692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490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81964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21577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45853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89555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924812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458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28118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11859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3648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72028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20"/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3214678" y="5140123"/>
            <a:ext cx="28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</a:rPr>
              <a:t>© City of Glasgow College</a:t>
            </a:r>
          </a:p>
          <a:p>
            <a:r>
              <a:rPr lang="en-GB" dirty="0" smtClean="0">
                <a:solidFill>
                  <a:srgbClr val="808080"/>
                </a:solidFill>
              </a:rPr>
              <a:t>Charity Number SC0 36198</a:t>
            </a:r>
            <a:endParaRPr lang="en-US" dirty="0">
              <a:solidFill>
                <a:srgbClr val="808080"/>
              </a:solidFill>
            </a:endParaRPr>
          </a:p>
        </p:txBody>
      </p:sp>
      <p:pic>
        <p:nvPicPr>
          <p:cNvPr id="9" name="Picture 8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72014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58204" cy="46863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3214678" y="5140123"/>
            <a:ext cx="28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</a:rPr>
              <a:t>© City of Glasgow College</a:t>
            </a:r>
          </a:p>
          <a:p>
            <a:r>
              <a:rPr lang="en-GB" dirty="0" smtClean="0">
                <a:solidFill>
                  <a:srgbClr val="808080"/>
                </a:solidFill>
              </a:rPr>
              <a:t>Charity Number SC0 36198</a:t>
            </a:r>
            <a:endParaRPr lang="en-US" dirty="0">
              <a:solidFill>
                <a:srgbClr val="808080"/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8763000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79912" y="1844824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143932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143932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si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aculty of Creative Industri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Nautical Stud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28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4619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25388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19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8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7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649" r:id="rId18"/>
    <p:sldLayoutId id="2147483660" r:id="rId19"/>
    <p:sldLayoutId id="2147483668" r:id="rId20"/>
    <p:sldLayoutId id="2147483683" r:id="rId21"/>
    <p:sldLayoutId id="2147483704" r:id="rId22"/>
    <p:sldLayoutId id="2147483705" r:id="rId23"/>
    <p:sldLayoutId id="2147483699" r:id="rId24"/>
    <p:sldLayoutId id="2147483696" r:id="rId25"/>
    <p:sldLayoutId id="2147483697" r:id="rId26"/>
    <p:sldLayoutId id="2147483700" r:id="rId27"/>
    <p:sldLayoutId id="2147483701" r:id="rId28"/>
    <p:sldLayoutId id="2147483707" r:id="rId29"/>
    <p:sldLayoutId id="2147483698" r:id="rId30"/>
    <p:sldLayoutId id="2147483702" r:id="rId31"/>
    <p:sldLayoutId id="2147483703" r:id="rId32"/>
    <p:sldLayoutId id="2147483706" r:id="rId33"/>
    <p:sldLayoutId id="2147483652" r:id="rId34"/>
    <p:sldLayoutId id="2147483685" r:id="rId35"/>
    <p:sldLayoutId id="2147483708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Computing: Planning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Key Objectives of Planning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036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400" smtClean="0"/>
              <a:t>The three objectives of planning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Objective 1</a:t>
            </a:r>
          </a:p>
          <a:p>
            <a:pPr lvl="1" eaLnBrk="1" hangingPunct="1"/>
            <a:r>
              <a:rPr lang="en-GB" altLang="en-US" smtClean="0"/>
              <a:t>Critical thinking</a:t>
            </a:r>
          </a:p>
          <a:p>
            <a:pPr eaLnBrk="1" hangingPunct="1"/>
            <a:r>
              <a:rPr lang="en-GB" altLang="en-US" smtClean="0"/>
              <a:t>Objective 2</a:t>
            </a:r>
          </a:p>
          <a:p>
            <a:pPr lvl="1" eaLnBrk="1" hangingPunct="1"/>
            <a:r>
              <a:rPr lang="en-GB" altLang="en-US" smtClean="0"/>
              <a:t>Communication</a:t>
            </a:r>
          </a:p>
          <a:p>
            <a:pPr eaLnBrk="1" hangingPunct="1"/>
            <a:r>
              <a:rPr lang="en-GB" altLang="en-US" smtClean="0"/>
              <a:t>Objective 3</a:t>
            </a:r>
          </a:p>
          <a:p>
            <a:pPr lvl="1" eaLnBrk="1" hangingPunct="1"/>
            <a:r>
              <a:rPr lang="en-GB" altLang="en-US" smtClean="0"/>
              <a:t>Target setting</a:t>
            </a:r>
          </a:p>
        </p:txBody>
      </p:sp>
    </p:spTree>
    <p:extLst>
      <p:ext uri="{BB962C8B-B14F-4D97-AF65-F5344CB8AC3E}">
        <p14:creationId xmlns:p14="http://schemas.microsoft.com/office/powerpoint/2010/main" val="7173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Objective 1 - Critical thinking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GB" altLang="en-US" dirty="0" smtClean="0"/>
              <a:t>Purposeful and focused thinking</a:t>
            </a:r>
          </a:p>
          <a:p>
            <a:pPr lvl="1" eaLnBrk="1" hangingPunct="1"/>
            <a:r>
              <a:rPr lang="en-GB" altLang="en-US" dirty="0" smtClean="0"/>
              <a:t>Involves thinking “outside the box”</a:t>
            </a:r>
          </a:p>
          <a:p>
            <a:pPr lvl="1" eaLnBrk="1" hangingPunct="1"/>
            <a:r>
              <a:rPr lang="en-GB" altLang="en-US" dirty="0" smtClean="0"/>
              <a:t>Relies on doubt and suspending judgement</a:t>
            </a:r>
          </a:p>
          <a:p>
            <a:pPr lvl="1" eaLnBrk="1" hangingPunct="1"/>
            <a:r>
              <a:rPr lang="en-GB" altLang="en-US" dirty="0" smtClean="0"/>
              <a:t>Does not rule out possible solutions</a:t>
            </a:r>
          </a:p>
          <a:p>
            <a:pPr lvl="1" eaLnBrk="1" hangingPunct="1"/>
            <a:r>
              <a:rPr lang="en-GB" altLang="en-US" dirty="0" smtClean="0"/>
              <a:t>Is not limited by artificial constraints like budgets</a:t>
            </a:r>
          </a:p>
          <a:p>
            <a:pPr lvl="1" eaLnBrk="1" hangingPunct="1"/>
            <a:r>
              <a:rPr lang="en-GB" altLang="en-US" dirty="0" smtClean="0"/>
              <a:t>Getting from point A to point B thinking</a:t>
            </a:r>
          </a:p>
          <a:p>
            <a:pPr lvl="1" eaLnBrk="1" hangingPunct="1"/>
            <a:r>
              <a:rPr lang="en-GB" altLang="en-US" dirty="0" smtClean="0"/>
              <a:t>Problem solving thinking</a:t>
            </a:r>
          </a:p>
          <a:p>
            <a:r>
              <a:rPr lang="en-GB" altLang="en-US" dirty="0" smtClean="0"/>
              <a:t>How can we “think critically”?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1462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How to Think </a:t>
            </a:r>
            <a:r>
              <a:rPr lang="en-GB" altLang="en-US" dirty="0"/>
              <a:t>C</a:t>
            </a:r>
            <a:r>
              <a:rPr lang="en-GB" altLang="en-US" dirty="0" smtClean="0"/>
              <a:t>ritically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600" smtClean="0"/>
              <a:t>The planner should have a reasonable level of knowledge of the subject	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smtClean="0"/>
              <a:t>Process can be viewed as being guided by questions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smtClean="0"/>
              <a:t>A good planner will learn to ask the right questions to find required information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smtClean="0"/>
              <a:t>Planners will take careful notes, continually asking questions to clarify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smtClean="0"/>
              <a:t>Five main questions to support critical thinking: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200" smtClean="0"/>
              <a:t>What, why, where, who and how?</a:t>
            </a:r>
          </a:p>
        </p:txBody>
      </p:sp>
    </p:spTree>
    <p:extLst>
      <p:ext uri="{BB962C8B-B14F-4D97-AF65-F5344CB8AC3E}">
        <p14:creationId xmlns:p14="http://schemas.microsoft.com/office/powerpoint/2010/main" val="420860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The critical thinking process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 sz="2100" smtClean="0"/>
              <a:t>Determine what you hope to achieve as a result of the decision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 sz="2100" smtClean="0"/>
              <a:t>Gather information deliberately (read up on the issue, talk to knowledgeable people), make no hasty decisions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 sz="2100" smtClean="0"/>
              <a:t>List all realistic possibilities for each choice</a:t>
            </a:r>
          </a:p>
          <a:p>
            <a:pPr marL="1347788" lvl="2" indent="-438150" eaLnBrk="1" hangingPunct="1">
              <a:lnSpc>
                <a:spcPct val="90000"/>
              </a:lnSpc>
            </a:pPr>
            <a:r>
              <a:rPr lang="en-GB" altLang="en-US" sz="1800" smtClean="0"/>
              <a:t>Advantages/disadvantages</a:t>
            </a:r>
          </a:p>
          <a:p>
            <a:pPr marL="1347788" lvl="2" indent="-438150" eaLnBrk="1" hangingPunct="1">
              <a:lnSpc>
                <a:spcPct val="90000"/>
              </a:lnSpc>
            </a:pPr>
            <a:r>
              <a:rPr lang="en-GB" altLang="en-US" sz="1800" smtClean="0"/>
              <a:t>Foresee the worst – can you live with it?</a:t>
            </a:r>
          </a:p>
          <a:p>
            <a:pPr marL="1347788" lvl="2" indent="-438150" eaLnBrk="1" hangingPunct="1">
              <a:lnSpc>
                <a:spcPct val="90000"/>
              </a:lnSpc>
            </a:pPr>
            <a:r>
              <a:rPr lang="en-GB" altLang="en-US" sz="1800" smtClean="0"/>
              <a:t>Rank each factor in order of importance to you – work out priorities</a:t>
            </a:r>
          </a:p>
          <a:p>
            <a:pPr marL="1347788" lvl="2" indent="-438150" eaLnBrk="1" hangingPunct="1">
              <a:lnSpc>
                <a:spcPct val="90000"/>
              </a:lnSpc>
            </a:pPr>
            <a:r>
              <a:rPr lang="en-GB" altLang="en-US" sz="1800" smtClean="0"/>
              <a:t>Evaluate each choice by estimating its short and long range consequences</a:t>
            </a:r>
          </a:p>
          <a:p>
            <a:pPr marL="1347788" lvl="2" indent="-438150" eaLnBrk="1" hangingPunct="1">
              <a:lnSpc>
                <a:spcPct val="90000"/>
              </a:lnSpc>
            </a:pPr>
            <a:r>
              <a:rPr lang="en-GB" altLang="en-US" sz="1800" smtClean="0"/>
              <a:t>Make a choice</a:t>
            </a:r>
          </a:p>
        </p:txBody>
      </p:sp>
    </p:spTree>
    <p:extLst>
      <p:ext uri="{BB962C8B-B14F-4D97-AF65-F5344CB8AC3E}">
        <p14:creationId xmlns:p14="http://schemas.microsoft.com/office/powerpoint/2010/main" val="1262402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Objective 2 - Communication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GB" altLang="en-US" dirty="0" smtClean="0"/>
              <a:t>Absolutely vital - planners must understand they work as part of a team</a:t>
            </a:r>
          </a:p>
          <a:p>
            <a:pPr eaLnBrk="1" hangingPunct="1"/>
            <a:r>
              <a:rPr lang="en-GB" altLang="en-US" dirty="0" smtClean="0"/>
              <a:t>Details of plan must be publicised and communicated to every member of the team </a:t>
            </a:r>
          </a:p>
          <a:p>
            <a:pPr eaLnBrk="1" hangingPunct="1"/>
            <a:r>
              <a:rPr lang="en-GB" altLang="en-US" dirty="0" smtClean="0"/>
              <a:t>Management must be involved</a:t>
            </a:r>
          </a:p>
          <a:p>
            <a:pPr lvl="1" eaLnBrk="1" hangingPunct="1"/>
            <a:r>
              <a:rPr lang="en-GB" altLang="en-US" dirty="0" smtClean="0"/>
              <a:t>Allocation of resources, budget etc.</a:t>
            </a:r>
          </a:p>
          <a:p>
            <a:pPr lvl="1" eaLnBrk="1" hangingPunct="1"/>
            <a:endParaRPr lang="en-GB" altLang="en-US" dirty="0"/>
          </a:p>
          <a:p>
            <a:r>
              <a:rPr lang="en-GB" altLang="en-US" dirty="0" smtClean="0"/>
              <a:t>Why communicate with the project team?</a:t>
            </a:r>
          </a:p>
          <a:p>
            <a:r>
              <a:rPr lang="en-GB" altLang="en-US" dirty="0" smtClean="0"/>
              <a:t>What are effective ways of communicating?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9035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Why communicate?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Project leader and team members will continue to understand the objectives</a:t>
            </a:r>
          </a:p>
          <a:p>
            <a:pPr eaLnBrk="1" hangingPunct="1"/>
            <a:r>
              <a:rPr lang="en-GB" altLang="en-US" dirty="0" smtClean="0"/>
              <a:t>Information is communicated to all levels</a:t>
            </a:r>
          </a:p>
          <a:p>
            <a:pPr eaLnBrk="1" hangingPunct="1"/>
            <a:r>
              <a:rPr lang="en-GB" altLang="en-US" dirty="0" smtClean="0"/>
              <a:t>Team members will have the opportunity for communication back to the other team members including project leader</a:t>
            </a:r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4383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How to communicate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Three main channels –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  <a:p>
            <a:pPr lvl="1" eaLnBrk="1" hangingPunct="1"/>
            <a:r>
              <a:rPr lang="en-GB" altLang="en-US" dirty="0" smtClean="0"/>
              <a:t>Oral communication</a:t>
            </a:r>
          </a:p>
          <a:p>
            <a:pPr lvl="1" eaLnBrk="1" hangingPunct="1">
              <a:buFont typeface="Wingdings" pitchFamily="2" charset="2"/>
              <a:buNone/>
            </a:pPr>
            <a:endParaRPr lang="en-GB" altLang="en-US" dirty="0" smtClean="0"/>
          </a:p>
          <a:p>
            <a:pPr lvl="1" eaLnBrk="1" hangingPunct="1"/>
            <a:r>
              <a:rPr lang="en-GB" altLang="en-US" dirty="0" smtClean="0"/>
              <a:t>Written</a:t>
            </a:r>
          </a:p>
          <a:p>
            <a:pPr lvl="1" eaLnBrk="1" hangingPunct="1">
              <a:buFont typeface="Wingdings" pitchFamily="2" charset="2"/>
              <a:buNone/>
            </a:pPr>
            <a:endParaRPr lang="en-GB" altLang="en-US" dirty="0" smtClean="0"/>
          </a:p>
          <a:p>
            <a:pPr lvl="1" eaLnBrk="1" hangingPunct="1"/>
            <a:r>
              <a:rPr lang="en-GB" altLang="en-US" dirty="0"/>
              <a:t>V</a:t>
            </a:r>
            <a:r>
              <a:rPr lang="en-GB" altLang="en-US" dirty="0" smtClean="0"/>
              <a:t>isual</a:t>
            </a:r>
          </a:p>
        </p:txBody>
      </p:sp>
    </p:spTree>
    <p:extLst>
      <p:ext uri="{BB962C8B-B14F-4D97-AF65-F5344CB8AC3E}">
        <p14:creationId xmlns:p14="http://schemas.microsoft.com/office/powerpoint/2010/main" val="155261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Objective 3 – Target setting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GB" altLang="en-US" sz="2600" smtClean="0"/>
              <a:t>Planning is a process of deciding in advance what steps are required to reach a goal</a:t>
            </a:r>
          </a:p>
          <a:p>
            <a:pPr eaLnBrk="1" hangingPunct="1"/>
            <a:r>
              <a:rPr lang="en-GB" altLang="en-US" sz="2600" smtClean="0"/>
              <a:t>Key objective of planning – evaluation</a:t>
            </a:r>
          </a:p>
          <a:p>
            <a:pPr lvl="1" eaLnBrk="1" hangingPunct="1"/>
            <a:r>
              <a:rPr lang="en-GB" altLang="en-US" sz="2200" smtClean="0"/>
              <a:t>Enables an assessment of how well the project is going (or how badly!)</a:t>
            </a:r>
          </a:p>
          <a:p>
            <a:pPr lvl="1" eaLnBrk="1" hangingPunct="1"/>
            <a:r>
              <a:rPr lang="en-GB" altLang="en-US" sz="2200" smtClean="0"/>
              <a:t>Assists in the learning process that occurs throughout every project</a:t>
            </a:r>
          </a:p>
          <a:p>
            <a:pPr lvl="1" eaLnBrk="1" hangingPunct="1"/>
            <a:r>
              <a:rPr lang="en-GB" altLang="en-US" sz="2200" smtClean="0"/>
              <a:t>Targets and how they will be met must be agreed by project leader, management and team members</a:t>
            </a:r>
          </a:p>
        </p:txBody>
      </p:sp>
    </p:spTree>
    <p:extLst>
      <p:ext uri="{BB962C8B-B14F-4D97-AF65-F5344CB8AC3E}">
        <p14:creationId xmlns:p14="http://schemas.microsoft.com/office/powerpoint/2010/main" val="4049760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129</TotalTime>
  <Words>347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Tw Cen MT</vt:lpstr>
      <vt:lpstr>Wingdings</vt:lpstr>
      <vt:lpstr>Circuit</vt:lpstr>
      <vt:lpstr>Computing: Planning</vt:lpstr>
      <vt:lpstr>The three objectives of planning</vt:lpstr>
      <vt:lpstr>Objective 1 - Critical thinking</vt:lpstr>
      <vt:lpstr>How to Think Critically</vt:lpstr>
      <vt:lpstr>The critical thinking process</vt:lpstr>
      <vt:lpstr>Objective 2 - Communication</vt:lpstr>
      <vt:lpstr>Why communicate?</vt:lpstr>
      <vt:lpstr>How to communicate</vt:lpstr>
      <vt:lpstr>Objective 3 – Target setting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Computing: Planning</dc:title>
  <dc:creator>bgrantham</dc:creator>
  <cp:keywords>CALM Powerpoint Template</cp:keywords>
  <dc:description>CALM PowerPoint Template from the City of Glasgow College.</dc:description>
  <cp:lastModifiedBy>Arsalan Rashid</cp:lastModifiedBy>
  <cp:revision>16</cp:revision>
  <dcterms:created xsi:type="dcterms:W3CDTF">2017-08-28T10:36:41Z</dcterms:created>
  <dcterms:modified xsi:type="dcterms:W3CDTF">2019-11-18T16:44:23Z</dcterms:modified>
  <dc:language>English</dc:language>
</cp:coreProperties>
</file>