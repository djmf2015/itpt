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9" r:id="rId1"/>
  </p:sldMasterIdLst>
  <p:notesMasterIdLst>
    <p:notesMasterId r:id="rId12"/>
  </p:notesMasterIdLst>
  <p:handoutMasterIdLst>
    <p:handoutMasterId r:id="rId13"/>
  </p:handoutMasterIdLst>
  <p:sldIdLst>
    <p:sldId id="256" r:id="rId2"/>
    <p:sldId id="283" r:id="rId3"/>
    <p:sldId id="260" r:id="rId4"/>
    <p:sldId id="261" r:id="rId5"/>
    <p:sldId id="262" r:id="rId6"/>
    <p:sldId id="264" r:id="rId7"/>
    <p:sldId id="265" r:id="rId8"/>
    <p:sldId id="266" r:id="rId9"/>
    <p:sldId id="284" r:id="rId10"/>
    <p:sldId id="28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80"/>
    <a:srgbClr val="8989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843" autoAdjust="0"/>
    <p:restoredTop sz="88519" autoAdjust="0"/>
  </p:normalViewPr>
  <p:slideViewPr>
    <p:cSldViewPr>
      <p:cViewPr varScale="1">
        <p:scale>
          <a:sx n="103" d="100"/>
          <a:sy n="103" d="100"/>
        </p:scale>
        <p:origin x="77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2814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779CE3-82F2-4C59-9B51-4CFDFDE58B1D}" type="datetimeFigureOut">
              <a:rPr lang="en-US" smtClean="0"/>
              <a:pPr/>
              <a:t>11/19/19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CF59F5-1873-461B-9802-048F31C2C6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9997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4ABA71-EE8A-433D-BA80-CF02CF96BD1B}" type="datetimeFigureOut">
              <a:rPr lang="en-US" smtClean="0"/>
              <a:pPr/>
              <a:t>11/19/19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9273C-A690-42D9-B484-F858C74B18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526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infoadmin/comms/Shared%20Images/College%20Logos/FVC%20Logo.jpg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infoadmin/comms/Shared%20Images/College%20Logos/FVC%20Logo.jpg" TargetMode="External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3" name="Rectangle 5">
            <a:extLst>
              <a:ext uri="{FF2B5EF4-FFF2-40B4-BE49-F238E27FC236}">
                <a16:creationId xmlns:a16="http://schemas.microsoft.com/office/drawing/2014/main" id="{38A02296-D912-EE48-BB06-ED40496CAE9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64" name="Rectangle 20">
            <a:extLst>
              <a:ext uri="{FF2B5EF4-FFF2-40B4-BE49-F238E27FC236}">
                <a16:creationId xmlns:a16="http://schemas.microsoft.com/office/drawing/2014/main" id="{1F834AAA-33DF-3545-BCA6-43E0DAF67C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324624"/>
            <a:ext cx="9144000" cy="5334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65" name="Picture 64">
            <a:hlinkClick r:id="rId3"/>
            <a:extLst>
              <a:ext uri="{FF2B5EF4-FFF2-40B4-BE49-F238E27FC236}">
                <a16:creationId xmlns:a16="http://schemas.microsoft.com/office/drawing/2014/main" id="{04BD5EB6-C662-4348-AEAC-752F68BE33A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38600" y="2060848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2649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11/19/19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7201" y="5791201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6">
            <a:extLst>
              <a:ext uri="{FF2B5EF4-FFF2-40B4-BE49-F238E27FC236}">
                <a16:creationId xmlns:a16="http://schemas.microsoft.com/office/drawing/2014/main" id="{F60542E5-BD22-CD48-B093-E269F63AEDB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0"/>
            <a:ext cx="9144000" cy="3420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6E47E1DC-4B34-604E-B3D4-E0E808E735F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140474"/>
            <a:ext cx="9144000" cy="341312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57B837FA-BA7B-A24C-B112-2449272695F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6584974"/>
            <a:ext cx="9144000" cy="125412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1" name="Line 6">
            <a:extLst>
              <a:ext uri="{FF2B5EF4-FFF2-40B4-BE49-F238E27FC236}">
                <a16:creationId xmlns:a16="http://schemas.microsoft.com/office/drawing/2014/main" id="{35F773C6-BAAF-DA41-8B81-D875C3ACDEA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6786586"/>
            <a:ext cx="9144000" cy="0"/>
          </a:xfrm>
          <a:prstGeom prst="line">
            <a:avLst/>
          </a:prstGeom>
          <a:noFill/>
          <a:ln w="47625">
            <a:solidFill>
              <a:srgbClr val="000000">
                <a:alpha val="27000"/>
              </a:srgb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003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730948"/>
      </p:ext>
    </p:extLst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7201" y="5791201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690940"/>
      </p:ext>
    </p:extLst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2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077201" y="5791201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5707117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55971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283705"/>
      </p:ext>
    </p:extLst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23943"/>
      </p:ext>
    </p:extLst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86336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268903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016224"/>
      </p:ext>
    </p:extLst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99239128"/>
      </p:ext>
    </p:extLst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50234"/>
      </p:ext>
    </p:extLst>
  </p:cSld>
  <p:clrMapOvr>
    <a:masterClrMapping/>
  </p:clrMapOvr>
  <p:hf hd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62139"/>
      </p:ext>
    </p:extLst>
  </p:cSld>
  <p:clrMapOvr>
    <a:masterClrMapping/>
  </p:clrMapOvr>
  <p:hf hd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691151"/>
      </p:ext>
    </p:extLst>
  </p:cSld>
  <p:clrMapOvr>
    <a:masterClrMapping/>
  </p:clrMapOvr>
  <p:hf hd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342144"/>
      </p:ext>
    </p:extLst>
  </p:cSld>
  <p:clrMapOvr>
    <a:masterClrMapping/>
  </p:clrMapOvr>
  <p:hf hd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533877"/>
      </p:ext>
    </p:extLst>
  </p:cSld>
  <p:clrMapOvr>
    <a:masterClrMapping/>
  </p:clrMapOvr>
  <p:hf hd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5334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20"/>
          <p:cNvSpPr>
            <a:spLocks noChangeArrowheads="1"/>
          </p:cNvSpPr>
          <p:nvPr userDrawn="1"/>
        </p:nvSpPr>
        <p:spPr bwMode="auto">
          <a:xfrm>
            <a:off x="0" y="6324624"/>
            <a:ext cx="9144000" cy="5334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1357290" y="3429000"/>
            <a:ext cx="6429420" cy="642942"/>
          </a:xfrm>
          <a:ln w="25400">
            <a:noFill/>
            <a:prstDash val="sysDash"/>
          </a:ln>
        </p:spPr>
        <p:txBody>
          <a:bodyPr>
            <a:normAutofit/>
          </a:bodyPr>
          <a:lstStyle>
            <a:lvl1pPr algn="ctr">
              <a:defRPr sz="3000">
                <a:solidFill>
                  <a:srgbClr val="80808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1357290" y="4071942"/>
            <a:ext cx="6429420" cy="895344"/>
          </a:xfrm>
        </p:spPr>
        <p:txBody>
          <a:bodyPr>
            <a:normAutofit/>
          </a:bodyPr>
          <a:lstStyle>
            <a:lvl1pPr marL="0" indent="0" algn="ctr">
              <a:buNone/>
              <a:defRPr sz="2500">
                <a:solidFill>
                  <a:srgbClr val="80808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9" name="Picture 8">
            <a:hlinkClick r:id="rId2"/>
            <a:extLst>
              <a:ext uri="{FF2B5EF4-FFF2-40B4-BE49-F238E27FC236}">
                <a16:creationId xmlns:a16="http://schemas.microsoft.com/office/drawing/2014/main" id="{010EFBF5-4677-D541-8665-85CC51CD27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38600" y="2060848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8258204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28596" y="1357298"/>
            <a:ext cx="8258204" cy="4686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Rectangle 6"/>
          <p:cNvSpPr>
            <a:spLocks noChangeArrowheads="1"/>
          </p:cNvSpPr>
          <p:nvPr userDrawn="1"/>
        </p:nvSpPr>
        <p:spPr bwMode="auto">
          <a:xfrm>
            <a:off x="0" y="0"/>
            <a:ext cx="9144000" cy="3420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Rectangle 4"/>
          <p:cNvSpPr>
            <a:spLocks noChangeArrowheads="1"/>
          </p:cNvSpPr>
          <p:nvPr userDrawn="1"/>
        </p:nvSpPr>
        <p:spPr bwMode="auto">
          <a:xfrm>
            <a:off x="0" y="6140474"/>
            <a:ext cx="9144000" cy="341312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Rectangle 5"/>
          <p:cNvSpPr>
            <a:spLocks noChangeArrowheads="1"/>
          </p:cNvSpPr>
          <p:nvPr userDrawn="1"/>
        </p:nvSpPr>
        <p:spPr bwMode="auto">
          <a:xfrm>
            <a:off x="0" y="6584974"/>
            <a:ext cx="9144000" cy="125412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25" name="Line 6"/>
          <p:cNvSpPr>
            <a:spLocks noChangeShapeType="1"/>
          </p:cNvSpPr>
          <p:nvPr userDrawn="1"/>
        </p:nvSpPr>
        <p:spPr bwMode="auto">
          <a:xfrm>
            <a:off x="0" y="6786586"/>
            <a:ext cx="9144000" cy="0"/>
          </a:xfrm>
          <a:prstGeom prst="line">
            <a:avLst/>
          </a:prstGeom>
          <a:noFill/>
          <a:ln w="47625">
            <a:solidFill>
              <a:srgbClr val="000000">
                <a:alpha val="27000"/>
              </a:srgb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1357290" y="3429000"/>
            <a:ext cx="6429420" cy="642942"/>
          </a:xfrm>
          <a:ln w="25400">
            <a:noFill/>
            <a:prstDash val="sysDash"/>
          </a:ln>
        </p:spPr>
        <p:txBody>
          <a:bodyPr>
            <a:normAutofit/>
          </a:bodyPr>
          <a:lstStyle>
            <a:lvl1pPr algn="ctr">
              <a:defRPr sz="3000">
                <a:solidFill>
                  <a:srgbClr val="80808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1357290" y="4071942"/>
            <a:ext cx="6429420" cy="895344"/>
          </a:xfrm>
        </p:spPr>
        <p:txBody>
          <a:bodyPr>
            <a:normAutofit/>
          </a:bodyPr>
          <a:lstStyle>
            <a:lvl1pPr marL="0" indent="0" algn="ctr">
              <a:buNone/>
              <a:defRPr sz="2500">
                <a:solidFill>
                  <a:srgbClr val="80808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Rectangle 3"/>
          <p:cNvSpPr>
            <a:spLocks noChangeArrowheads="1"/>
          </p:cNvSpPr>
          <p:nvPr userDrawn="1"/>
        </p:nvSpPr>
        <p:spPr bwMode="auto">
          <a:xfrm>
            <a:off x="8915400" y="0"/>
            <a:ext cx="228600" cy="68580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Rectangle 4"/>
          <p:cNvSpPr>
            <a:spLocks noChangeArrowheads="1"/>
          </p:cNvSpPr>
          <p:nvPr userDrawn="1"/>
        </p:nvSpPr>
        <p:spPr bwMode="auto">
          <a:xfrm>
            <a:off x="8763000" y="0"/>
            <a:ext cx="76200" cy="68580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pic>
        <p:nvPicPr>
          <p:cNvPr id="8" name="Picture 7">
            <a:hlinkClick r:id="rId2"/>
            <a:extLst>
              <a:ext uri="{FF2B5EF4-FFF2-40B4-BE49-F238E27FC236}">
                <a16:creationId xmlns:a16="http://schemas.microsoft.com/office/drawing/2014/main" id="{5501A923-E515-FA4F-8D87-6239FB57D19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038600" y="1720145"/>
            <a:ext cx="1066799" cy="1066799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rrowheads="1"/>
          </p:cNvSpPr>
          <p:nvPr userDrawn="1"/>
        </p:nvSpPr>
        <p:spPr bwMode="auto">
          <a:xfrm>
            <a:off x="8915400" y="0"/>
            <a:ext cx="228600" cy="68580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8"/>
          <p:cNvSpPr>
            <a:spLocks noChangeArrowheads="1"/>
          </p:cNvSpPr>
          <p:nvPr userDrawn="1"/>
        </p:nvSpPr>
        <p:spPr bwMode="auto">
          <a:xfrm>
            <a:off x="8792496" y="0"/>
            <a:ext cx="76200" cy="68580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8143932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8143932" cy="5429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Building, Engineering &amp; Energ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Building, Engineering &amp; Energ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Busin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Creative Industrie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Faculty of Creative Industri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Creative Industrie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Education &amp; Societ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Education &amp; Societ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Leisure &amp; Lifesty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Leisure &amp; Lifesty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Leisure &amp; Lifesty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ulty of Nautical Stud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28596" y="285728"/>
            <a:ext cx="7143800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7143800" cy="5429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57298"/>
            <a:ext cx="4038600" cy="464347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57298"/>
            <a:ext cx="4038600" cy="464347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28596" y="500042"/>
            <a:ext cx="8258204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Rectangle 6"/>
          <p:cNvSpPr>
            <a:spLocks noChangeArrowheads="1"/>
          </p:cNvSpPr>
          <p:nvPr userDrawn="1"/>
        </p:nvSpPr>
        <p:spPr bwMode="auto">
          <a:xfrm>
            <a:off x="0" y="0"/>
            <a:ext cx="9144000" cy="3420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4"/>
          <p:cNvSpPr>
            <a:spLocks noChangeArrowheads="1"/>
          </p:cNvSpPr>
          <p:nvPr userDrawn="1"/>
        </p:nvSpPr>
        <p:spPr bwMode="auto">
          <a:xfrm>
            <a:off x="0" y="6140474"/>
            <a:ext cx="9144000" cy="341312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5"/>
          <p:cNvSpPr>
            <a:spLocks noChangeArrowheads="1"/>
          </p:cNvSpPr>
          <p:nvPr userDrawn="1"/>
        </p:nvSpPr>
        <p:spPr bwMode="auto">
          <a:xfrm>
            <a:off x="0" y="6584974"/>
            <a:ext cx="9144000" cy="125412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/>
          </a:p>
        </p:txBody>
      </p:sp>
      <p:sp>
        <p:nvSpPr>
          <p:cNvPr id="18" name="Line 6"/>
          <p:cNvSpPr>
            <a:spLocks noChangeShapeType="1"/>
          </p:cNvSpPr>
          <p:nvPr userDrawn="1"/>
        </p:nvSpPr>
        <p:spPr bwMode="auto">
          <a:xfrm>
            <a:off x="0" y="6786586"/>
            <a:ext cx="9144000" cy="0"/>
          </a:xfrm>
          <a:prstGeom prst="line">
            <a:avLst/>
          </a:prstGeom>
          <a:noFill/>
          <a:ln w="47625">
            <a:solidFill>
              <a:srgbClr val="000000">
                <a:alpha val="27000"/>
              </a:srgbClr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 userDrawn="1"/>
        </p:nvSpPr>
        <p:spPr bwMode="auto">
          <a:xfrm>
            <a:off x="8915400" y="0"/>
            <a:ext cx="228600" cy="68580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10"/>
          <p:cNvSpPr>
            <a:spLocks noChangeArrowheads="1"/>
          </p:cNvSpPr>
          <p:nvPr userDrawn="1"/>
        </p:nvSpPr>
        <p:spPr bwMode="auto">
          <a:xfrm>
            <a:off x="8792496" y="0"/>
            <a:ext cx="76200" cy="6858000"/>
          </a:xfrm>
          <a:prstGeom prst="rect">
            <a:avLst/>
          </a:prstGeom>
          <a:solidFill>
            <a:srgbClr val="000000">
              <a:alpha val="27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Content Placeholder 2"/>
          <p:cNvSpPr>
            <a:spLocks noGrp="1"/>
          </p:cNvSpPr>
          <p:nvPr>
            <p:ph sz="half" idx="1"/>
          </p:nvPr>
        </p:nvSpPr>
        <p:spPr>
          <a:xfrm>
            <a:off x="428596" y="1071546"/>
            <a:ext cx="4038600" cy="5429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half" idx="2"/>
          </p:nvPr>
        </p:nvSpPr>
        <p:spPr>
          <a:xfrm>
            <a:off x="4619596" y="1071546"/>
            <a:ext cx="4038600" cy="5429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28596" y="225388"/>
            <a:ext cx="8258204" cy="703282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2195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38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11/19/19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0086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  <p:sldLayoutId id="2147483720" r:id="rId11"/>
    <p:sldLayoutId id="2147483721" r:id="rId12"/>
    <p:sldLayoutId id="2147483722" r:id="rId13"/>
    <p:sldLayoutId id="2147483723" r:id="rId14"/>
    <p:sldLayoutId id="2147483724" r:id="rId15"/>
    <p:sldLayoutId id="2147483725" r:id="rId16"/>
    <p:sldLayoutId id="2147483726" r:id="rId17"/>
    <p:sldLayoutId id="2147483649" r:id="rId18"/>
    <p:sldLayoutId id="2147483660" r:id="rId19"/>
    <p:sldLayoutId id="2147483668" r:id="rId20"/>
    <p:sldLayoutId id="2147483683" r:id="rId21"/>
    <p:sldLayoutId id="2147483704" r:id="rId22"/>
    <p:sldLayoutId id="2147483705" r:id="rId23"/>
    <p:sldLayoutId id="2147483699" r:id="rId24"/>
    <p:sldLayoutId id="2147483696" r:id="rId25"/>
    <p:sldLayoutId id="2147483697" r:id="rId26"/>
    <p:sldLayoutId id="2147483700" r:id="rId27"/>
    <p:sldLayoutId id="2147483701" r:id="rId28"/>
    <p:sldLayoutId id="2147483707" r:id="rId29"/>
    <p:sldLayoutId id="2147483698" r:id="rId30"/>
    <p:sldLayoutId id="2147483702" r:id="rId31"/>
    <p:sldLayoutId id="2147483703" r:id="rId32"/>
    <p:sldLayoutId id="2147483706" r:id="rId33"/>
    <p:sldLayoutId id="2147483652" r:id="rId34"/>
    <p:sldLayoutId id="2147483685" r:id="rId35"/>
    <p:sldLayoutId id="2147483708" r:id="rId3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429266"/>
            <a:ext cx="6593681" cy="2387600"/>
          </a:xfrm>
        </p:spPr>
        <p:txBody>
          <a:bodyPr>
            <a:normAutofit/>
          </a:bodyPr>
          <a:lstStyle/>
          <a:p>
            <a:r>
              <a:rPr lang="en-GB" dirty="0"/>
              <a:t>Computing: Planning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4050269"/>
            <a:ext cx="6593681" cy="1655762"/>
          </a:xfrm>
        </p:spPr>
        <p:txBody>
          <a:bodyPr/>
          <a:lstStyle/>
          <a:p>
            <a:r>
              <a:rPr lang="en-GB" dirty="0"/>
              <a:t>Planning a WEBSITE and why you really should. </a:t>
            </a:r>
          </a:p>
        </p:txBody>
      </p:sp>
    </p:spTree>
    <p:extLst>
      <p:ext uri="{BB962C8B-B14F-4D97-AF65-F5344CB8AC3E}">
        <p14:creationId xmlns:p14="http://schemas.microsoft.com/office/powerpoint/2010/main" val="900364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is planning?</a:t>
            </a:r>
          </a:p>
          <a:p>
            <a:r>
              <a:rPr lang="en-GB" dirty="0"/>
              <a:t>Why do we need to plan anything?</a:t>
            </a:r>
          </a:p>
        </p:txBody>
      </p:sp>
    </p:spTree>
    <p:extLst>
      <p:ext uri="{BB962C8B-B14F-4D97-AF65-F5344CB8AC3E}">
        <p14:creationId xmlns:p14="http://schemas.microsoft.com/office/powerpoint/2010/main" val="546348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sz="3400" dirty="0"/>
              <a:t>Planning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dirty="0"/>
              <a:t>What is planning?</a:t>
            </a:r>
          </a:p>
          <a:p>
            <a:pPr lvl="1" eaLnBrk="1" hangingPunct="1"/>
            <a:r>
              <a:rPr lang="en-GB" altLang="en-US" dirty="0"/>
              <a:t>Process of determining goals and objectives</a:t>
            </a:r>
          </a:p>
          <a:p>
            <a:pPr lvl="1" eaLnBrk="1" hangingPunct="1"/>
            <a:r>
              <a:rPr lang="en-GB" altLang="en-US" dirty="0"/>
              <a:t>Deciding on the best way they can be accomplished</a:t>
            </a:r>
          </a:p>
          <a:p>
            <a:r>
              <a:rPr lang="en-US" altLang="en-US" dirty="0"/>
              <a:t>Straightforward?</a:t>
            </a:r>
          </a:p>
          <a:p>
            <a:pPr lvl="1"/>
            <a:r>
              <a:rPr lang="en-US" altLang="en-US" dirty="0"/>
              <a:t>Becomes complicated the more people who are involved in the project</a:t>
            </a:r>
          </a:p>
          <a:p>
            <a:pPr marL="0" indent="0">
              <a:buNone/>
            </a:pPr>
            <a:endParaRPr lang="en-GB" altLang="en-US" dirty="0"/>
          </a:p>
        </p:txBody>
      </p:sp>
    </p:spTree>
    <p:extLst>
      <p:ext uri="{BB962C8B-B14F-4D97-AF65-F5344CB8AC3E}">
        <p14:creationId xmlns:p14="http://schemas.microsoft.com/office/powerpoint/2010/main" val="882388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Simple to complex</a:t>
            </a:r>
          </a:p>
        </p:txBody>
      </p:sp>
      <p:grpSp>
        <p:nvGrpSpPr>
          <p:cNvPr id="7171" name="Group 60"/>
          <p:cNvGrpSpPr>
            <a:grpSpLocks/>
          </p:cNvGrpSpPr>
          <p:nvPr/>
        </p:nvGrpSpPr>
        <p:grpSpPr bwMode="auto">
          <a:xfrm>
            <a:off x="755650" y="2243138"/>
            <a:ext cx="576263" cy="576262"/>
            <a:chOff x="612" y="1570"/>
            <a:chExt cx="590" cy="590"/>
          </a:xfrm>
        </p:grpSpPr>
        <p:sp>
          <p:nvSpPr>
            <p:cNvPr id="7261" name="Oval 4"/>
            <p:cNvSpPr>
              <a:spLocks noChangeArrowheads="1"/>
            </p:cNvSpPr>
            <p:nvPr/>
          </p:nvSpPr>
          <p:spPr bwMode="auto">
            <a:xfrm>
              <a:off x="612" y="1570"/>
              <a:ext cx="590" cy="59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62" name="Oval 5"/>
            <p:cNvSpPr>
              <a:spLocks noChangeArrowheads="1"/>
            </p:cNvSpPr>
            <p:nvPr/>
          </p:nvSpPr>
          <p:spPr bwMode="auto">
            <a:xfrm>
              <a:off x="748" y="1752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63" name="Oval 6"/>
            <p:cNvSpPr>
              <a:spLocks noChangeArrowheads="1"/>
            </p:cNvSpPr>
            <p:nvPr/>
          </p:nvSpPr>
          <p:spPr bwMode="auto">
            <a:xfrm>
              <a:off x="975" y="1752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64" name="Freeform 7"/>
            <p:cNvSpPr>
              <a:spLocks/>
            </p:cNvSpPr>
            <p:nvPr/>
          </p:nvSpPr>
          <p:spPr bwMode="auto">
            <a:xfrm>
              <a:off x="780" y="1979"/>
              <a:ext cx="272" cy="90"/>
            </a:xfrm>
            <a:custGeom>
              <a:avLst/>
              <a:gdLst>
                <a:gd name="T0" fmla="*/ 0 w 272"/>
                <a:gd name="T1" fmla="*/ 0 h 1"/>
                <a:gd name="T2" fmla="*/ 272 w 272"/>
                <a:gd name="T3" fmla="*/ 0 h 1"/>
                <a:gd name="T4" fmla="*/ 0 60000 65536"/>
                <a:gd name="T5" fmla="*/ 0 60000 65536"/>
                <a:gd name="T6" fmla="*/ 0 w 272"/>
                <a:gd name="T7" fmla="*/ 0 h 1"/>
                <a:gd name="T8" fmla="*/ 272 w 27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2" h="1">
                  <a:moveTo>
                    <a:pt x="0" y="0"/>
                  </a:moveTo>
                  <a:cubicBezTo>
                    <a:pt x="109" y="0"/>
                    <a:pt x="219" y="0"/>
                    <a:pt x="272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172" name="Group 61"/>
          <p:cNvGrpSpPr>
            <a:grpSpLocks/>
          </p:cNvGrpSpPr>
          <p:nvPr/>
        </p:nvGrpSpPr>
        <p:grpSpPr bwMode="auto">
          <a:xfrm>
            <a:off x="2051050" y="2251075"/>
            <a:ext cx="576263" cy="576263"/>
            <a:chOff x="612" y="1570"/>
            <a:chExt cx="590" cy="590"/>
          </a:xfrm>
        </p:grpSpPr>
        <p:sp>
          <p:nvSpPr>
            <p:cNvPr id="7257" name="Oval 62"/>
            <p:cNvSpPr>
              <a:spLocks noChangeArrowheads="1"/>
            </p:cNvSpPr>
            <p:nvPr/>
          </p:nvSpPr>
          <p:spPr bwMode="auto">
            <a:xfrm>
              <a:off x="612" y="1570"/>
              <a:ext cx="590" cy="59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58" name="Oval 63"/>
            <p:cNvSpPr>
              <a:spLocks noChangeArrowheads="1"/>
            </p:cNvSpPr>
            <p:nvPr/>
          </p:nvSpPr>
          <p:spPr bwMode="auto">
            <a:xfrm>
              <a:off x="748" y="1752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59" name="Oval 64"/>
            <p:cNvSpPr>
              <a:spLocks noChangeArrowheads="1"/>
            </p:cNvSpPr>
            <p:nvPr/>
          </p:nvSpPr>
          <p:spPr bwMode="auto">
            <a:xfrm>
              <a:off x="975" y="1752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60" name="Freeform 65"/>
            <p:cNvSpPr>
              <a:spLocks/>
            </p:cNvSpPr>
            <p:nvPr/>
          </p:nvSpPr>
          <p:spPr bwMode="auto">
            <a:xfrm>
              <a:off x="780" y="1979"/>
              <a:ext cx="272" cy="90"/>
            </a:xfrm>
            <a:custGeom>
              <a:avLst/>
              <a:gdLst>
                <a:gd name="T0" fmla="*/ 0 w 272"/>
                <a:gd name="T1" fmla="*/ 0 h 1"/>
                <a:gd name="T2" fmla="*/ 272 w 272"/>
                <a:gd name="T3" fmla="*/ 0 h 1"/>
                <a:gd name="T4" fmla="*/ 0 60000 65536"/>
                <a:gd name="T5" fmla="*/ 0 60000 65536"/>
                <a:gd name="T6" fmla="*/ 0 w 272"/>
                <a:gd name="T7" fmla="*/ 0 h 1"/>
                <a:gd name="T8" fmla="*/ 272 w 27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2" h="1">
                  <a:moveTo>
                    <a:pt x="0" y="0"/>
                  </a:moveTo>
                  <a:cubicBezTo>
                    <a:pt x="109" y="0"/>
                    <a:pt x="219" y="0"/>
                    <a:pt x="272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173" name="Group 66"/>
          <p:cNvGrpSpPr>
            <a:grpSpLocks/>
          </p:cNvGrpSpPr>
          <p:nvPr/>
        </p:nvGrpSpPr>
        <p:grpSpPr bwMode="auto">
          <a:xfrm>
            <a:off x="4284663" y="1916113"/>
            <a:ext cx="576262" cy="576262"/>
            <a:chOff x="612" y="1570"/>
            <a:chExt cx="590" cy="590"/>
          </a:xfrm>
        </p:grpSpPr>
        <p:sp>
          <p:nvSpPr>
            <p:cNvPr id="7253" name="Oval 67"/>
            <p:cNvSpPr>
              <a:spLocks noChangeArrowheads="1"/>
            </p:cNvSpPr>
            <p:nvPr/>
          </p:nvSpPr>
          <p:spPr bwMode="auto">
            <a:xfrm>
              <a:off x="612" y="1570"/>
              <a:ext cx="590" cy="59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54" name="Oval 68"/>
            <p:cNvSpPr>
              <a:spLocks noChangeArrowheads="1"/>
            </p:cNvSpPr>
            <p:nvPr/>
          </p:nvSpPr>
          <p:spPr bwMode="auto">
            <a:xfrm>
              <a:off x="748" y="1752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55" name="Oval 69"/>
            <p:cNvSpPr>
              <a:spLocks noChangeArrowheads="1"/>
            </p:cNvSpPr>
            <p:nvPr/>
          </p:nvSpPr>
          <p:spPr bwMode="auto">
            <a:xfrm>
              <a:off x="975" y="1752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56" name="Freeform 70"/>
            <p:cNvSpPr>
              <a:spLocks/>
            </p:cNvSpPr>
            <p:nvPr/>
          </p:nvSpPr>
          <p:spPr bwMode="auto">
            <a:xfrm>
              <a:off x="780" y="1979"/>
              <a:ext cx="272" cy="90"/>
            </a:xfrm>
            <a:custGeom>
              <a:avLst/>
              <a:gdLst>
                <a:gd name="T0" fmla="*/ 0 w 272"/>
                <a:gd name="T1" fmla="*/ 0 h 1"/>
                <a:gd name="T2" fmla="*/ 272 w 272"/>
                <a:gd name="T3" fmla="*/ 0 h 1"/>
                <a:gd name="T4" fmla="*/ 0 60000 65536"/>
                <a:gd name="T5" fmla="*/ 0 60000 65536"/>
                <a:gd name="T6" fmla="*/ 0 w 272"/>
                <a:gd name="T7" fmla="*/ 0 h 1"/>
                <a:gd name="T8" fmla="*/ 272 w 27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2" h="1">
                  <a:moveTo>
                    <a:pt x="0" y="0"/>
                  </a:moveTo>
                  <a:cubicBezTo>
                    <a:pt x="109" y="0"/>
                    <a:pt x="219" y="0"/>
                    <a:pt x="272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174" name="Group 71"/>
          <p:cNvGrpSpPr>
            <a:grpSpLocks/>
          </p:cNvGrpSpPr>
          <p:nvPr/>
        </p:nvGrpSpPr>
        <p:grpSpPr bwMode="auto">
          <a:xfrm>
            <a:off x="4787900" y="2801938"/>
            <a:ext cx="576263" cy="576262"/>
            <a:chOff x="612" y="1570"/>
            <a:chExt cx="590" cy="590"/>
          </a:xfrm>
        </p:grpSpPr>
        <p:sp>
          <p:nvSpPr>
            <p:cNvPr id="7249" name="Oval 72"/>
            <p:cNvSpPr>
              <a:spLocks noChangeArrowheads="1"/>
            </p:cNvSpPr>
            <p:nvPr/>
          </p:nvSpPr>
          <p:spPr bwMode="auto">
            <a:xfrm>
              <a:off x="612" y="1570"/>
              <a:ext cx="590" cy="59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50" name="Oval 73"/>
            <p:cNvSpPr>
              <a:spLocks noChangeArrowheads="1"/>
            </p:cNvSpPr>
            <p:nvPr/>
          </p:nvSpPr>
          <p:spPr bwMode="auto">
            <a:xfrm>
              <a:off x="748" y="1752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51" name="Oval 74"/>
            <p:cNvSpPr>
              <a:spLocks noChangeArrowheads="1"/>
            </p:cNvSpPr>
            <p:nvPr/>
          </p:nvSpPr>
          <p:spPr bwMode="auto">
            <a:xfrm>
              <a:off x="975" y="1752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52" name="Freeform 75"/>
            <p:cNvSpPr>
              <a:spLocks/>
            </p:cNvSpPr>
            <p:nvPr/>
          </p:nvSpPr>
          <p:spPr bwMode="auto">
            <a:xfrm>
              <a:off x="780" y="1979"/>
              <a:ext cx="272" cy="90"/>
            </a:xfrm>
            <a:custGeom>
              <a:avLst/>
              <a:gdLst>
                <a:gd name="T0" fmla="*/ 0 w 272"/>
                <a:gd name="T1" fmla="*/ 0 h 1"/>
                <a:gd name="T2" fmla="*/ 272 w 272"/>
                <a:gd name="T3" fmla="*/ 0 h 1"/>
                <a:gd name="T4" fmla="*/ 0 60000 65536"/>
                <a:gd name="T5" fmla="*/ 0 60000 65536"/>
                <a:gd name="T6" fmla="*/ 0 w 272"/>
                <a:gd name="T7" fmla="*/ 0 h 1"/>
                <a:gd name="T8" fmla="*/ 272 w 27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2" h="1">
                  <a:moveTo>
                    <a:pt x="0" y="0"/>
                  </a:moveTo>
                  <a:cubicBezTo>
                    <a:pt x="109" y="0"/>
                    <a:pt x="219" y="0"/>
                    <a:pt x="272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175" name="Group 76"/>
          <p:cNvGrpSpPr>
            <a:grpSpLocks/>
          </p:cNvGrpSpPr>
          <p:nvPr/>
        </p:nvGrpSpPr>
        <p:grpSpPr bwMode="auto">
          <a:xfrm>
            <a:off x="3678238" y="2784475"/>
            <a:ext cx="576262" cy="576263"/>
            <a:chOff x="612" y="1570"/>
            <a:chExt cx="590" cy="590"/>
          </a:xfrm>
        </p:grpSpPr>
        <p:sp>
          <p:nvSpPr>
            <p:cNvPr id="7245" name="Oval 77"/>
            <p:cNvSpPr>
              <a:spLocks noChangeArrowheads="1"/>
            </p:cNvSpPr>
            <p:nvPr/>
          </p:nvSpPr>
          <p:spPr bwMode="auto">
            <a:xfrm>
              <a:off x="612" y="1570"/>
              <a:ext cx="590" cy="59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46" name="Oval 78"/>
            <p:cNvSpPr>
              <a:spLocks noChangeArrowheads="1"/>
            </p:cNvSpPr>
            <p:nvPr/>
          </p:nvSpPr>
          <p:spPr bwMode="auto">
            <a:xfrm>
              <a:off x="748" y="1752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47" name="Oval 79"/>
            <p:cNvSpPr>
              <a:spLocks noChangeArrowheads="1"/>
            </p:cNvSpPr>
            <p:nvPr/>
          </p:nvSpPr>
          <p:spPr bwMode="auto">
            <a:xfrm>
              <a:off x="975" y="1752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48" name="Freeform 80"/>
            <p:cNvSpPr>
              <a:spLocks/>
            </p:cNvSpPr>
            <p:nvPr/>
          </p:nvSpPr>
          <p:spPr bwMode="auto">
            <a:xfrm>
              <a:off x="780" y="1979"/>
              <a:ext cx="272" cy="90"/>
            </a:xfrm>
            <a:custGeom>
              <a:avLst/>
              <a:gdLst>
                <a:gd name="T0" fmla="*/ 0 w 272"/>
                <a:gd name="T1" fmla="*/ 0 h 1"/>
                <a:gd name="T2" fmla="*/ 272 w 272"/>
                <a:gd name="T3" fmla="*/ 0 h 1"/>
                <a:gd name="T4" fmla="*/ 0 60000 65536"/>
                <a:gd name="T5" fmla="*/ 0 60000 65536"/>
                <a:gd name="T6" fmla="*/ 0 w 272"/>
                <a:gd name="T7" fmla="*/ 0 h 1"/>
                <a:gd name="T8" fmla="*/ 272 w 27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2" h="1">
                  <a:moveTo>
                    <a:pt x="0" y="0"/>
                  </a:moveTo>
                  <a:cubicBezTo>
                    <a:pt x="109" y="0"/>
                    <a:pt x="219" y="0"/>
                    <a:pt x="272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176" name="Group 81"/>
          <p:cNvGrpSpPr>
            <a:grpSpLocks/>
          </p:cNvGrpSpPr>
          <p:nvPr/>
        </p:nvGrpSpPr>
        <p:grpSpPr bwMode="auto">
          <a:xfrm>
            <a:off x="6516688" y="2852738"/>
            <a:ext cx="576262" cy="576262"/>
            <a:chOff x="612" y="1570"/>
            <a:chExt cx="590" cy="590"/>
          </a:xfrm>
        </p:grpSpPr>
        <p:sp>
          <p:nvSpPr>
            <p:cNvPr id="7241" name="Oval 82"/>
            <p:cNvSpPr>
              <a:spLocks noChangeArrowheads="1"/>
            </p:cNvSpPr>
            <p:nvPr/>
          </p:nvSpPr>
          <p:spPr bwMode="auto">
            <a:xfrm>
              <a:off x="612" y="1570"/>
              <a:ext cx="590" cy="59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42" name="Oval 83"/>
            <p:cNvSpPr>
              <a:spLocks noChangeArrowheads="1"/>
            </p:cNvSpPr>
            <p:nvPr/>
          </p:nvSpPr>
          <p:spPr bwMode="auto">
            <a:xfrm>
              <a:off x="748" y="1752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43" name="Oval 84"/>
            <p:cNvSpPr>
              <a:spLocks noChangeArrowheads="1"/>
            </p:cNvSpPr>
            <p:nvPr/>
          </p:nvSpPr>
          <p:spPr bwMode="auto">
            <a:xfrm>
              <a:off x="975" y="1752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44" name="Freeform 85"/>
            <p:cNvSpPr>
              <a:spLocks/>
            </p:cNvSpPr>
            <p:nvPr/>
          </p:nvSpPr>
          <p:spPr bwMode="auto">
            <a:xfrm>
              <a:off x="780" y="1979"/>
              <a:ext cx="272" cy="90"/>
            </a:xfrm>
            <a:custGeom>
              <a:avLst/>
              <a:gdLst>
                <a:gd name="T0" fmla="*/ 0 w 272"/>
                <a:gd name="T1" fmla="*/ 0 h 1"/>
                <a:gd name="T2" fmla="*/ 272 w 272"/>
                <a:gd name="T3" fmla="*/ 0 h 1"/>
                <a:gd name="T4" fmla="*/ 0 60000 65536"/>
                <a:gd name="T5" fmla="*/ 0 60000 65536"/>
                <a:gd name="T6" fmla="*/ 0 w 272"/>
                <a:gd name="T7" fmla="*/ 0 h 1"/>
                <a:gd name="T8" fmla="*/ 272 w 27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2" h="1">
                  <a:moveTo>
                    <a:pt x="0" y="0"/>
                  </a:moveTo>
                  <a:cubicBezTo>
                    <a:pt x="109" y="0"/>
                    <a:pt x="219" y="0"/>
                    <a:pt x="272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177" name="Group 111"/>
          <p:cNvGrpSpPr>
            <a:grpSpLocks/>
          </p:cNvGrpSpPr>
          <p:nvPr/>
        </p:nvGrpSpPr>
        <p:grpSpPr bwMode="auto">
          <a:xfrm>
            <a:off x="7812088" y="2852738"/>
            <a:ext cx="576262" cy="576262"/>
            <a:chOff x="612" y="1570"/>
            <a:chExt cx="590" cy="590"/>
          </a:xfrm>
        </p:grpSpPr>
        <p:sp>
          <p:nvSpPr>
            <p:cNvPr id="7237" name="Oval 112"/>
            <p:cNvSpPr>
              <a:spLocks noChangeArrowheads="1"/>
            </p:cNvSpPr>
            <p:nvPr/>
          </p:nvSpPr>
          <p:spPr bwMode="auto">
            <a:xfrm>
              <a:off x="612" y="1570"/>
              <a:ext cx="590" cy="59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38" name="Oval 113"/>
            <p:cNvSpPr>
              <a:spLocks noChangeArrowheads="1"/>
            </p:cNvSpPr>
            <p:nvPr/>
          </p:nvSpPr>
          <p:spPr bwMode="auto">
            <a:xfrm>
              <a:off x="748" y="1752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39" name="Oval 114"/>
            <p:cNvSpPr>
              <a:spLocks noChangeArrowheads="1"/>
            </p:cNvSpPr>
            <p:nvPr/>
          </p:nvSpPr>
          <p:spPr bwMode="auto">
            <a:xfrm>
              <a:off x="975" y="1752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40" name="Freeform 115"/>
            <p:cNvSpPr>
              <a:spLocks/>
            </p:cNvSpPr>
            <p:nvPr/>
          </p:nvSpPr>
          <p:spPr bwMode="auto">
            <a:xfrm>
              <a:off x="780" y="1979"/>
              <a:ext cx="272" cy="90"/>
            </a:xfrm>
            <a:custGeom>
              <a:avLst/>
              <a:gdLst>
                <a:gd name="T0" fmla="*/ 0 w 272"/>
                <a:gd name="T1" fmla="*/ 0 h 1"/>
                <a:gd name="T2" fmla="*/ 272 w 272"/>
                <a:gd name="T3" fmla="*/ 0 h 1"/>
                <a:gd name="T4" fmla="*/ 0 60000 65536"/>
                <a:gd name="T5" fmla="*/ 0 60000 65536"/>
                <a:gd name="T6" fmla="*/ 0 w 272"/>
                <a:gd name="T7" fmla="*/ 0 h 1"/>
                <a:gd name="T8" fmla="*/ 272 w 27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2" h="1">
                  <a:moveTo>
                    <a:pt x="0" y="0"/>
                  </a:moveTo>
                  <a:cubicBezTo>
                    <a:pt x="109" y="0"/>
                    <a:pt x="219" y="0"/>
                    <a:pt x="272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178" name="Group 116"/>
          <p:cNvGrpSpPr>
            <a:grpSpLocks/>
          </p:cNvGrpSpPr>
          <p:nvPr/>
        </p:nvGrpSpPr>
        <p:grpSpPr bwMode="auto">
          <a:xfrm>
            <a:off x="7812088" y="1844675"/>
            <a:ext cx="576262" cy="576263"/>
            <a:chOff x="612" y="1570"/>
            <a:chExt cx="590" cy="590"/>
          </a:xfrm>
        </p:grpSpPr>
        <p:sp>
          <p:nvSpPr>
            <p:cNvPr id="7233" name="Oval 117"/>
            <p:cNvSpPr>
              <a:spLocks noChangeArrowheads="1"/>
            </p:cNvSpPr>
            <p:nvPr/>
          </p:nvSpPr>
          <p:spPr bwMode="auto">
            <a:xfrm>
              <a:off x="612" y="1570"/>
              <a:ext cx="590" cy="59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34" name="Oval 118"/>
            <p:cNvSpPr>
              <a:spLocks noChangeArrowheads="1"/>
            </p:cNvSpPr>
            <p:nvPr/>
          </p:nvSpPr>
          <p:spPr bwMode="auto">
            <a:xfrm>
              <a:off x="748" y="1752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35" name="Oval 119"/>
            <p:cNvSpPr>
              <a:spLocks noChangeArrowheads="1"/>
            </p:cNvSpPr>
            <p:nvPr/>
          </p:nvSpPr>
          <p:spPr bwMode="auto">
            <a:xfrm>
              <a:off x="975" y="1752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36" name="Freeform 120"/>
            <p:cNvSpPr>
              <a:spLocks/>
            </p:cNvSpPr>
            <p:nvPr/>
          </p:nvSpPr>
          <p:spPr bwMode="auto">
            <a:xfrm>
              <a:off x="780" y="1979"/>
              <a:ext cx="272" cy="90"/>
            </a:xfrm>
            <a:custGeom>
              <a:avLst/>
              <a:gdLst>
                <a:gd name="T0" fmla="*/ 0 w 272"/>
                <a:gd name="T1" fmla="*/ 0 h 1"/>
                <a:gd name="T2" fmla="*/ 272 w 272"/>
                <a:gd name="T3" fmla="*/ 0 h 1"/>
                <a:gd name="T4" fmla="*/ 0 60000 65536"/>
                <a:gd name="T5" fmla="*/ 0 60000 65536"/>
                <a:gd name="T6" fmla="*/ 0 w 272"/>
                <a:gd name="T7" fmla="*/ 0 h 1"/>
                <a:gd name="T8" fmla="*/ 272 w 27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2" h="1">
                  <a:moveTo>
                    <a:pt x="0" y="0"/>
                  </a:moveTo>
                  <a:cubicBezTo>
                    <a:pt x="109" y="0"/>
                    <a:pt x="219" y="0"/>
                    <a:pt x="272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179" name="Group 121"/>
          <p:cNvGrpSpPr>
            <a:grpSpLocks/>
          </p:cNvGrpSpPr>
          <p:nvPr/>
        </p:nvGrpSpPr>
        <p:grpSpPr bwMode="auto">
          <a:xfrm>
            <a:off x="6516688" y="1844675"/>
            <a:ext cx="576262" cy="576263"/>
            <a:chOff x="612" y="1570"/>
            <a:chExt cx="590" cy="590"/>
          </a:xfrm>
        </p:grpSpPr>
        <p:sp>
          <p:nvSpPr>
            <p:cNvPr id="7229" name="Oval 122"/>
            <p:cNvSpPr>
              <a:spLocks noChangeArrowheads="1"/>
            </p:cNvSpPr>
            <p:nvPr/>
          </p:nvSpPr>
          <p:spPr bwMode="auto">
            <a:xfrm>
              <a:off x="612" y="1570"/>
              <a:ext cx="590" cy="590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30" name="Oval 123"/>
            <p:cNvSpPr>
              <a:spLocks noChangeArrowheads="1"/>
            </p:cNvSpPr>
            <p:nvPr/>
          </p:nvSpPr>
          <p:spPr bwMode="auto">
            <a:xfrm>
              <a:off x="748" y="1752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31" name="Oval 124"/>
            <p:cNvSpPr>
              <a:spLocks noChangeArrowheads="1"/>
            </p:cNvSpPr>
            <p:nvPr/>
          </p:nvSpPr>
          <p:spPr bwMode="auto">
            <a:xfrm>
              <a:off x="975" y="1752"/>
              <a:ext cx="91" cy="9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7232" name="Freeform 125"/>
            <p:cNvSpPr>
              <a:spLocks/>
            </p:cNvSpPr>
            <p:nvPr/>
          </p:nvSpPr>
          <p:spPr bwMode="auto">
            <a:xfrm>
              <a:off x="780" y="1979"/>
              <a:ext cx="272" cy="90"/>
            </a:xfrm>
            <a:custGeom>
              <a:avLst/>
              <a:gdLst>
                <a:gd name="T0" fmla="*/ 0 w 272"/>
                <a:gd name="T1" fmla="*/ 0 h 1"/>
                <a:gd name="T2" fmla="*/ 272 w 272"/>
                <a:gd name="T3" fmla="*/ 0 h 1"/>
                <a:gd name="T4" fmla="*/ 0 60000 65536"/>
                <a:gd name="T5" fmla="*/ 0 60000 65536"/>
                <a:gd name="T6" fmla="*/ 0 w 272"/>
                <a:gd name="T7" fmla="*/ 0 h 1"/>
                <a:gd name="T8" fmla="*/ 272 w 272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2" h="1">
                  <a:moveTo>
                    <a:pt x="0" y="0"/>
                  </a:moveTo>
                  <a:cubicBezTo>
                    <a:pt x="109" y="0"/>
                    <a:pt x="219" y="0"/>
                    <a:pt x="272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180" name="Line 126"/>
          <p:cNvSpPr>
            <a:spLocks noChangeShapeType="1"/>
          </p:cNvSpPr>
          <p:nvPr/>
        </p:nvSpPr>
        <p:spPr bwMode="auto">
          <a:xfrm>
            <a:off x="1331913" y="2543175"/>
            <a:ext cx="719137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81" name="Line 128"/>
          <p:cNvSpPr>
            <a:spLocks noChangeShapeType="1"/>
          </p:cNvSpPr>
          <p:nvPr/>
        </p:nvSpPr>
        <p:spPr bwMode="auto">
          <a:xfrm flipV="1">
            <a:off x="3995738" y="2352675"/>
            <a:ext cx="312737" cy="428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82" name="Line 130"/>
          <p:cNvSpPr>
            <a:spLocks noChangeShapeType="1"/>
          </p:cNvSpPr>
          <p:nvPr/>
        </p:nvSpPr>
        <p:spPr bwMode="auto">
          <a:xfrm>
            <a:off x="4787900" y="2374900"/>
            <a:ext cx="288925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83" name="Line 131"/>
          <p:cNvSpPr>
            <a:spLocks noChangeShapeType="1"/>
          </p:cNvSpPr>
          <p:nvPr/>
        </p:nvSpPr>
        <p:spPr bwMode="auto">
          <a:xfrm>
            <a:off x="6804025" y="2420938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84" name="Line 132"/>
          <p:cNvSpPr>
            <a:spLocks noChangeShapeType="1"/>
          </p:cNvSpPr>
          <p:nvPr/>
        </p:nvSpPr>
        <p:spPr bwMode="auto">
          <a:xfrm>
            <a:off x="8101013" y="2420938"/>
            <a:ext cx="0" cy="43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85" name="Line 133"/>
          <p:cNvSpPr>
            <a:spLocks noChangeShapeType="1"/>
          </p:cNvSpPr>
          <p:nvPr/>
        </p:nvSpPr>
        <p:spPr bwMode="auto">
          <a:xfrm>
            <a:off x="7092950" y="2133600"/>
            <a:ext cx="7191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86" name="Line 134"/>
          <p:cNvSpPr>
            <a:spLocks noChangeShapeType="1"/>
          </p:cNvSpPr>
          <p:nvPr/>
        </p:nvSpPr>
        <p:spPr bwMode="auto">
          <a:xfrm>
            <a:off x="7092950" y="3141663"/>
            <a:ext cx="71913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87" name="Line 135"/>
          <p:cNvSpPr>
            <a:spLocks noChangeShapeType="1"/>
          </p:cNvSpPr>
          <p:nvPr/>
        </p:nvSpPr>
        <p:spPr bwMode="auto">
          <a:xfrm flipV="1">
            <a:off x="7019925" y="2276475"/>
            <a:ext cx="865188" cy="647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7188" name="Line 136"/>
          <p:cNvSpPr>
            <a:spLocks noChangeShapeType="1"/>
          </p:cNvSpPr>
          <p:nvPr/>
        </p:nvSpPr>
        <p:spPr bwMode="auto">
          <a:xfrm>
            <a:off x="7019925" y="2349500"/>
            <a:ext cx="865188" cy="5746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grpSp>
        <p:nvGrpSpPr>
          <p:cNvPr id="7189" name="Group 148"/>
          <p:cNvGrpSpPr>
            <a:grpSpLocks/>
          </p:cNvGrpSpPr>
          <p:nvPr/>
        </p:nvGrpSpPr>
        <p:grpSpPr bwMode="auto">
          <a:xfrm>
            <a:off x="1042988" y="3500438"/>
            <a:ext cx="2506662" cy="2532062"/>
            <a:chOff x="1186" y="2107"/>
            <a:chExt cx="1579" cy="1595"/>
          </a:xfrm>
        </p:grpSpPr>
        <p:grpSp>
          <p:nvGrpSpPr>
            <p:cNvPr id="7194" name="Group 86"/>
            <p:cNvGrpSpPr>
              <a:grpSpLocks/>
            </p:cNvGrpSpPr>
            <p:nvPr/>
          </p:nvGrpSpPr>
          <p:grpSpPr bwMode="auto">
            <a:xfrm>
              <a:off x="1474" y="3339"/>
              <a:ext cx="363" cy="363"/>
              <a:chOff x="612" y="1570"/>
              <a:chExt cx="590" cy="590"/>
            </a:xfrm>
          </p:grpSpPr>
          <p:sp>
            <p:nvSpPr>
              <p:cNvPr id="7225" name="Oval 87"/>
              <p:cNvSpPr>
                <a:spLocks noChangeArrowheads="1"/>
              </p:cNvSpPr>
              <p:nvPr/>
            </p:nvSpPr>
            <p:spPr bwMode="auto">
              <a:xfrm>
                <a:off x="612" y="1570"/>
                <a:ext cx="590" cy="59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226" name="Oval 88"/>
              <p:cNvSpPr>
                <a:spLocks noChangeArrowheads="1"/>
              </p:cNvSpPr>
              <p:nvPr/>
            </p:nvSpPr>
            <p:spPr bwMode="auto">
              <a:xfrm>
                <a:off x="748" y="1752"/>
                <a:ext cx="91" cy="9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227" name="Oval 89"/>
              <p:cNvSpPr>
                <a:spLocks noChangeArrowheads="1"/>
              </p:cNvSpPr>
              <p:nvPr/>
            </p:nvSpPr>
            <p:spPr bwMode="auto">
              <a:xfrm>
                <a:off x="975" y="1752"/>
                <a:ext cx="91" cy="9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228" name="Freeform 90"/>
              <p:cNvSpPr>
                <a:spLocks/>
              </p:cNvSpPr>
              <p:nvPr/>
            </p:nvSpPr>
            <p:spPr bwMode="auto">
              <a:xfrm>
                <a:off x="780" y="1979"/>
                <a:ext cx="272" cy="90"/>
              </a:xfrm>
              <a:custGeom>
                <a:avLst/>
                <a:gdLst>
                  <a:gd name="T0" fmla="*/ 0 w 272"/>
                  <a:gd name="T1" fmla="*/ 0 h 1"/>
                  <a:gd name="T2" fmla="*/ 272 w 272"/>
                  <a:gd name="T3" fmla="*/ 0 h 1"/>
                  <a:gd name="T4" fmla="*/ 0 60000 65536"/>
                  <a:gd name="T5" fmla="*/ 0 60000 65536"/>
                  <a:gd name="T6" fmla="*/ 0 w 272"/>
                  <a:gd name="T7" fmla="*/ 0 h 1"/>
                  <a:gd name="T8" fmla="*/ 272 w 272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72" h="1">
                    <a:moveTo>
                      <a:pt x="0" y="0"/>
                    </a:moveTo>
                    <a:cubicBezTo>
                      <a:pt x="109" y="0"/>
                      <a:pt x="219" y="0"/>
                      <a:pt x="272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7195" name="Group 91"/>
            <p:cNvGrpSpPr>
              <a:grpSpLocks/>
            </p:cNvGrpSpPr>
            <p:nvPr/>
          </p:nvGrpSpPr>
          <p:grpSpPr bwMode="auto">
            <a:xfrm>
              <a:off x="1186" y="2659"/>
              <a:ext cx="363" cy="363"/>
              <a:chOff x="612" y="1570"/>
              <a:chExt cx="590" cy="590"/>
            </a:xfrm>
          </p:grpSpPr>
          <p:sp>
            <p:nvSpPr>
              <p:cNvPr id="7221" name="Oval 92"/>
              <p:cNvSpPr>
                <a:spLocks noChangeArrowheads="1"/>
              </p:cNvSpPr>
              <p:nvPr/>
            </p:nvSpPr>
            <p:spPr bwMode="auto">
              <a:xfrm>
                <a:off x="612" y="1570"/>
                <a:ext cx="590" cy="59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222" name="Oval 93"/>
              <p:cNvSpPr>
                <a:spLocks noChangeArrowheads="1"/>
              </p:cNvSpPr>
              <p:nvPr/>
            </p:nvSpPr>
            <p:spPr bwMode="auto">
              <a:xfrm>
                <a:off x="748" y="1752"/>
                <a:ext cx="91" cy="9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223" name="Oval 94"/>
              <p:cNvSpPr>
                <a:spLocks noChangeArrowheads="1"/>
              </p:cNvSpPr>
              <p:nvPr/>
            </p:nvSpPr>
            <p:spPr bwMode="auto">
              <a:xfrm>
                <a:off x="975" y="1752"/>
                <a:ext cx="91" cy="9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224" name="Freeform 95"/>
              <p:cNvSpPr>
                <a:spLocks/>
              </p:cNvSpPr>
              <p:nvPr/>
            </p:nvSpPr>
            <p:spPr bwMode="auto">
              <a:xfrm>
                <a:off x="780" y="1979"/>
                <a:ext cx="272" cy="90"/>
              </a:xfrm>
              <a:custGeom>
                <a:avLst/>
                <a:gdLst>
                  <a:gd name="T0" fmla="*/ 0 w 272"/>
                  <a:gd name="T1" fmla="*/ 0 h 1"/>
                  <a:gd name="T2" fmla="*/ 272 w 272"/>
                  <a:gd name="T3" fmla="*/ 0 h 1"/>
                  <a:gd name="T4" fmla="*/ 0 60000 65536"/>
                  <a:gd name="T5" fmla="*/ 0 60000 65536"/>
                  <a:gd name="T6" fmla="*/ 0 w 272"/>
                  <a:gd name="T7" fmla="*/ 0 h 1"/>
                  <a:gd name="T8" fmla="*/ 272 w 272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72" h="1">
                    <a:moveTo>
                      <a:pt x="0" y="0"/>
                    </a:moveTo>
                    <a:cubicBezTo>
                      <a:pt x="109" y="0"/>
                      <a:pt x="219" y="0"/>
                      <a:pt x="272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7196" name="Group 96"/>
            <p:cNvGrpSpPr>
              <a:grpSpLocks/>
            </p:cNvGrpSpPr>
            <p:nvPr/>
          </p:nvGrpSpPr>
          <p:grpSpPr bwMode="auto">
            <a:xfrm>
              <a:off x="2154" y="3294"/>
              <a:ext cx="363" cy="363"/>
              <a:chOff x="612" y="1570"/>
              <a:chExt cx="590" cy="590"/>
            </a:xfrm>
          </p:grpSpPr>
          <p:sp>
            <p:nvSpPr>
              <p:cNvPr id="7217" name="Oval 97"/>
              <p:cNvSpPr>
                <a:spLocks noChangeArrowheads="1"/>
              </p:cNvSpPr>
              <p:nvPr/>
            </p:nvSpPr>
            <p:spPr bwMode="auto">
              <a:xfrm>
                <a:off x="612" y="1570"/>
                <a:ext cx="590" cy="59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218" name="Oval 98"/>
              <p:cNvSpPr>
                <a:spLocks noChangeArrowheads="1"/>
              </p:cNvSpPr>
              <p:nvPr/>
            </p:nvSpPr>
            <p:spPr bwMode="auto">
              <a:xfrm>
                <a:off x="748" y="1752"/>
                <a:ext cx="91" cy="9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219" name="Oval 99"/>
              <p:cNvSpPr>
                <a:spLocks noChangeArrowheads="1"/>
              </p:cNvSpPr>
              <p:nvPr/>
            </p:nvSpPr>
            <p:spPr bwMode="auto">
              <a:xfrm>
                <a:off x="975" y="1752"/>
                <a:ext cx="91" cy="9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220" name="Freeform 100"/>
              <p:cNvSpPr>
                <a:spLocks/>
              </p:cNvSpPr>
              <p:nvPr/>
            </p:nvSpPr>
            <p:spPr bwMode="auto">
              <a:xfrm>
                <a:off x="780" y="1979"/>
                <a:ext cx="272" cy="90"/>
              </a:xfrm>
              <a:custGeom>
                <a:avLst/>
                <a:gdLst>
                  <a:gd name="T0" fmla="*/ 0 w 272"/>
                  <a:gd name="T1" fmla="*/ 0 h 1"/>
                  <a:gd name="T2" fmla="*/ 272 w 272"/>
                  <a:gd name="T3" fmla="*/ 0 h 1"/>
                  <a:gd name="T4" fmla="*/ 0 60000 65536"/>
                  <a:gd name="T5" fmla="*/ 0 60000 65536"/>
                  <a:gd name="T6" fmla="*/ 0 w 272"/>
                  <a:gd name="T7" fmla="*/ 0 h 1"/>
                  <a:gd name="T8" fmla="*/ 272 w 272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72" h="1">
                    <a:moveTo>
                      <a:pt x="0" y="0"/>
                    </a:moveTo>
                    <a:cubicBezTo>
                      <a:pt x="109" y="0"/>
                      <a:pt x="219" y="0"/>
                      <a:pt x="272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7197" name="Group 101"/>
            <p:cNvGrpSpPr>
              <a:grpSpLocks/>
            </p:cNvGrpSpPr>
            <p:nvPr/>
          </p:nvGrpSpPr>
          <p:grpSpPr bwMode="auto">
            <a:xfrm>
              <a:off x="2402" y="2667"/>
              <a:ext cx="363" cy="363"/>
              <a:chOff x="612" y="1570"/>
              <a:chExt cx="590" cy="590"/>
            </a:xfrm>
          </p:grpSpPr>
          <p:sp>
            <p:nvSpPr>
              <p:cNvPr id="7213" name="Oval 102"/>
              <p:cNvSpPr>
                <a:spLocks noChangeArrowheads="1"/>
              </p:cNvSpPr>
              <p:nvPr/>
            </p:nvSpPr>
            <p:spPr bwMode="auto">
              <a:xfrm>
                <a:off x="612" y="1570"/>
                <a:ext cx="590" cy="59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214" name="Oval 103"/>
              <p:cNvSpPr>
                <a:spLocks noChangeArrowheads="1"/>
              </p:cNvSpPr>
              <p:nvPr/>
            </p:nvSpPr>
            <p:spPr bwMode="auto">
              <a:xfrm>
                <a:off x="748" y="1752"/>
                <a:ext cx="91" cy="9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215" name="Oval 104"/>
              <p:cNvSpPr>
                <a:spLocks noChangeArrowheads="1"/>
              </p:cNvSpPr>
              <p:nvPr/>
            </p:nvSpPr>
            <p:spPr bwMode="auto">
              <a:xfrm>
                <a:off x="975" y="1752"/>
                <a:ext cx="91" cy="9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216" name="Freeform 105"/>
              <p:cNvSpPr>
                <a:spLocks/>
              </p:cNvSpPr>
              <p:nvPr/>
            </p:nvSpPr>
            <p:spPr bwMode="auto">
              <a:xfrm>
                <a:off x="780" y="1979"/>
                <a:ext cx="272" cy="90"/>
              </a:xfrm>
              <a:custGeom>
                <a:avLst/>
                <a:gdLst>
                  <a:gd name="T0" fmla="*/ 0 w 272"/>
                  <a:gd name="T1" fmla="*/ 0 h 1"/>
                  <a:gd name="T2" fmla="*/ 272 w 272"/>
                  <a:gd name="T3" fmla="*/ 0 h 1"/>
                  <a:gd name="T4" fmla="*/ 0 60000 65536"/>
                  <a:gd name="T5" fmla="*/ 0 60000 65536"/>
                  <a:gd name="T6" fmla="*/ 0 w 272"/>
                  <a:gd name="T7" fmla="*/ 0 h 1"/>
                  <a:gd name="T8" fmla="*/ 272 w 272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72" h="1">
                    <a:moveTo>
                      <a:pt x="0" y="0"/>
                    </a:moveTo>
                    <a:cubicBezTo>
                      <a:pt x="109" y="0"/>
                      <a:pt x="219" y="0"/>
                      <a:pt x="272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7198" name="Group 106"/>
            <p:cNvGrpSpPr>
              <a:grpSpLocks/>
            </p:cNvGrpSpPr>
            <p:nvPr/>
          </p:nvGrpSpPr>
          <p:grpSpPr bwMode="auto">
            <a:xfrm>
              <a:off x="1799" y="2107"/>
              <a:ext cx="363" cy="363"/>
              <a:chOff x="612" y="1570"/>
              <a:chExt cx="590" cy="590"/>
            </a:xfrm>
          </p:grpSpPr>
          <p:sp>
            <p:nvSpPr>
              <p:cNvPr id="7209" name="Oval 107"/>
              <p:cNvSpPr>
                <a:spLocks noChangeArrowheads="1"/>
              </p:cNvSpPr>
              <p:nvPr/>
            </p:nvSpPr>
            <p:spPr bwMode="auto">
              <a:xfrm>
                <a:off x="612" y="1570"/>
                <a:ext cx="590" cy="590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210" name="Oval 108"/>
              <p:cNvSpPr>
                <a:spLocks noChangeArrowheads="1"/>
              </p:cNvSpPr>
              <p:nvPr/>
            </p:nvSpPr>
            <p:spPr bwMode="auto">
              <a:xfrm>
                <a:off x="748" y="1752"/>
                <a:ext cx="91" cy="9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211" name="Oval 109"/>
              <p:cNvSpPr>
                <a:spLocks noChangeArrowheads="1"/>
              </p:cNvSpPr>
              <p:nvPr/>
            </p:nvSpPr>
            <p:spPr bwMode="auto">
              <a:xfrm>
                <a:off x="975" y="1752"/>
                <a:ext cx="91" cy="9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itchFamily="34" charset="0"/>
                    <a:cs typeface="Arial" charset="0"/>
                  </a:defRPr>
                </a:lvl9pPr>
              </a:lstStyle>
              <a:p>
                <a:pPr eaLnBrk="1" hangingPunct="1"/>
                <a:endParaRPr lang="en-US" altLang="en-US"/>
              </a:p>
            </p:txBody>
          </p:sp>
          <p:sp>
            <p:nvSpPr>
              <p:cNvPr id="7212" name="Freeform 110"/>
              <p:cNvSpPr>
                <a:spLocks/>
              </p:cNvSpPr>
              <p:nvPr/>
            </p:nvSpPr>
            <p:spPr bwMode="auto">
              <a:xfrm>
                <a:off x="780" y="1979"/>
                <a:ext cx="272" cy="90"/>
              </a:xfrm>
              <a:custGeom>
                <a:avLst/>
                <a:gdLst>
                  <a:gd name="T0" fmla="*/ 0 w 272"/>
                  <a:gd name="T1" fmla="*/ 0 h 1"/>
                  <a:gd name="T2" fmla="*/ 272 w 272"/>
                  <a:gd name="T3" fmla="*/ 0 h 1"/>
                  <a:gd name="T4" fmla="*/ 0 60000 65536"/>
                  <a:gd name="T5" fmla="*/ 0 60000 65536"/>
                  <a:gd name="T6" fmla="*/ 0 w 272"/>
                  <a:gd name="T7" fmla="*/ 0 h 1"/>
                  <a:gd name="T8" fmla="*/ 272 w 272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72" h="1">
                    <a:moveTo>
                      <a:pt x="0" y="0"/>
                    </a:moveTo>
                    <a:cubicBezTo>
                      <a:pt x="109" y="0"/>
                      <a:pt x="219" y="0"/>
                      <a:pt x="272" y="0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7199" name="Line 137"/>
            <p:cNvSpPr>
              <a:spLocks noChangeShapeType="1"/>
            </p:cNvSpPr>
            <p:nvPr/>
          </p:nvSpPr>
          <p:spPr bwMode="auto">
            <a:xfrm flipV="1">
              <a:off x="1474" y="2387"/>
              <a:ext cx="363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200" name="Line 138"/>
            <p:cNvSpPr>
              <a:spLocks noChangeShapeType="1"/>
            </p:cNvSpPr>
            <p:nvPr/>
          </p:nvSpPr>
          <p:spPr bwMode="auto">
            <a:xfrm>
              <a:off x="2117" y="2395"/>
              <a:ext cx="363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201" name="Line 139"/>
            <p:cNvSpPr>
              <a:spLocks noChangeShapeType="1"/>
            </p:cNvSpPr>
            <p:nvPr/>
          </p:nvSpPr>
          <p:spPr bwMode="auto">
            <a:xfrm>
              <a:off x="1383" y="3022"/>
              <a:ext cx="227" cy="31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202" name="Line 140"/>
            <p:cNvSpPr>
              <a:spLocks noChangeShapeType="1"/>
            </p:cNvSpPr>
            <p:nvPr/>
          </p:nvSpPr>
          <p:spPr bwMode="auto">
            <a:xfrm flipH="1">
              <a:off x="2381" y="3022"/>
              <a:ext cx="181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203" name="Line 141"/>
            <p:cNvSpPr>
              <a:spLocks noChangeShapeType="1"/>
            </p:cNvSpPr>
            <p:nvPr/>
          </p:nvSpPr>
          <p:spPr bwMode="auto">
            <a:xfrm>
              <a:off x="1837" y="3521"/>
              <a:ext cx="31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204" name="Line 142"/>
            <p:cNvSpPr>
              <a:spLocks noChangeShapeType="1"/>
            </p:cNvSpPr>
            <p:nvPr/>
          </p:nvSpPr>
          <p:spPr bwMode="auto">
            <a:xfrm flipH="1">
              <a:off x="1701" y="2478"/>
              <a:ext cx="226" cy="8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205" name="Line 143"/>
            <p:cNvSpPr>
              <a:spLocks noChangeShapeType="1"/>
            </p:cNvSpPr>
            <p:nvPr/>
          </p:nvSpPr>
          <p:spPr bwMode="auto">
            <a:xfrm>
              <a:off x="2018" y="2478"/>
              <a:ext cx="227" cy="8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206" name="Line 144"/>
            <p:cNvSpPr>
              <a:spLocks noChangeShapeType="1"/>
            </p:cNvSpPr>
            <p:nvPr/>
          </p:nvSpPr>
          <p:spPr bwMode="auto">
            <a:xfrm>
              <a:off x="1519" y="2749"/>
              <a:ext cx="907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207" name="Line 145"/>
            <p:cNvSpPr>
              <a:spLocks noChangeShapeType="1"/>
            </p:cNvSpPr>
            <p:nvPr/>
          </p:nvSpPr>
          <p:spPr bwMode="auto">
            <a:xfrm>
              <a:off x="1519" y="2931"/>
              <a:ext cx="771" cy="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7208" name="Line 146"/>
            <p:cNvSpPr>
              <a:spLocks noChangeShapeType="1"/>
            </p:cNvSpPr>
            <p:nvPr/>
          </p:nvSpPr>
          <p:spPr bwMode="auto">
            <a:xfrm flipH="1">
              <a:off x="1746" y="2886"/>
              <a:ext cx="680" cy="45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7190" name="Text Box 147"/>
          <p:cNvSpPr txBox="1">
            <a:spLocks noChangeArrowheads="1"/>
          </p:cNvSpPr>
          <p:nvPr/>
        </p:nvSpPr>
        <p:spPr bwMode="auto">
          <a:xfrm>
            <a:off x="323850" y="2781300"/>
            <a:ext cx="17668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600">
                <a:solidFill>
                  <a:schemeClr val="accent2"/>
                </a:solidFill>
              </a:rPr>
              <a:t>Two people</a:t>
            </a:r>
          </a:p>
          <a:p>
            <a:pPr eaLnBrk="1" hangingPunct="1"/>
            <a:r>
              <a:rPr lang="en-GB" altLang="en-US" sz="1600">
                <a:solidFill>
                  <a:schemeClr val="accent2"/>
                </a:solidFill>
              </a:rPr>
              <a:t>One connection</a:t>
            </a:r>
          </a:p>
        </p:txBody>
      </p:sp>
      <p:sp>
        <p:nvSpPr>
          <p:cNvPr id="7191" name="Text Box 149"/>
          <p:cNvSpPr txBox="1">
            <a:spLocks noChangeArrowheads="1"/>
          </p:cNvSpPr>
          <p:nvPr/>
        </p:nvSpPr>
        <p:spPr bwMode="auto">
          <a:xfrm>
            <a:off x="3635375" y="3454400"/>
            <a:ext cx="20462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600">
                <a:solidFill>
                  <a:schemeClr val="accent2"/>
                </a:solidFill>
              </a:rPr>
              <a:t>Three people</a:t>
            </a:r>
          </a:p>
          <a:p>
            <a:pPr eaLnBrk="1" hangingPunct="1"/>
            <a:r>
              <a:rPr lang="en-GB" altLang="en-US" sz="1600">
                <a:solidFill>
                  <a:schemeClr val="accent2"/>
                </a:solidFill>
              </a:rPr>
              <a:t>Three connections</a:t>
            </a:r>
          </a:p>
        </p:txBody>
      </p:sp>
      <p:sp>
        <p:nvSpPr>
          <p:cNvPr id="7192" name="Text Box 150"/>
          <p:cNvSpPr txBox="1">
            <a:spLocks noChangeArrowheads="1"/>
          </p:cNvSpPr>
          <p:nvPr/>
        </p:nvSpPr>
        <p:spPr bwMode="auto">
          <a:xfrm>
            <a:off x="6711950" y="3541713"/>
            <a:ext cx="1779588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600">
                <a:solidFill>
                  <a:schemeClr val="accent2"/>
                </a:solidFill>
              </a:rPr>
              <a:t>Four people</a:t>
            </a:r>
          </a:p>
          <a:p>
            <a:pPr eaLnBrk="1" hangingPunct="1"/>
            <a:r>
              <a:rPr lang="en-GB" altLang="en-US" sz="1600">
                <a:solidFill>
                  <a:schemeClr val="accent2"/>
                </a:solidFill>
              </a:rPr>
              <a:t>Six connections</a:t>
            </a:r>
          </a:p>
        </p:txBody>
      </p:sp>
      <p:sp>
        <p:nvSpPr>
          <p:cNvPr id="7193" name="Text Box 151"/>
          <p:cNvSpPr txBox="1">
            <a:spLocks noChangeArrowheads="1"/>
          </p:cNvSpPr>
          <p:nvPr/>
        </p:nvSpPr>
        <p:spPr bwMode="auto">
          <a:xfrm>
            <a:off x="3400425" y="5268913"/>
            <a:ext cx="183832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eaLnBrk="1" hangingPunct="1"/>
            <a:r>
              <a:rPr lang="en-GB" altLang="en-US" sz="1600">
                <a:solidFill>
                  <a:schemeClr val="accent2"/>
                </a:solidFill>
              </a:rPr>
              <a:t>Five people</a:t>
            </a:r>
          </a:p>
          <a:p>
            <a:pPr eaLnBrk="1" hangingPunct="1"/>
            <a:r>
              <a:rPr lang="en-GB" altLang="en-US" sz="1600">
                <a:solidFill>
                  <a:schemeClr val="accent2"/>
                </a:solidFill>
              </a:rPr>
              <a:t>Ten connections</a:t>
            </a:r>
          </a:p>
        </p:txBody>
      </p:sp>
    </p:spTree>
    <p:extLst>
      <p:ext uri="{BB962C8B-B14F-4D97-AF65-F5344CB8AC3E}">
        <p14:creationId xmlns:p14="http://schemas.microsoft.com/office/powerpoint/2010/main" val="858061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Complexity as a project grows is natural</a:t>
            </a:r>
          </a:p>
          <a:p>
            <a:pPr lvl="1" eaLnBrk="1" hangingPunct="1"/>
            <a:r>
              <a:rPr lang="en-GB" altLang="en-US"/>
              <a:t>Can cause problems</a:t>
            </a:r>
          </a:p>
          <a:p>
            <a:pPr lvl="1" eaLnBrk="1" hangingPunct="1"/>
            <a:r>
              <a:rPr lang="en-GB" altLang="en-US"/>
              <a:t>E.g. one person may be unable to carry out a task until another person completes his task etc</a:t>
            </a:r>
          </a:p>
          <a:p>
            <a:pPr lvl="1" eaLnBrk="1" hangingPunct="1"/>
            <a:r>
              <a:rPr lang="en-GB" altLang="en-US"/>
              <a:t>Delays, constraints common</a:t>
            </a:r>
          </a:p>
        </p:txBody>
      </p:sp>
    </p:spTree>
    <p:extLst>
      <p:ext uri="{BB962C8B-B14F-4D97-AF65-F5344CB8AC3E}">
        <p14:creationId xmlns:p14="http://schemas.microsoft.com/office/powerpoint/2010/main" val="378768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Activity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/>
              <a:t>Which of the following would it be advantageous to plan for and why?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/>
              <a:t>A wedding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/>
              <a:t>What you will watch on TV tonight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/>
              <a:t>An exam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/>
              <a:t>Starting a new business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/>
              <a:t>Going to a party</a:t>
            </a:r>
          </a:p>
        </p:txBody>
      </p:sp>
    </p:spTree>
    <p:extLst>
      <p:ext uri="{BB962C8B-B14F-4D97-AF65-F5344CB8AC3E}">
        <p14:creationId xmlns:p14="http://schemas.microsoft.com/office/powerpoint/2010/main" val="181769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Why is a plan needed?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/>
              <a:t>A plan will give a clear identification of the project goals and overall vision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/>
              <a:t>Will assist in providing clearer understanding of the project goal and steps needed to achieve this goal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/>
              <a:t>Will provide a concrete schedule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/>
              <a:t>Will help with the visualisation of possible obstructions to achieving the goal</a:t>
            </a:r>
          </a:p>
        </p:txBody>
      </p:sp>
    </p:spTree>
    <p:extLst>
      <p:ext uri="{BB962C8B-B14F-4D97-AF65-F5344CB8AC3E}">
        <p14:creationId xmlns:p14="http://schemas.microsoft.com/office/powerpoint/2010/main" val="3725078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28750"/>
            <a:ext cx="8229600" cy="51450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400"/>
              <a:t>Will help highlight what can be done to better achieve the project goal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/>
              <a:t>Will help with decisions regarding the best use of available resources, i.e. time, people, money and equipment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/>
              <a:t>Can help set the basis for monitoring project progress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/>
              <a:t>Will help evaluate project success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400"/>
              <a:t>Can save time 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 sz="2200"/>
              <a:t>Too much time can be spent on deciding what to do next or taking too many unnecessary, unfocused and inefficient steps</a:t>
            </a:r>
          </a:p>
        </p:txBody>
      </p:sp>
    </p:spTree>
    <p:extLst>
      <p:ext uri="{BB962C8B-B14F-4D97-AF65-F5344CB8AC3E}">
        <p14:creationId xmlns:p14="http://schemas.microsoft.com/office/powerpoint/2010/main" val="1330135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/>
              <a:t>What is good planning?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/>
              <a:t>Plans often fail. Why?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/>
              <a:t>Bad planning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/>
              <a:t>Good planning: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/>
              <a:t>Is strategic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/>
              <a:t>Involves agreement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/>
              <a:t>Is participative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/>
              <a:t>Is iterative – i.e. never as simple as a straight line from A to B</a:t>
            </a:r>
          </a:p>
          <a:p>
            <a:pPr lvl="1" eaLnBrk="1" hangingPunct="1">
              <a:lnSpc>
                <a:spcPct val="90000"/>
              </a:lnSpc>
            </a:pPr>
            <a:r>
              <a:rPr lang="en-GB" altLang="en-US"/>
              <a:t>Is like having a map</a:t>
            </a:r>
          </a:p>
        </p:txBody>
      </p:sp>
    </p:spTree>
    <p:extLst>
      <p:ext uri="{BB962C8B-B14F-4D97-AF65-F5344CB8AC3E}">
        <p14:creationId xmlns:p14="http://schemas.microsoft.com/office/powerpoint/2010/main" val="2734074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3400"/>
              <a:t>What skills does a successful planner need?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z="2100"/>
              <a:t>Will be able to appreciate the client’s vision of the project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100"/>
              <a:t>Will build the project management team and lead it through the project until the end goal is achieved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100"/>
              <a:t>Has excellent communication and presentation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GB" altLang="en-US" sz="2100"/>
              <a:t>	skills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100"/>
              <a:t>Has people management skills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100"/>
              <a:t>Can accept criticism, feedback and input from others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sz="2100"/>
              <a:t>Has proven skills in using team-based project management tools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GB" altLang="en-US" sz="2100"/>
          </a:p>
        </p:txBody>
      </p:sp>
    </p:spTree>
    <p:extLst>
      <p:ext uri="{BB962C8B-B14F-4D97-AF65-F5344CB8AC3E}">
        <p14:creationId xmlns:p14="http://schemas.microsoft.com/office/powerpoint/2010/main" val="42341453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1 - DesigningTests</Template>
  <TotalTime>128</TotalTime>
  <Words>386</Words>
  <Application>Microsoft Macintosh PowerPoint</Application>
  <PresentationFormat>On-screen Show (4:3)</PresentationFormat>
  <Paragraphs>59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Tw Cen MT</vt:lpstr>
      <vt:lpstr>Verdana</vt:lpstr>
      <vt:lpstr>Wingdings</vt:lpstr>
      <vt:lpstr>Circuit</vt:lpstr>
      <vt:lpstr>Computing: Planning</vt:lpstr>
      <vt:lpstr>Planning</vt:lpstr>
      <vt:lpstr>Planning</vt:lpstr>
      <vt:lpstr>Simple to complex</vt:lpstr>
      <vt:lpstr>PowerPoint Presentation</vt:lpstr>
      <vt:lpstr>Activity</vt:lpstr>
      <vt:lpstr>Why is a plan needed?</vt:lpstr>
      <vt:lpstr>PowerPoint Presentation</vt:lpstr>
      <vt:lpstr>What is good planning?</vt:lpstr>
      <vt:lpstr>What skills does a successful planner need?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Computing: Planning</dc:title>
  <dc:creator>bgrantham</dc:creator>
  <cp:keywords>CALM Powerpoint Template</cp:keywords>
  <dc:description>CALM PowerPoint Template from the City of Glasgow College.</dc:description>
  <cp:lastModifiedBy>Arsalan Rashid</cp:lastModifiedBy>
  <cp:revision>17</cp:revision>
  <dcterms:created xsi:type="dcterms:W3CDTF">2017-08-28T10:36:41Z</dcterms:created>
  <dcterms:modified xsi:type="dcterms:W3CDTF">2019-11-19T10:19:04Z</dcterms:modified>
  <dc:language>English</dc:language>
</cp:coreProperties>
</file>